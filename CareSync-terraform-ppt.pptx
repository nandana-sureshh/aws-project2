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CareSync as a production-grade cloud-native healthcare platform fully provisioned on AWS with Terraform. Emphasize this is not a simple demo — it uses 15+ AWS services organized into reusable Terraform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Healthcare organizations face five core challenges: scalability gaps during peak booking periods, weak data security, manual and error-prone server management, absence of real-time monitoring, and heavy reliance on manual automation for reminders and cleanup. CareSync addresses all five using AWS managed services and Terraform.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CareSync solves healthcare IT challenges by providing a five-pillar solution: patient registration, appointment booking, medical records management, automated notifications, and secure cloud deployment. The entire infrastructure is provisioned automatically with Terraform, using 15+ AWS services across two availability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core features: Patient registration uses JWT-based auth stored in Secrets Manager. Appointment booking stores data in RDS PostgreSQL. Tracking allows CRUD operations via REST API. Prescriptions and medical reports are stored as S3 objects with KMS encryption. Reminders are triggered by EventBridge and sent via SNS. Cleanup Lambda purges notification records older than a configurable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split into five distinct layers. React + Vite on the frontend is served via CloudFront for low latency. Node.js + Express forms the backend API. PostgreSQL on Amazon RDS Multi-AZ handles all relational data. Terraform provisions all 15 modules. AWS is the cloud platform — region us-east-1 with multi-AZ redundancy.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provides six key advantages over traditional deployments: auto-scaling replaces manual server provisioning; multi-AZ redundancy eliminates single points of failure; layered security replaces simple firewalls; CloudWatch gives real-time observability; automated RDS backups replace manual scripts; Terraform IaC replaces fragile manual SSH deployments. For healthcare, the security and compliance benefits are especially critical.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CareSync uses 15 AWS services organized into 7 categories. Networking: VPC, ALB. Compute: EC2 Auto Scaling. Database: RDS Multi-AZ. Storage: S3. Security: IAM, KMS, Secrets Manager, WAF. Serverless: Lambda, EventBridge. Monitoring: CloudWatch, SNS. Edge: CloudFront. Each service is provisioned via a dedicated Terraform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request path: User → WAF (filters malicious traffic) → CloudFront (caches static assets) → ALB (routes based on path pattern) → Frontend EC2 (/* path) or Backend EC2 (/api/* path) → RDS for data or S3 for file storage. All components are in private subnets except the ALB and CloudFront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VPC CIDR 10.0.0.0/16 spans two AZs. Four subnet tiers per AZ: public (10.0.1-2.0/24) hosts NAT Gateway and Bastion; frontend private (10.0.11-12.0/24) hosts React EC2; backend private (10.0.21-22.0/24) hosts Node.js EC2; database private (10.0.31-32.0/24) hosts RDS. Traffic from the internet enters via ALB (in public subnet), flows to private EC2 instances, and they reach RDS in the deepest private tier. No direct internet access to EC2 or 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flow detail: Step 1 — user sends HTTPS. Step 2 — WAF checks against 4 rule groups (rate limit, common rules, bad inputs, SQL injection). Step 3 — CloudFront serves from cache for frontend assets; dynamic API traffic bypasses cache. Step 4 — ALB inspects path: /* routes to frontend target group, /api/* routes to backend target group. Step 5a/5b — EC2 instances in ASG handle the request. Step 6 — Backend calls RDS for data, S3 for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was chosen because it treats infrastructure the same way you treat application code — versioned, reviewed, and deployed through a standard pipeline. The four-step workflow (Write → Init → Plan → Apply) ensures every change is intentional. Remote state in S3 means the team can collaborate; DynamoDB locking prevents concurrent applies from conflicting.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Terraform codebase is organized into 15 modules, grouped by function. Each module is independent and follows the standard three-file convention: main.tf defines resources, variables.tf declares inputs, outputs.tf exposes values to other modules. This modularity means you can update, say, the WAF module without touching the VPC module. Module outputs are wired together in the root module using variable passing.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remote backend is configured with an S3 bucket for state storage and a DynamoDB table for state locking. The S3 bucket has versioning enabled and KMS encryption. When a developer runs terraform apply, Terraform first acquires a lock in DynamoDB — if another apply is running, it waits. After the apply completes, the lock is released and the updated state is written back to S3. This prevents state corruption in team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implemented in four concentric layers. Edge: WAF sits in front of CloudFront, blocking DDoS, injection attacks, and known bad actors before they reach the application. Identity: every EC2 and Lambda has a minimal IAM role — no static credentials exist. Secrets: all sensitive values (DB passwords, JWT secret, SMTP creds) are stored in Secrets Manager, not in environment variables or code. Encryption: KMS with customer-managed keys encrypts all data at rest — S3, Secrets, CloudWatch logs, Lambda environment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patient documents are stored in a private S3 bucket — public access is explicitly blocked. Objects are encrypted using KMS customer-managed keys. Access is controlled through IAM roles: only the backend EC2 instances and Lambda functions have permissions to read/write. The upload flow: client → backend API → IAM role validates permissions → KMS key used for encryption → object stored in S3. Retrieval is the reverse, with KMS decrypt happening transparently.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RDS PostgreSQL Multi-AZ means AWS maintains a synchronous standby replica in a different availability zone. The primary handles all reads and writes. If the primary instance fails (hardware failure, AZ outage), AWS automatically promotes the standby to primary — typically in under 2 minutes. The application connection string (stored in Secrets Manager) uses an endpoint that always points to the current primary, so no code change is needed during failover.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 Templates define the blueprint for each EC2 instance: AMI ID, instance type, security groups, IAM role, and a User Data script that bootstraps the application on startup. The Frontend ASG deploys React app instances in the frontend private subnets; the Backend ASG deploys Node.js instances in the backend private subnets. Both ASGs span two AZs for fault tolerance. If an instance becomes unhealthy, the ASG terminates and replaces it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Lambda workflows automate CareSync's background tasks. Reminder Lambda: EventBridge fires on a cron schedule, Lambda queries RDS for appointments due in 24 hours, publishes an SNS notification per patient — no server needed. Cleanup Lambda: EventBridge fires on a different schedule, Lambda deletes notification records older than the configured threshold from RDS. Both are provisioned via the Terraform lambda and eventbridge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CloudWatch collects metrics from all 6 resource types. Alarms are configured with thresholds (e.g., EC2 CPU &gt; 80%, ALB 5xx errors &gt; threshold, RDS free storage &lt; threshold). When an alarm fires, it publishes to an SNS topic, which sends an email to the administrator. All alarms and SNS subscriptions are defined in the Terraform cloudwatch and sns modules — no manual configuration in the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CloudFront distribution sits in front of the ALB. The default cache behavior serves the React frontend with a high TTL; the /api/* cache behavior has TTL set to 0 so API responses are never cached. PriceClass_200 covers North America, Europe, and Asia edge locations. WAF is attached to the CloudFront distribution (not the ALB), so malicious traffic is blocked at the edge before it reaches the VPC. Four rule groups: rate limiting (custom rule), Common Rule Set (OWASP Top 10), SQL injection, and Known Bad Inputs — all managed by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CareSync achieves six production-grade objectives: layered security using four AWS services; full infrastructure-as-code with 15 Terraform modules; multi-AZ high availability; end-to-end observability; serverless automation for two background workflows; and edge optimization with CloudFront and WAF. The project demonstrates that a solo engineer can build and deploy a healthcare-grade cloud architecture by combining AWS managed services with Terraform IaC.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slideLayout" Target="../slideLayouts/slideLayout1.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slideLayout" Target="../slideLayouts/slideLayout1.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slideLayout" Target="../slideLayouts/slideLayout1.xml"/><Relationship Id="rId1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slideLayout" Target="../slideLayouts/slideLayout1.xml"/><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slideLayout" Target="../slideLayouts/slideLayout1.xml"/><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C42"/>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3810">
            <a:solidFill>
              <a:srgbClr val="1E3A52"/>
            </a:solidFill>
            <a:prstDash val="solid"/>
          </a:ln>
        </p:spPr>
      </p:sp>
      <p:sp>
        <p:nvSpPr>
          <p:cNvPr id="3" name="Shape 1"/>
          <p:cNvSpPr/>
          <p:nvPr/>
        </p:nvSpPr>
        <p:spPr>
          <a:xfrm>
            <a:off x="1280160" y="0"/>
            <a:ext cx="0" cy="5143500"/>
          </a:xfrm>
          <a:prstGeom prst="line">
            <a:avLst/>
          </a:prstGeom>
          <a:noFill/>
          <a:ln w="3810">
            <a:solidFill>
              <a:srgbClr val="1E3A52"/>
            </a:solidFill>
            <a:prstDash val="solid"/>
          </a:ln>
        </p:spPr>
      </p:sp>
      <p:sp>
        <p:nvSpPr>
          <p:cNvPr id="4" name="Shape 2"/>
          <p:cNvSpPr/>
          <p:nvPr/>
        </p:nvSpPr>
        <p:spPr>
          <a:xfrm>
            <a:off x="2560320" y="0"/>
            <a:ext cx="0" cy="5143500"/>
          </a:xfrm>
          <a:prstGeom prst="line">
            <a:avLst/>
          </a:prstGeom>
          <a:noFill/>
          <a:ln w="3810">
            <a:solidFill>
              <a:srgbClr val="1E3A52"/>
            </a:solidFill>
            <a:prstDash val="solid"/>
          </a:ln>
        </p:spPr>
      </p:sp>
      <p:sp>
        <p:nvSpPr>
          <p:cNvPr id="5" name="Shape 3"/>
          <p:cNvSpPr/>
          <p:nvPr/>
        </p:nvSpPr>
        <p:spPr>
          <a:xfrm>
            <a:off x="3840480" y="0"/>
            <a:ext cx="0" cy="5143500"/>
          </a:xfrm>
          <a:prstGeom prst="line">
            <a:avLst/>
          </a:prstGeom>
          <a:noFill/>
          <a:ln w="3810">
            <a:solidFill>
              <a:srgbClr val="1E3A52"/>
            </a:solidFill>
            <a:prstDash val="solid"/>
          </a:ln>
        </p:spPr>
      </p:sp>
      <p:sp>
        <p:nvSpPr>
          <p:cNvPr id="6" name="Shape 4"/>
          <p:cNvSpPr/>
          <p:nvPr/>
        </p:nvSpPr>
        <p:spPr>
          <a:xfrm>
            <a:off x="5120640" y="0"/>
            <a:ext cx="0" cy="5143500"/>
          </a:xfrm>
          <a:prstGeom prst="line">
            <a:avLst/>
          </a:prstGeom>
          <a:noFill/>
          <a:ln w="3810">
            <a:solidFill>
              <a:srgbClr val="1E3A52"/>
            </a:solidFill>
            <a:prstDash val="solid"/>
          </a:ln>
        </p:spPr>
      </p:sp>
      <p:sp>
        <p:nvSpPr>
          <p:cNvPr id="7" name="Shape 5"/>
          <p:cNvSpPr/>
          <p:nvPr/>
        </p:nvSpPr>
        <p:spPr>
          <a:xfrm>
            <a:off x="6400800" y="0"/>
            <a:ext cx="0" cy="5143500"/>
          </a:xfrm>
          <a:prstGeom prst="line">
            <a:avLst/>
          </a:prstGeom>
          <a:noFill/>
          <a:ln w="3810">
            <a:solidFill>
              <a:srgbClr val="1E3A52"/>
            </a:solidFill>
            <a:prstDash val="solid"/>
          </a:ln>
        </p:spPr>
      </p:sp>
      <p:sp>
        <p:nvSpPr>
          <p:cNvPr id="8" name="Shape 6"/>
          <p:cNvSpPr/>
          <p:nvPr/>
        </p:nvSpPr>
        <p:spPr>
          <a:xfrm>
            <a:off x="7680960" y="0"/>
            <a:ext cx="0" cy="5143500"/>
          </a:xfrm>
          <a:prstGeom prst="line">
            <a:avLst/>
          </a:prstGeom>
          <a:noFill/>
          <a:ln w="3810">
            <a:solidFill>
              <a:srgbClr val="1E3A52"/>
            </a:solidFill>
            <a:prstDash val="solid"/>
          </a:ln>
        </p:spPr>
      </p:sp>
      <p:sp>
        <p:nvSpPr>
          <p:cNvPr id="9" name="Shape 7"/>
          <p:cNvSpPr/>
          <p:nvPr/>
        </p:nvSpPr>
        <p:spPr>
          <a:xfrm>
            <a:off x="8961120" y="0"/>
            <a:ext cx="0" cy="5143500"/>
          </a:xfrm>
          <a:prstGeom prst="line">
            <a:avLst/>
          </a:prstGeom>
          <a:noFill/>
          <a:ln w="3810">
            <a:solidFill>
              <a:srgbClr val="1E3A52"/>
            </a:solidFill>
            <a:prstDash val="solid"/>
          </a:ln>
        </p:spPr>
      </p:sp>
      <p:sp>
        <p:nvSpPr>
          <p:cNvPr id="10" name="Shape 8"/>
          <p:cNvSpPr/>
          <p:nvPr/>
        </p:nvSpPr>
        <p:spPr>
          <a:xfrm>
            <a:off x="0" y="0"/>
            <a:ext cx="9144000" cy="109728"/>
          </a:xfrm>
          <a:prstGeom prst="rect">
            <a:avLst/>
          </a:prstGeom>
          <a:solidFill>
            <a:srgbClr val="FF9900"/>
          </a:solidFill>
          <a:ln w="12700">
            <a:solidFill>
              <a:srgbClr val="FF9900"/>
            </a:solidFill>
            <a:prstDash val="solid"/>
          </a:ln>
        </p:spPr>
      </p:sp>
      <p:sp>
        <p:nvSpPr>
          <p:cNvPr id="11" name="Shape 9"/>
          <p:cNvSpPr/>
          <p:nvPr/>
        </p:nvSpPr>
        <p:spPr>
          <a:xfrm>
            <a:off x="640080" y="1005840"/>
            <a:ext cx="7863840" cy="2926080"/>
          </a:xfrm>
          <a:prstGeom prst="rect">
            <a:avLst>
              <a:gd name="adj" fmla="val 2500"/>
            </a:avLst>
          </a:prstGeom>
          <a:solidFill>
            <a:srgbClr val="112233"/>
          </a:solidFill>
          <a:ln w="19050">
            <a:solidFill>
              <a:srgbClr val="FF9900"/>
            </a:solidFill>
            <a:prstDash val="solid"/>
          </a:ln>
          <a:effectLst>
            <a:outerShdw sx="100000" sy="100000" kx="0" ky="0" algn="bl" rotWithShape="0" blurRad="101600" dist="25400" dir="2700000">
              <a:srgbClr val="000000">
                <a:alpha val="30000"/>
              </a:srgbClr>
            </a:outerShdw>
          </a:effectLst>
        </p:spPr>
      </p:sp>
      <p:pic>
        <p:nvPicPr>
          <p:cNvPr id="12" name="Image 0" descr="preencoded.png">    </p:cNvPr>
          <p:cNvPicPr>
            <a:picLocks noChangeAspect="1"/>
          </p:cNvPicPr>
          <p:nvPr/>
        </p:nvPicPr>
        <p:blipFill>
          <a:blip r:embed="rId1"/>
          <a:stretch>
            <a:fillRect/>
          </a:stretch>
        </p:blipFill>
        <p:spPr>
          <a:xfrm>
            <a:off x="868680" y="1188720"/>
            <a:ext cx="822960" cy="822960"/>
          </a:xfrm>
          <a:prstGeom prst="rect">
            <a:avLst/>
          </a:prstGeom>
        </p:spPr>
      </p:pic>
      <p:sp>
        <p:nvSpPr>
          <p:cNvPr id="13" name="Text 10"/>
          <p:cNvSpPr/>
          <p:nvPr/>
        </p:nvSpPr>
        <p:spPr>
          <a:xfrm>
            <a:off x="1828800" y="1097280"/>
            <a:ext cx="6400800" cy="777240"/>
          </a:xfrm>
          <a:prstGeom prst="rect">
            <a:avLst/>
          </a:prstGeom>
          <a:noFill/>
          <a:ln/>
        </p:spPr>
        <p:txBody>
          <a:bodyPr wrap="square" lIns="0" tIns="0" rIns="0" bIns="0" rtlCol="0" anchor="ctr"/>
          <a:lstStyle/>
          <a:p>
            <a:pPr indent="0" marL="0">
              <a:buNone/>
            </a:pPr>
            <a:r>
              <a:rPr lang="en-US" sz="4400" b="1" dirty="0">
                <a:solidFill>
                  <a:srgbClr val="FF9900"/>
                </a:solidFill>
                <a:latin typeface="Cambria" pitchFamily="34" charset="0"/>
                <a:ea typeface="Cambria" pitchFamily="34" charset="-122"/>
                <a:cs typeface="Cambria" pitchFamily="34" charset="-120"/>
              </a:rPr>
              <a:t>CareSync</a:t>
            </a:r>
            <a:endParaRPr lang="en-US" sz="4400" dirty="0"/>
          </a:p>
        </p:txBody>
      </p:sp>
      <p:sp>
        <p:nvSpPr>
          <p:cNvPr id="14" name="Text 11"/>
          <p:cNvSpPr/>
          <p:nvPr/>
        </p:nvSpPr>
        <p:spPr>
          <a:xfrm>
            <a:off x="1828800" y="1828800"/>
            <a:ext cx="6400800" cy="457200"/>
          </a:xfrm>
          <a:prstGeom prst="rect">
            <a:avLst/>
          </a:prstGeom>
          <a:noFill/>
          <a:ln/>
        </p:spPr>
        <p:txBody>
          <a:bodyPr wrap="square" lIns="0" tIns="0" rIns="0" bIns="0" rtlCol="0" anchor="ctr"/>
          <a:lstStyle/>
          <a:p>
            <a:pPr indent="0" marL="0">
              <a:buNone/>
            </a:pPr>
            <a:r>
              <a:rPr lang="en-US" sz="1800" dirty="0">
                <a:solidFill>
                  <a:srgbClr val="FFFFFF"/>
                </a:solidFill>
                <a:latin typeface="Cambria" pitchFamily="34" charset="0"/>
                <a:ea typeface="Cambria" pitchFamily="34" charset="-122"/>
                <a:cs typeface="Cambria" pitchFamily="34" charset="-120"/>
              </a:rPr>
              <a:t>Secure Healthcare Appointment Management Platform</a:t>
            </a:r>
            <a:endParaRPr lang="en-US" sz="1800" dirty="0"/>
          </a:p>
        </p:txBody>
      </p:sp>
      <p:sp>
        <p:nvSpPr>
          <p:cNvPr id="15" name="Text 12"/>
          <p:cNvSpPr/>
          <p:nvPr/>
        </p:nvSpPr>
        <p:spPr>
          <a:xfrm>
            <a:off x="1828800" y="2267712"/>
            <a:ext cx="6400800" cy="320040"/>
          </a:xfrm>
          <a:prstGeom prst="rect">
            <a:avLst/>
          </a:prstGeom>
          <a:noFill/>
          <a:ln/>
        </p:spPr>
        <p:txBody>
          <a:bodyPr wrap="square" lIns="0" tIns="0" rIns="0" bIns="0" rtlCol="0" anchor="ctr"/>
          <a:lstStyle/>
          <a:p>
            <a:pPr indent="0" marL="0">
              <a:buNone/>
            </a:pPr>
            <a:r>
              <a:rPr lang="en-US" sz="1300" i="1" dirty="0">
                <a:solidFill>
                  <a:srgbClr val="90A8C0"/>
                </a:solidFill>
                <a:latin typeface="Calibri" pitchFamily="34" charset="0"/>
                <a:ea typeface="Calibri" pitchFamily="34" charset="-122"/>
                <a:cs typeface="Calibri" pitchFamily="34" charset="-120"/>
              </a:rPr>
              <a:t>AWS Cloud Infrastructure Provisioned Using Terraform</a:t>
            </a:r>
            <a:endParaRPr lang="en-US" sz="1300" dirty="0"/>
          </a:p>
        </p:txBody>
      </p:sp>
      <p:sp>
        <p:nvSpPr>
          <p:cNvPr id="16" name="Shape 13"/>
          <p:cNvSpPr/>
          <p:nvPr/>
        </p:nvSpPr>
        <p:spPr>
          <a:xfrm>
            <a:off x="822960" y="2788920"/>
            <a:ext cx="7498080" cy="0"/>
          </a:xfrm>
          <a:prstGeom prst="line">
            <a:avLst/>
          </a:prstGeom>
          <a:noFill/>
          <a:ln w="10160">
            <a:solidFill>
              <a:srgbClr val="FF9900"/>
            </a:solidFill>
            <a:prstDash val="solid"/>
          </a:ln>
        </p:spPr>
      </p:sp>
      <p:sp>
        <p:nvSpPr>
          <p:cNvPr id="17" name="Text 14"/>
          <p:cNvSpPr/>
          <p:nvPr/>
        </p:nvSpPr>
        <p:spPr>
          <a:xfrm>
            <a:off x="822960" y="2907792"/>
            <a:ext cx="7498080" cy="365760"/>
          </a:xfrm>
          <a:prstGeom prst="rect">
            <a:avLst/>
          </a:prstGeom>
          <a:noFill/>
          <a:ln/>
        </p:spPr>
        <p:txBody>
          <a:bodyPr wrap="square" lIns="0" tIns="0" rIns="0" bIns="0"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Student  </a:t>
            </a:r>
            <a:pPr indent="0" marL="0">
              <a:buNone/>
            </a:pPr>
            <a:r>
              <a:rPr lang="en-US" sz="1100" dirty="0">
                <a:solidFill>
                  <a:srgbClr val="FFFFFF"/>
                </a:solidFill>
                <a:latin typeface="Calibri" pitchFamily="34" charset="0"/>
                <a:ea typeface="Calibri" pitchFamily="34" charset="-122"/>
                <a:cs typeface="Calibri" pitchFamily="34" charset="-120"/>
              </a:rPr>
              <a:t>Akash S  </a:t>
            </a:r>
            <a:pPr indent="0" marL="0">
              <a:buNone/>
            </a:pPr>
            <a:r>
              <a:rPr lang="en-US" sz="1100" b="1" dirty="0">
                <a:solidFill>
                  <a:srgbClr val="FF9900"/>
                </a:solidFill>
                <a:latin typeface="Calibri" pitchFamily="34" charset="0"/>
                <a:ea typeface="Calibri" pitchFamily="34" charset="-122"/>
                <a:cs typeface="Calibri" pitchFamily="34" charset="-120"/>
              </a:rPr>
              <a:t>   |   Department  </a:t>
            </a:r>
            <a:pPr indent="0" marL="0">
              <a:buNone/>
            </a:pPr>
            <a:r>
              <a:rPr lang="en-US" sz="1100" dirty="0">
                <a:solidFill>
                  <a:srgbClr val="FFFFFF"/>
                </a:solidFill>
                <a:latin typeface="Calibri" pitchFamily="34" charset="0"/>
                <a:ea typeface="Calibri" pitchFamily="34" charset="-122"/>
                <a:cs typeface="Calibri" pitchFamily="34" charset="-120"/>
              </a:rPr>
              <a:t>Computer Science  </a:t>
            </a:r>
            <a:pPr indent="0" marL="0">
              <a:buNone/>
            </a:pPr>
            <a:r>
              <a:rPr lang="en-US" sz="1100" b="1" dirty="0">
                <a:solidFill>
                  <a:srgbClr val="FF9900"/>
                </a:solidFill>
                <a:latin typeface="Calibri" pitchFamily="34" charset="0"/>
                <a:ea typeface="Calibri" pitchFamily="34" charset="-122"/>
                <a:cs typeface="Calibri" pitchFamily="34" charset="-120"/>
              </a:rPr>
              <a:t>   |   Academic Year  </a:t>
            </a:r>
            <a:pPr indent="0" marL="0">
              <a:buNone/>
            </a:pPr>
            <a:r>
              <a:rPr lang="en-US" sz="1100" dirty="0">
                <a:solidFill>
                  <a:srgbClr val="FFFFFF"/>
                </a:solidFill>
                <a:latin typeface="Calibri" pitchFamily="34" charset="0"/>
                <a:ea typeface="Calibri" pitchFamily="34" charset="-122"/>
                <a:cs typeface="Calibri" pitchFamily="34" charset="-120"/>
              </a:rPr>
              <a:t>2021 – 2025</a:t>
            </a:r>
            <a:endParaRPr lang="en-US" sz="1100" dirty="0"/>
          </a:p>
        </p:txBody>
      </p:sp>
      <p:sp>
        <p:nvSpPr>
          <p:cNvPr id="18" name="Text 15"/>
          <p:cNvSpPr/>
          <p:nvPr/>
        </p:nvSpPr>
        <p:spPr>
          <a:xfrm>
            <a:off x="822960" y="3246120"/>
            <a:ext cx="7498080" cy="256032"/>
          </a:xfrm>
          <a:prstGeom prst="rect">
            <a:avLst/>
          </a:prstGeom>
          <a:noFill/>
          <a:ln/>
        </p:spPr>
        <p:txBody>
          <a:bodyPr wrap="square" lIns="0" tIns="0" rIns="0" bIns="0" rtlCol="0" anchor="ctr"/>
          <a:lstStyle/>
          <a:p>
            <a:pPr indent="0" marL="0">
              <a:buNone/>
            </a:pPr>
            <a:r>
              <a:rPr lang="en-US" sz="1000" i="1" dirty="0">
                <a:solidFill>
                  <a:srgbClr val="7A9BB5"/>
                </a:solidFill>
                <a:latin typeface="Calibri" pitchFamily="34" charset="0"/>
                <a:ea typeface="Calibri" pitchFamily="34" charset="-122"/>
                <a:cs typeface="Calibri" pitchFamily="34" charset="-120"/>
              </a:rPr>
              <a:t>Joopium Technologies  ·  Thiruvananthapuram, Kerala</a:t>
            </a:r>
            <a:endParaRPr lang="en-US" sz="1000" dirty="0"/>
          </a:p>
        </p:txBody>
      </p:sp>
      <p:pic>
        <p:nvPicPr>
          <p:cNvPr id="19" name="Image 1" descr="preencoded.png">    </p:cNvPr>
          <p:cNvPicPr>
            <a:picLocks noChangeAspect="1"/>
          </p:cNvPicPr>
          <p:nvPr/>
        </p:nvPicPr>
        <p:blipFill>
          <a:blip r:embed="rId2"/>
          <a:stretch>
            <a:fillRect/>
          </a:stretch>
        </p:blipFill>
        <p:spPr>
          <a:xfrm>
            <a:off x="822960" y="4023360"/>
            <a:ext cx="411480" cy="411480"/>
          </a:xfrm>
          <a:prstGeom prst="rect">
            <a:avLst/>
          </a:prstGeom>
        </p:spPr>
      </p:pic>
      <p:sp>
        <p:nvSpPr>
          <p:cNvPr id="20" name="Text 16"/>
          <p:cNvSpPr/>
          <p:nvPr/>
        </p:nvSpPr>
        <p:spPr>
          <a:xfrm>
            <a:off x="1325880" y="4005072"/>
            <a:ext cx="6858000" cy="411480"/>
          </a:xfrm>
          <a:prstGeom prst="rect">
            <a:avLst/>
          </a:prstGeom>
          <a:noFill/>
          <a:ln/>
        </p:spPr>
        <p:txBody>
          <a:bodyPr wrap="square" lIns="0" tIns="0" rIns="0" bIns="0" rtlCol="0" anchor="ctr"/>
          <a:lstStyle/>
          <a:p>
            <a:pPr indent="0" marL="0">
              <a:buNone/>
            </a:pPr>
            <a:r>
              <a:rPr lang="en-US" sz="1000" dirty="0">
                <a:solidFill>
                  <a:srgbClr val="7A9BB5"/>
                </a:solidFill>
                <a:latin typeface="Calibri" pitchFamily="34" charset="0"/>
                <a:ea typeface="Calibri" pitchFamily="34" charset="-122"/>
                <a:cs typeface="Calibri" pitchFamily="34" charset="-120"/>
              </a:rPr>
              <a:t>Powered by Amazon Web Services  ·  Infrastructure as Code with Terraform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Problem Statement</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Why healthcare platforms need a cloud-native approach</a:t>
            </a:r>
            <a:endParaRPr lang="en-US" sz="1100" dirty="0"/>
          </a:p>
        </p:txBody>
      </p:sp>
      <p:sp>
        <p:nvSpPr>
          <p:cNvPr id="5" name="Shape 3"/>
          <p:cNvSpPr/>
          <p:nvPr/>
        </p:nvSpPr>
        <p:spPr>
          <a:xfrm>
            <a:off x="320040" y="1005840"/>
            <a:ext cx="4023360" cy="658368"/>
          </a:xfrm>
          <a:prstGeom prst="rect">
            <a:avLst>
              <a:gd name="adj" fmla="val 5556"/>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6" name="Shape 4"/>
          <p:cNvSpPr/>
          <p:nvPr/>
        </p:nvSpPr>
        <p:spPr>
          <a:xfrm>
            <a:off x="429768" y="1078992"/>
            <a:ext cx="512064" cy="512064"/>
          </a:xfrm>
          <a:prstGeom prst="oval">
            <a:avLst/>
          </a:prstGeom>
          <a:solidFill>
            <a:srgbClr val="EF4444"/>
          </a:solidFill>
          <a:ln w="12700">
            <a:solidFill>
              <a:srgbClr val="EF4444"/>
            </a:solidFill>
            <a:prstDash val="solid"/>
          </a:ln>
        </p:spPr>
      </p:sp>
      <p:pic>
        <p:nvPicPr>
          <p:cNvPr id="7" name="Image 0" descr="preencoded.png">    </p:cNvPr>
          <p:cNvPicPr>
            <a:picLocks noChangeAspect="1"/>
          </p:cNvPicPr>
          <p:nvPr/>
        </p:nvPicPr>
        <p:blipFill>
          <a:blip r:embed="rId1"/>
          <a:stretch>
            <a:fillRect/>
          </a:stretch>
        </p:blipFill>
        <p:spPr>
          <a:xfrm>
            <a:off x="532181" y="1181405"/>
            <a:ext cx="307238" cy="307238"/>
          </a:xfrm>
          <a:prstGeom prst="rect">
            <a:avLst/>
          </a:prstGeom>
        </p:spPr>
      </p:pic>
      <p:sp>
        <p:nvSpPr>
          <p:cNvPr id="8" name="Text 5"/>
          <p:cNvSpPr/>
          <p:nvPr/>
        </p:nvSpPr>
        <p:spPr>
          <a:xfrm>
            <a:off x="1078992" y="1051560"/>
            <a:ext cx="310896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Poor Scalability</a:t>
            </a:r>
            <a:endParaRPr lang="en-US" sz="1200" dirty="0"/>
          </a:p>
        </p:txBody>
      </p:sp>
      <p:sp>
        <p:nvSpPr>
          <p:cNvPr id="9" name="Text 6"/>
          <p:cNvSpPr/>
          <p:nvPr/>
        </p:nvSpPr>
        <p:spPr>
          <a:xfrm>
            <a:off x="1078992" y="1307592"/>
            <a:ext cx="310896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Traditional servers cannot auto-scale under demand spikes</a:t>
            </a:r>
            <a:endParaRPr lang="en-US" sz="1000" dirty="0"/>
          </a:p>
        </p:txBody>
      </p:sp>
      <p:sp>
        <p:nvSpPr>
          <p:cNvPr id="10" name="Shape 7"/>
          <p:cNvSpPr/>
          <p:nvPr/>
        </p:nvSpPr>
        <p:spPr>
          <a:xfrm>
            <a:off x="320040" y="1755648"/>
            <a:ext cx="4023360" cy="658368"/>
          </a:xfrm>
          <a:prstGeom prst="rect">
            <a:avLst>
              <a:gd name="adj" fmla="val 5556"/>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1" name="Shape 8"/>
          <p:cNvSpPr/>
          <p:nvPr/>
        </p:nvSpPr>
        <p:spPr>
          <a:xfrm>
            <a:off x="429768" y="1828800"/>
            <a:ext cx="512064" cy="512064"/>
          </a:xfrm>
          <a:prstGeom prst="oval">
            <a:avLst/>
          </a:prstGeom>
          <a:solidFill>
            <a:srgbClr val="0073BB"/>
          </a:solidFill>
          <a:ln w="12700">
            <a:solidFill>
              <a:srgbClr val="0073BB"/>
            </a:solidFill>
            <a:prstDash val="solid"/>
          </a:ln>
        </p:spPr>
      </p:sp>
      <p:pic>
        <p:nvPicPr>
          <p:cNvPr id="12" name="Image 1" descr="preencoded.png">    </p:cNvPr>
          <p:cNvPicPr>
            <a:picLocks noChangeAspect="1"/>
          </p:cNvPicPr>
          <p:nvPr/>
        </p:nvPicPr>
        <p:blipFill>
          <a:blip r:embed="rId2"/>
          <a:stretch>
            <a:fillRect/>
          </a:stretch>
        </p:blipFill>
        <p:spPr>
          <a:xfrm>
            <a:off x="532181" y="1931213"/>
            <a:ext cx="307238" cy="307238"/>
          </a:xfrm>
          <a:prstGeom prst="rect">
            <a:avLst/>
          </a:prstGeom>
        </p:spPr>
      </p:pic>
      <p:sp>
        <p:nvSpPr>
          <p:cNvPr id="13" name="Text 9"/>
          <p:cNvSpPr/>
          <p:nvPr/>
        </p:nvSpPr>
        <p:spPr>
          <a:xfrm>
            <a:off x="1078992" y="1801368"/>
            <a:ext cx="310896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Weak Security</a:t>
            </a:r>
            <a:endParaRPr lang="en-US" sz="1200" dirty="0"/>
          </a:p>
        </p:txBody>
      </p:sp>
      <p:sp>
        <p:nvSpPr>
          <p:cNvPr id="14" name="Text 10"/>
          <p:cNvSpPr/>
          <p:nvPr/>
        </p:nvSpPr>
        <p:spPr>
          <a:xfrm>
            <a:off x="1078992" y="2057400"/>
            <a:ext cx="310896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Patient data stored without encryption or access controls</a:t>
            </a:r>
            <a:endParaRPr lang="en-US" sz="1000" dirty="0"/>
          </a:p>
        </p:txBody>
      </p:sp>
      <p:sp>
        <p:nvSpPr>
          <p:cNvPr id="15" name="Shape 11"/>
          <p:cNvSpPr/>
          <p:nvPr/>
        </p:nvSpPr>
        <p:spPr>
          <a:xfrm>
            <a:off x="320040" y="2505456"/>
            <a:ext cx="4023360" cy="658368"/>
          </a:xfrm>
          <a:prstGeom prst="rect">
            <a:avLst>
              <a:gd name="adj" fmla="val 5556"/>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6" name="Shape 12"/>
          <p:cNvSpPr/>
          <p:nvPr/>
        </p:nvSpPr>
        <p:spPr>
          <a:xfrm>
            <a:off x="429768" y="2578608"/>
            <a:ext cx="512064" cy="512064"/>
          </a:xfrm>
          <a:prstGeom prst="oval">
            <a:avLst/>
          </a:prstGeom>
          <a:solidFill>
            <a:srgbClr val="F97316"/>
          </a:solidFill>
          <a:ln w="12700">
            <a:solidFill>
              <a:srgbClr val="F97316"/>
            </a:solidFill>
            <a:prstDash val="solid"/>
          </a:ln>
        </p:spPr>
      </p:sp>
      <p:pic>
        <p:nvPicPr>
          <p:cNvPr id="17" name="Image 2" descr="preencoded.png">    </p:cNvPr>
          <p:cNvPicPr>
            <a:picLocks noChangeAspect="1"/>
          </p:cNvPicPr>
          <p:nvPr/>
        </p:nvPicPr>
        <p:blipFill>
          <a:blip r:embed="rId3"/>
          <a:stretch>
            <a:fillRect/>
          </a:stretch>
        </p:blipFill>
        <p:spPr>
          <a:xfrm>
            <a:off x="532181" y="2681021"/>
            <a:ext cx="307238" cy="307238"/>
          </a:xfrm>
          <a:prstGeom prst="rect">
            <a:avLst/>
          </a:prstGeom>
        </p:spPr>
      </p:pic>
      <p:sp>
        <p:nvSpPr>
          <p:cNvPr id="18" name="Text 13"/>
          <p:cNvSpPr/>
          <p:nvPr/>
        </p:nvSpPr>
        <p:spPr>
          <a:xfrm>
            <a:off x="1078992" y="2551176"/>
            <a:ext cx="310896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Manual Management</a:t>
            </a:r>
            <a:endParaRPr lang="en-US" sz="1200" dirty="0"/>
          </a:p>
        </p:txBody>
      </p:sp>
      <p:sp>
        <p:nvSpPr>
          <p:cNvPr id="19" name="Text 14"/>
          <p:cNvSpPr/>
          <p:nvPr/>
        </p:nvSpPr>
        <p:spPr>
          <a:xfrm>
            <a:off x="1078992" y="2807208"/>
            <a:ext cx="310896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Infrastructure provisioned manually — slow and error-prone</a:t>
            </a:r>
            <a:endParaRPr lang="en-US" sz="1000" dirty="0"/>
          </a:p>
        </p:txBody>
      </p:sp>
      <p:sp>
        <p:nvSpPr>
          <p:cNvPr id="20" name="Shape 15"/>
          <p:cNvSpPr/>
          <p:nvPr/>
        </p:nvSpPr>
        <p:spPr>
          <a:xfrm>
            <a:off x="320040" y="3255264"/>
            <a:ext cx="4023360" cy="658368"/>
          </a:xfrm>
          <a:prstGeom prst="rect">
            <a:avLst>
              <a:gd name="adj" fmla="val 5556"/>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1" name="Shape 16"/>
          <p:cNvSpPr/>
          <p:nvPr/>
        </p:nvSpPr>
        <p:spPr>
          <a:xfrm>
            <a:off x="429768" y="3328416"/>
            <a:ext cx="512064" cy="512064"/>
          </a:xfrm>
          <a:prstGeom prst="oval">
            <a:avLst/>
          </a:prstGeom>
          <a:solidFill>
            <a:srgbClr val="64748B"/>
          </a:solidFill>
          <a:ln w="12700">
            <a:solidFill>
              <a:srgbClr val="64748B"/>
            </a:solidFill>
            <a:prstDash val="solid"/>
          </a:ln>
        </p:spPr>
      </p:sp>
      <p:pic>
        <p:nvPicPr>
          <p:cNvPr id="22" name="Image 3" descr="preencoded.png">    </p:cNvPr>
          <p:cNvPicPr>
            <a:picLocks noChangeAspect="1"/>
          </p:cNvPicPr>
          <p:nvPr/>
        </p:nvPicPr>
        <p:blipFill>
          <a:blip r:embed="rId4"/>
          <a:stretch>
            <a:fillRect/>
          </a:stretch>
        </p:blipFill>
        <p:spPr>
          <a:xfrm>
            <a:off x="532181" y="3430829"/>
            <a:ext cx="307238" cy="307238"/>
          </a:xfrm>
          <a:prstGeom prst="rect">
            <a:avLst/>
          </a:prstGeom>
        </p:spPr>
      </p:pic>
      <p:sp>
        <p:nvSpPr>
          <p:cNvPr id="23" name="Text 17"/>
          <p:cNvSpPr/>
          <p:nvPr/>
        </p:nvSpPr>
        <p:spPr>
          <a:xfrm>
            <a:off x="1078992" y="3300984"/>
            <a:ext cx="310896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No Monitoring</a:t>
            </a:r>
            <a:endParaRPr lang="en-US" sz="1200" dirty="0"/>
          </a:p>
        </p:txBody>
      </p:sp>
      <p:sp>
        <p:nvSpPr>
          <p:cNvPr id="24" name="Text 18"/>
          <p:cNvSpPr/>
          <p:nvPr/>
        </p:nvSpPr>
        <p:spPr>
          <a:xfrm>
            <a:off x="1078992" y="3557016"/>
            <a:ext cx="310896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No alerting when services fail or slow down</a:t>
            </a:r>
            <a:endParaRPr lang="en-US" sz="1000" dirty="0"/>
          </a:p>
        </p:txBody>
      </p:sp>
      <p:sp>
        <p:nvSpPr>
          <p:cNvPr id="25" name="Shape 19"/>
          <p:cNvSpPr/>
          <p:nvPr/>
        </p:nvSpPr>
        <p:spPr>
          <a:xfrm>
            <a:off x="320040" y="4005072"/>
            <a:ext cx="4023360" cy="658368"/>
          </a:xfrm>
          <a:prstGeom prst="rect">
            <a:avLst>
              <a:gd name="adj" fmla="val 5556"/>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6" name="Shape 20"/>
          <p:cNvSpPr/>
          <p:nvPr/>
        </p:nvSpPr>
        <p:spPr>
          <a:xfrm>
            <a:off x="429768" y="4078224"/>
            <a:ext cx="512064" cy="512064"/>
          </a:xfrm>
          <a:prstGeom prst="oval">
            <a:avLst/>
          </a:prstGeom>
          <a:solidFill>
            <a:srgbClr val="EAB308"/>
          </a:solidFill>
          <a:ln w="12700">
            <a:solidFill>
              <a:srgbClr val="EAB308"/>
            </a:solidFill>
            <a:prstDash val="solid"/>
          </a:ln>
        </p:spPr>
      </p:sp>
      <p:pic>
        <p:nvPicPr>
          <p:cNvPr id="27" name="Image 4" descr="preencoded.png">    </p:cNvPr>
          <p:cNvPicPr>
            <a:picLocks noChangeAspect="1"/>
          </p:cNvPicPr>
          <p:nvPr/>
        </p:nvPicPr>
        <p:blipFill>
          <a:blip r:embed="rId5"/>
          <a:stretch>
            <a:fillRect/>
          </a:stretch>
        </p:blipFill>
        <p:spPr>
          <a:xfrm>
            <a:off x="532181" y="4180637"/>
            <a:ext cx="307238" cy="307238"/>
          </a:xfrm>
          <a:prstGeom prst="rect">
            <a:avLst/>
          </a:prstGeom>
        </p:spPr>
      </p:pic>
      <p:sp>
        <p:nvSpPr>
          <p:cNvPr id="28" name="Text 21"/>
          <p:cNvSpPr/>
          <p:nvPr/>
        </p:nvSpPr>
        <p:spPr>
          <a:xfrm>
            <a:off x="1078992" y="4050792"/>
            <a:ext cx="310896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Poor Automation</a:t>
            </a:r>
            <a:endParaRPr lang="en-US" sz="1200" dirty="0"/>
          </a:p>
        </p:txBody>
      </p:sp>
      <p:sp>
        <p:nvSpPr>
          <p:cNvPr id="29" name="Text 22"/>
          <p:cNvSpPr/>
          <p:nvPr/>
        </p:nvSpPr>
        <p:spPr>
          <a:xfrm>
            <a:off x="1078992" y="4306824"/>
            <a:ext cx="310896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Reminders, cleanups, and backups handled manually</a:t>
            </a:r>
            <a:endParaRPr lang="en-US" sz="1000" dirty="0"/>
          </a:p>
        </p:txBody>
      </p:sp>
      <p:sp>
        <p:nvSpPr>
          <p:cNvPr id="30" name="Shape 23"/>
          <p:cNvSpPr/>
          <p:nvPr/>
        </p:nvSpPr>
        <p:spPr>
          <a:xfrm>
            <a:off x="4617720" y="1005840"/>
            <a:ext cx="4160520" cy="3749040"/>
          </a:xfrm>
          <a:prstGeom prst="rect">
            <a:avLst>
              <a:gd name="adj" fmla="val 976"/>
            </a:avLst>
          </a:prstGeom>
          <a:solidFill>
            <a:srgbClr val="FFF8F0"/>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31" name="Text 24"/>
          <p:cNvSpPr/>
          <p:nvPr/>
        </p:nvSpPr>
        <p:spPr>
          <a:xfrm>
            <a:off x="4709160" y="1051560"/>
            <a:ext cx="3977640" cy="502920"/>
          </a:xfrm>
          <a:prstGeom prst="rect">
            <a:avLst/>
          </a:prstGeom>
          <a:noFill/>
          <a:ln/>
        </p:spPr>
        <p:txBody>
          <a:bodyPr wrap="square" lIns="0" tIns="0" rIns="0" bIns="0" rtlCol="0" anchor="ctr"/>
          <a:lstStyle/>
          <a:p>
            <a:pPr algn="ctr" indent="0" marL="0">
              <a:buNone/>
            </a:pPr>
            <a:r>
              <a:rPr lang="en-US" sz="1500" b="1" dirty="0">
                <a:solidFill>
                  <a:srgbClr val="0073BB"/>
                </a:solidFill>
                <a:latin typeface="Cambria" pitchFamily="34" charset="0"/>
                <a:ea typeface="Cambria" pitchFamily="34" charset="-122"/>
                <a:cs typeface="Cambria" pitchFamily="34" charset="-120"/>
              </a:rPr>
              <a:t>Healthcare IT</a:t>
            </a:r>
            <a:endParaRPr lang="en-US" sz="1500" dirty="0"/>
          </a:p>
          <a:p>
            <a:pPr algn="ctr" indent="0" marL="0">
              <a:buNone/>
            </a:pPr>
            <a:r>
              <a:rPr lang="en-US" sz="1500" b="1" dirty="0">
                <a:solidFill>
                  <a:srgbClr val="0073BB"/>
                </a:solidFill>
                <a:latin typeface="Cambria" pitchFamily="34" charset="0"/>
                <a:ea typeface="Cambria" pitchFamily="34" charset="-122"/>
                <a:cs typeface="Cambria" pitchFamily="34" charset="-120"/>
              </a:rPr>
              <a:t>Challenges</a:t>
            </a:r>
            <a:endParaRPr lang="en-US" sz="1500" dirty="0"/>
          </a:p>
        </p:txBody>
      </p:sp>
      <p:sp>
        <p:nvSpPr>
          <p:cNvPr id="32" name="Shape 25"/>
          <p:cNvSpPr/>
          <p:nvPr/>
        </p:nvSpPr>
        <p:spPr>
          <a:xfrm>
            <a:off x="4709160" y="1691640"/>
            <a:ext cx="1280160" cy="1005840"/>
          </a:xfrm>
          <a:prstGeom prst="rect">
            <a:avLst>
              <a:gd name="adj" fmla="val 3636"/>
            </a:avLst>
          </a:prstGeom>
          <a:solidFill>
            <a:srgbClr val="F1F5F9"/>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33" name="Text 26"/>
          <p:cNvSpPr/>
          <p:nvPr/>
        </p:nvSpPr>
        <p:spPr>
          <a:xfrm>
            <a:off x="4709160" y="1755648"/>
            <a:ext cx="1280160" cy="457200"/>
          </a:xfrm>
          <a:prstGeom prst="rect">
            <a:avLst/>
          </a:prstGeom>
          <a:noFill/>
          <a:ln/>
        </p:spPr>
        <p:txBody>
          <a:bodyPr wrap="square" lIns="0" tIns="0" rIns="0" bIns="0" rtlCol="0" anchor="ctr"/>
          <a:lstStyle/>
          <a:p>
            <a:pPr algn="ctr" indent="0" marL="0">
              <a:buNone/>
            </a:pPr>
            <a:r>
              <a:rPr lang="en-US" sz="3000" b="1" dirty="0">
                <a:solidFill>
                  <a:srgbClr val="EF4444"/>
                </a:solidFill>
                <a:latin typeface="Cambria" pitchFamily="34" charset="0"/>
                <a:ea typeface="Cambria" pitchFamily="34" charset="-122"/>
                <a:cs typeface="Cambria" pitchFamily="34" charset="-120"/>
              </a:rPr>
              <a:t>68%</a:t>
            </a:r>
            <a:endParaRPr lang="en-US" sz="3000" dirty="0"/>
          </a:p>
        </p:txBody>
      </p:sp>
      <p:sp>
        <p:nvSpPr>
          <p:cNvPr id="34" name="Text 27"/>
          <p:cNvSpPr/>
          <p:nvPr/>
        </p:nvSpPr>
        <p:spPr>
          <a:xfrm>
            <a:off x="4709160" y="2212848"/>
            <a:ext cx="1280160" cy="4114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of breaches involve</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patient data</a:t>
            </a:r>
            <a:endParaRPr lang="en-US" sz="900" dirty="0"/>
          </a:p>
        </p:txBody>
      </p:sp>
      <p:sp>
        <p:nvSpPr>
          <p:cNvPr id="35" name="Shape 28"/>
          <p:cNvSpPr/>
          <p:nvPr/>
        </p:nvSpPr>
        <p:spPr>
          <a:xfrm>
            <a:off x="6080760" y="1691640"/>
            <a:ext cx="1280160" cy="1005840"/>
          </a:xfrm>
          <a:prstGeom prst="rect">
            <a:avLst>
              <a:gd name="adj" fmla="val 3636"/>
            </a:avLst>
          </a:prstGeom>
          <a:solidFill>
            <a:srgbClr val="F1F5F9"/>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36" name="Text 29"/>
          <p:cNvSpPr/>
          <p:nvPr/>
        </p:nvSpPr>
        <p:spPr>
          <a:xfrm>
            <a:off x="6080760" y="1755648"/>
            <a:ext cx="1280160" cy="457200"/>
          </a:xfrm>
          <a:prstGeom prst="rect">
            <a:avLst/>
          </a:prstGeom>
          <a:noFill/>
          <a:ln/>
        </p:spPr>
        <p:txBody>
          <a:bodyPr wrap="square" lIns="0" tIns="0" rIns="0" bIns="0" rtlCol="0" anchor="ctr"/>
          <a:lstStyle/>
          <a:p>
            <a:pPr algn="ctr" indent="0" marL="0">
              <a:buNone/>
            </a:pPr>
            <a:r>
              <a:rPr lang="en-US" sz="3000" b="1" dirty="0">
                <a:solidFill>
                  <a:srgbClr val="F97316"/>
                </a:solidFill>
                <a:latin typeface="Cambria" pitchFamily="34" charset="0"/>
                <a:ea typeface="Cambria" pitchFamily="34" charset="-122"/>
                <a:cs typeface="Cambria" pitchFamily="34" charset="-120"/>
              </a:rPr>
              <a:t>3×</a:t>
            </a:r>
            <a:endParaRPr lang="en-US" sz="3000" dirty="0"/>
          </a:p>
        </p:txBody>
      </p:sp>
      <p:sp>
        <p:nvSpPr>
          <p:cNvPr id="37" name="Text 30"/>
          <p:cNvSpPr/>
          <p:nvPr/>
        </p:nvSpPr>
        <p:spPr>
          <a:xfrm>
            <a:off x="6080760" y="2212848"/>
            <a:ext cx="1280160" cy="4114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more costly to fix</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post-deployment</a:t>
            </a:r>
            <a:endParaRPr lang="en-US" sz="900" dirty="0"/>
          </a:p>
        </p:txBody>
      </p:sp>
      <p:sp>
        <p:nvSpPr>
          <p:cNvPr id="38" name="Shape 31"/>
          <p:cNvSpPr/>
          <p:nvPr/>
        </p:nvSpPr>
        <p:spPr>
          <a:xfrm>
            <a:off x="7452360" y="1691640"/>
            <a:ext cx="1280160" cy="1005840"/>
          </a:xfrm>
          <a:prstGeom prst="rect">
            <a:avLst>
              <a:gd name="adj" fmla="val 3636"/>
            </a:avLst>
          </a:prstGeom>
          <a:solidFill>
            <a:srgbClr val="F1F5F9"/>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39" name="Text 32"/>
          <p:cNvSpPr/>
          <p:nvPr/>
        </p:nvSpPr>
        <p:spPr>
          <a:xfrm>
            <a:off x="7452360" y="1755648"/>
            <a:ext cx="1280160" cy="457200"/>
          </a:xfrm>
          <a:prstGeom prst="rect">
            <a:avLst/>
          </a:prstGeom>
          <a:noFill/>
          <a:ln/>
        </p:spPr>
        <p:txBody>
          <a:bodyPr wrap="square" lIns="0" tIns="0" rIns="0" bIns="0" rtlCol="0" anchor="ctr"/>
          <a:lstStyle/>
          <a:p>
            <a:pPr algn="ctr" indent="0" marL="0">
              <a:buNone/>
            </a:pPr>
            <a:r>
              <a:rPr lang="en-US" sz="3000" b="1" dirty="0">
                <a:solidFill>
                  <a:srgbClr val="64748B"/>
                </a:solidFill>
                <a:latin typeface="Cambria" pitchFamily="34" charset="0"/>
                <a:ea typeface="Cambria" pitchFamily="34" charset="-122"/>
                <a:cs typeface="Cambria" pitchFamily="34" charset="-120"/>
              </a:rPr>
              <a:t>∞</a:t>
            </a:r>
            <a:endParaRPr lang="en-US" sz="3000" dirty="0"/>
          </a:p>
        </p:txBody>
      </p:sp>
      <p:sp>
        <p:nvSpPr>
          <p:cNvPr id="40" name="Text 33"/>
          <p:cNvSpPr/>
          <p:nvPr/>
        </p:nvSpPr>
        <p:spPr>
          <a:xfrm>
            <a:off x="7452360" y="2212848"/>
            <a:ext cx="1280160" cy="4114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manual server mgmt</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effort wasted</a:t>
            </a:r>
            <a:endParaRPr lang="en-US" sz="900" dirty="0"/>
          </a:p>
        </p:txBody>
      </p:sp>
      <p:sp>
        <p:nvSpPr>
          <p:cNvPr id="41" name="Shape 34"/>
          <p:cNvSpPr/>
          <p:nvPr/>
        </p:nvSpPr>
        <p:spPr>
          <a:xfrm>
            <a:off x="4709160" y="2926080"/>
            <a:ext cx="3977640" cy="1508760"/>
          </a:xfrm>
          <a:prstGeom prst="rect">
            <a:avLst>
              <a:gd name="adj" fmla="val 3636"/>
            </a:avLst>
          </a:prstGeom>
          <a:solidFill>
            <a:srgbClr val="1A2C42"/>
          </a:solidFill>
          <a:ln w="12700">
            <a:solidFill>
              <a:srgbClr val="FF9900"/>
            </a:solidFill>
            <a:prstDash val="solid"/>
          </a:ln>
          <a:effectLst>
            <a:outerShdw sx="100000" sy="100000" kx="0" ky="0" algn="bl" rotWithShape="0" blurRad="101600" dist="25400" dir="2700000">
              <a:srgbClr val="000000">
                <a:alpha val="12000"/>
              </a:srgbClr>
            </a:outerShdw>
          </a:effectLst>
        </p:spPr>
      </p:sp>
      <p:pic>
        <p:nvPicPr>
          <p:cNvPr id="42" name="Image 5" descr="preencoded.png">    </p:cNvPr>
          <p:cNvPicPr>
            <a:picLocks noChangeAspect="1"/>
          </p:cNvPicPr>
          <p:nvPr/>
        </p:nvPicPr>
        <p:blipFill>
          <a:blip r:embed="rId6"/>
          <a:stretch>
            <a:fillRect/>
          </a:stretch>
        </p:blipFill>
        <p:spPr>
          <a:xfrm>
            <a:off x="4846320" y="3035808"/>
            <a:ext cx="411480" cy="411480"/>
          </a:xfrm>
          <a:prstGeom prst="rect">
            <a:avLst/>
          </a:prstGeom>
        </p:spPr>
      </p:pic>
      <p:sp>
        <p:nvSpPr>
          <p:cNvPr id="43" name="Text 35"/>
          <p:cNvSpPr/>
          <p:nvPr/>
        </p:nvSpPr>
        <p:spPr>
          <a:xfrm>
            <a:off x="5321808" y="2999232"/>
            <a:ext cx="3200400" cy="347472"/>
          </a:xfrm>
          <a:prstGeom prst="rect">
            <a:avLst/>
          </a:prstGeom>
          <a:noFill/>
          <a:ln/>
        </p:spPr>
        <p:txBody>
          <a:bodyPr wrap="square" lIns="0" tIns="0" rIns="0" bIns="0" rtlCol="0" anchor="ctr"/>
          <a:lstStyle/>
          <a:p>
            <a:pPr indent="0" marL="0">
              <a:buNone/>
            </a:pPr>
            <a:r>
              <a:rPr lang="en-US" sz="1300" b="1" dirty="0">
                <a:solidFill>
                  <a:srgbClr val="FF9900"/>
                </a:solidFill>
                <a:latin typeface="Cambria" pitchFamily="34" charset="0"/>
                <a:ea typeface="Cambria" pitchFamily="34" charset="-122"/>
                <a:cs typeface="Cambria" pitchFamily="34" charset="-120"/>
              </a:rPr>
              <a:t>Cloud-Native Solution</a:t>
            </a:r>
            <a:endParaRPr lang="en-US" sz="1300" dirty="0"/>
          </a:p>
        </p:txBody>
      </p:sp>
      <p:sp>
        <p:nvSpPr>
          <p:cNvPr id="44" name="Text 36"/>
          <p:cNvSpPr/>
          <p:nvPr/>
        </p:nvSpPr>
        <p:spPr>
          <a:xfrm>
            <a:off x="4800600" y="3337560"/>
            <a:ext cx="3840480" cy="822960"/>
          </a:xfrm>
          <a:prstGeom prst="rect">
            <a:avLst/>
          </a:prstGeom>
          <a:noFill/>
          <a:ln/>
        </p:spPr>
        <p:txBody>
          <a:bodyPr wrap="square" lIns="0" tIns="0" rIns="0" bIns="0" rtlCol="0" anchor="ctr"/>
          <a:lstStyle/>
          <a:p>
            <a:pPr indent="0" marL="0">
              <a:buNone/>
            </a:pPr>
            <a:r>
              <a:rPr lang="en-US" sz="1000" dirty="0">
                <a:solidFill>
                  <a:srgbClr val="A0C4E0"/>
                </a:solidFill>
                <a:latin typeface="Calibri" pitchFamily="34" charset="0"/>
                <a:ea typeface="Calibri" pitchFamily="34" charset="-122"/>
                <a:cs typeface="Calibri" pitchFamily="34" charset="-120"/>
              </a:rPr>
              <a:t>AWS + Terraform delivers automatic scaling, enterprise security, managed services, and full observability — solving every challenge above.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Proposed Solution</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CareSync — a secure, scalable cloud-native healthcare platform</a:t>
            </a:r>
            <a:endParaRPr lang="en-US" sz="1100" dirty="0"/>
          </a:p>
        </p:txBody>
      </p:sp>
      <p:sp>
        <p:nvSpPr>
          <p:cNvPr id="5" name="Shape 3"/>
          <p:cNvSpPr/>
          <p:nvPr/>
        </p:nvSpPr>
        <p:spPr>
          <a:xfrm>
            <a:off x="320040" y="960120"/>
            <a:ext cx="8503920" cy="594360"/>
          </a:xfrm>
          <a:prstGeom prst="rect">
            <a:avLst>
              <a:gd name="adj" fmla="val 6154"/>
            </a:avLst>
          </a:prstGeom>
          <a:solidFill>
            <a:srgbClr val="1A2C42"/>
          </a:solidFill>
          <a:ln w="6350">
            <a:solidFill>
              <a:srgbClr val="CBD5E1"/>
            </a:solidFill>
            <a:prstDash val="solid"/>
          </a:ln>
          <a:effectLst>
            <a:outerShdw sx="100000" sy="100000" kx="0" ky="0" algn="bl" rotWithShape="0" blurRad="101600" dist="25400" dir="2700000">
              <a:srgbClr val="000000">
                <a:alpha val="8000"/>
              </a:srgbClr>
            </a:outerShdw>
          </a:effectLst>
        </p:spPr>
      </p:sp>
      <p:pic>
        <p:nvPicPr>
          <p:cNvPr id="6" name="Image 0" descr="preencoded.png">    </p:cNvPr>
          <p:cNvPicPr>
            <a:picLocks noChangeAspect="1"/>
          </p:cNvPicPr>
          <p:nvPr/>
        </p:nvPicPr>
        <p:blipFill>
          <a:blip r:embed="rId1"/>
          <a:stretch>
            <a:fillRect/>
          </a:stretch>
        </p:blipFill>
        <p:spPr>
          <a:xfrm>
            <a:off x="457200" y="1005840"/>
            <a:ext cx="457200" cy="457200"/>
          </a:xfrm>
          <a:prstGeom prst="rect">
            <a:avLst/>
          </a:prstGeom>
        </p:spPr>
      </p:pic>
      <p:sp>
        <p:nvSpPr>
          <p:cNvPr id="7" name="Text 4"/>
          <p:cNvSpPr/>
          <p:nvPr/>
        </p:nvSpPr>
        <p:spPr>
          <a:xfrm>
            <a:off x="1005840" y="1005840"/>
            <a:ext cx="7680960"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CareSync is a cloud-native platform built entirely on AWS, provisioned with Terraform IaC, providing appointment management, medical record handling, automated notifications, and secure data storage.</a:t>
            </a:r>
            <a:endParaRPr lang="en-US" sz="1100" dirty="0"/>
          </a:p>
        </p:txBody>
      </p:sp>
      <p:sp>
        <p:nvSpPr>
          <p:cNvPr id="8" name="Shape 5"/>
          <p:cNvSpPr/>
          <p:nvPr/>
        </p:nvSpPr>
        <p:spPr>
          <a:xfrm>
            <a:off x="320040" y="1737360"/>
            <a:ext cx="1572768" cy="1371600"/>
          </a:xfrm>
          <a:prstGeom prst="rect">
            <a:avLst>
              <a:gd name="adj" fmla="val 2667"/>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9" name="Shape 6"/>
          <p:cNvSpPr/>
          <p:nvPr/>
        </p:nvSpPr>
        <p:spPr>
          <a:xfrm>
            <a:off x="813816" y="1792224"/>
            <a:ext cx="585216" cy="585216"/>
          </a:xfrm>
          <a:prstGeom prst="oval">
            <a:avLst/>
          </a:prstGeom>
          <a:solidFill>
            <a:srgbClr val="0073BB"/>
          </a:solidFill>
          <a:ln w="12700">
            <a:solidFill>
              <a:srgbClr val="0073BB"/>
            </a:solidFill>
            <a:prstDash val="solid"/>
          </a:ln>
        </p:spPr>
      </p:sp>
      <p:pic>
        <p:nvPicPr>
          <p:cNvPr id="10" name="Image 1" descr="preencoded.png">    </p:cNvPr>
          <p:cNvPicPr>
            <a:picLocks noChangeAspect="1"/>
          </p:cNvPicPr>
          <p:nvPr/>
        </p:nvPicPr>
        <p:blipFill>
          <a:blip r:embed="rId2"/>
          <a:stretch>
            <a:fillRect/>
          </a:stretch>
        </p:blipFill>
        <p:spPr>
          <a:xfrm>
            <a:off x="930859" y="1909267"/>
            <a:ext cx="351130" cy="351130"/>
          </a:xfrm>
          <a:prstGeom prst="rect">
            <a:avLst/>
          </a:prstGeom>
        </p:spPr>
      </p:pic>
      <p:sp>
        <p:nvSpPr>
          <p:cNvPr id="11" name="Text 7"/>
          <p:cNvSpPr/>
          <p:nvPr/>
        </p:nvSpPr>
        <p:spPr>
          <a:xfrm>
            <a:off x="320040" y="2487168"/>
            <a:ext cx="1572768" cy="50292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Patient</a:t>
            </a:r>
            <a:endParaRPr lang="en-US" sz="1100" dirty="0"/>
          </a:p>
          <a:p>
            <a:pPr algn="ctr" indent="0" marL="0">
              <a:buNone/>
            </a:pPr>
            <a:r>
              <a:rPr lang="en-US" sz="1100" b="1" dirty="0">
                <a:solidFill>
                  <a:srgbClr val="1E293B"/>
                </a:solidFill>
                <a:latin typeface="Calibri" pitchFamily="34" charset="0"/>
                <a:ea typeface="Calibri" pitchFamily="34" charset="-122"/>
                <a:cs typeface="Calibri" pitchFamily="34" charset="-120"/>
              </a:rPr>
              <a:t>Registration</a:t>
            </a:r>
            <a:endParaRPr lang="en-US" sz="1100" dirty="0"/>
          </a:p>
        </p:txBody>
      </p:sp>
      <p:sp>
        <p:nvSpPr>
          <p:cNvPr id="12" name="Shape 8"/>
          <p:cNvSpPr/>
          <p:nvPr/>
        </p:nvSpPr>
        <p:spPr>
          <a:xfrm>
            <a:off x="1892808" y="2423160"/>
            <a:ext cx="137160" cy="0"/>
          </a:xfrm>
          <a:prstGeom prst="line">
            <a:avLst/>
          </a:prstGeom>
          <a:noFill/>
          <a:ln w="25400">
            <a:solidFill>
              <a:srgbClr val="FF9900"/>
            </a:solidFill>
            <a:prstDash val="solid"/>
            <a:tailEnd type="arrow"/>
          </a:ln>
        </p:spPr>
      </p:sp>
      <p:sp>
        <p:nvSpPr>
          <p:cNvPr id="13" name="Shape 9"/>
          <p:cNvSpPr/>
          <p:nvPr/>
        </p:nvSpPr>
        <p:spPr>
          <a:xfrm>
            <a:off x="2029968" y="1737360"/>
            <a:ext cx="1572768" cy="1371600"/>
          </a:xfrm>
          <a:prstGeom prst="rect">
            <a:avLst>
              <a:gd name="adj" fmla="val 2667"/>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4" name="Shape 10"/>
          <p:cNvSpPr/>
          <p:nvPr/>
        </p:nvSpPr>
        <p:spPr>
          <a:xfrm>
            <a:off x="2523744" y="1792224"/>
            <a:ext cx="585216" cy="585216"/>
          </a:xfrm>
          <a:prstGeom prst="oval">
            <a:avLst/>
          </a:prstGeom>
          <a:solidFill>
            <a:srgbClr val="22C55E"/>
          </a:solidFill>
          <a:ln w="12700">
            <a:solidFill>
              <a:srgbClr val="22C55E"/>
            </a:solidFill>
            <a:prstDash val="solid"/>
          </a:ln>
        </p:spPr>
      </p:sp>
      <p:pic>
        <p:nvPicPr>
          <p:cNvPr id="15" name="Image 2" descr="preencoded.png">    </p:cNvPr>
          <p:cNvPicPr>
            <a:picLocks noChangeAspect="1"/>
          </p:cNvPicPr>
          <p:nvPr/>
        </p:nvPicPr>
        <p:blipFill>
          <a:blip r:embed="rId3"/>
          <a:stretch>
            <a:fillRect/>
          </a:stretch>
        </p:blipFill>
        <p:spPr>
          <a:xfrm>
            <a:off x="2640787" y="1909267"/>
            <a:ext cx="351130" cy="351130"/>
          </a:xfrm>
          <a:prstGeom prst="rect">
            <a:avLst/>
          </a:prstGeom>
        </p:spPr>
      </p:pic>
      <p:sp>
        <p:nvSpPr>
          <p:cNvPr id="16" name="Text 11"/>
          <p:cNvSpPr/>
          <p:nvPr/>
        </p:nvSpPr>
        <p:spPr>
          <a:xfrm>
            <a:off x="2029968" y="2487168"/>
            <a:ext cx="1572768" cy="50292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Appointment</a:t>
            </a:r>
            <a:endParaRPr lang="en-US" sz="1100" dirty="0"/>
          </a:p>
          <a:p>
            <a:pPr algn="ctr" indent="0" marL="0">
              <a:buNone/>
            </a:pPr>
            <a:r>
              <a:rPr lang="en-US" sz="1100" b="1" dirty="0">
                <a:solidFill>
                  <a:srgbClr val="1E293B"/>
                </a:solidFill>
                <a:latin typeface="Calibri" pitchFamily="34" charset="0"/>
                <a:ea typeface="Calibri" pitchFamily="34" charset="-122"/>
                <a:cs typeface="Calibri" pitchFamily="34" charset="-120"/>
              </a:rPr>
              <a:t>Booking</a:t>
            </a:r>
            <a:endParaRPr lang="en-US" sz="1100" dirty="0"/>
          </a:p>
        </p:txBody>
      </p:sp>
      <p:sp>
        <p:nvSpPr>
          <p:cNvPr id="17" name="Shape 12"/>
          <p:cNvSpPr/>
          <p:nvPr/>
        </p:nvSpPr>
        <p:spPr>
          <a:xfrm>
            <a:off x="3602736" y="2423160"/>
            <a:ext cx="137160" cy="0"/>
          </a:xfrm>
          <a:prstGeom prst="line">
            <a:avLst/>
          </a:prstGeom>
          <a:noFill/>
          <a:ln w="25400">
            <a:solidFill>
              <a:srgbClr val="FF9900"/>
            </a:solidFill>
            <a:prstDash val="solid"/>
            <a:tailEnd type="arrow"/>
          </a:ln>
        </p:spPr>
      </p:sp>
      <p:sp>
        <p:nvSpPr>
          <p:cNvPr id="18" name="Shape 13"/>
          <p:cNvSpPr/>
          <p:nvPr/>
        </p:nvSpPr>
        <p:spPr>
          <a:xfrm>
            <a:off x="3739896" y="1737360"/>
            <a:ext cx="1572768" cy="1371600"/>
          </a:xfrm>
          <a:prstGeom prst="rect">
            <a:avLst>
              <a:gd name="adj" fmla="val 2667"/>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9" name="Shape 14"/>
          <p:cNvSpPr/>
          <p:nvPr/>
        </p:nvSpPr>
        <p:spPr>
          <a:xfrm>
            <a:off x="4233672" y="1792224"/>
            <a:ext cx="585216" cy="585216"/>
          </a:xfrm>
          <a:prstGeom prst="oval">
            <a:avLst/>
          </a:prstGeom>
          <a:solidFill>
            <a:srgbClr val="14B8A6"/>
          </a:solidFill>
          <a:ln w="12700">
            <a:solidFill>
              <a:srgbClr val="14B8A6"/>
            </a:solidFill>
            <a:prstDash val="solid"/>
          </a:ln>
        </p:spPr>
      </p:sp>
      <p:pic>
        <p:nvPicPr>
          <p:cNvPr id="20" name="Image 3" descr="preencoded.png">    </p:cNvPr>
          <p:cNvPicPr>
            <a:picLocks noChangeAspect="1"/>
          </p:cNvPicPr>
          <p:nvPr/>
        </p:nvPicPr>
        <p:blipFill>
          <a:blip r:embed="rId4"/>
          <a:stretch>
            <a:fillRect/>
          </a:stretch>
        </p:blipFill>
        <p:spPr>
          <a:xfrm>
            <a:off x="4350715" y="1909267"/>
            <a:ext cx="351130" cy="351130"/>
          </a:xfrm>
          <a:prstGeom prst="rect">
            <a:avLst/>
          </a:prstGeom>
        </p:spPr>
      </p:pic>
      <p:sp>
        <p:nvSpPr>
          <p:cNvPr id="21" name="Text 15"/>
          <p:cNvSpPr/>
          <p:nvPr/>
        </p:nvSpPr>
        <p:spPr>
          <a:xfrm>
            <a:off x="3739896" y="2487168"/>
            <a:ext cx="1572768" cy="50292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Medical</a:t>
            </a:r>
            <a:endParaRPr lang="en-US" sz="1100" dirty="0"/>
          </a:p>
          <a:p>
            <a:pPr algn="ctr" indent="0" marL="0">
              <a:buNone/>
            </a:pPr>
            <a:r>
              <a:rPr lang="en-US" sz="1100" b="1" dirty="0">
                <a:solidFill>
                  <a:srgbClr val="1E293B"/>
                </a:solidFill>
                <a:latin typeface="Calibri" pitchFamily="34" charset="0"/>
                <a:ea typeface="Calibri" pitchFamily="34" charset="-122"/>
                <a:cs typeface="Calibri" pitchFamily="34" charset="-120"/>
              </a:rPr>
              <a:t>Records</a:t>
            </a:r>
            <a:endParaRPr lang="en-US" sz="1100" dirty="0"/>
          </a:p>
        </p:txBody>
      </p:sp>
      <p:sp>
        <p:nvSpPr>
          <p:cNvPr id="22" name="Shape 16"/>
          <p:cNvSpPr/>
          <p:nvPr/>
        </p:nvSpPr>
        <p:spPr>
          <a:xfrm>
            <a:off x="5312664" y="2423160"/>
            <a:ext cx="137160" cy="0"/>
          </a:xfrm>
          <a:prstGeom prst="line">
            <a:avLst/>
          </a:prstGeom>
          <a:noFill/>
          <a:ln w="25400">
            <a:solidFill>
              <a:srgbClr val="FF9900"/>
            </a:solidFill>
            <a:prstDash val="solid"/>
            <a:tailEnd type="arrow"/>
          </a:ln>
        </p:spPr>
      </p:sp>
      <p:sp>
        <p:nvSpPr>
          <p:cNvPr id="23" name="Shape 17"/>
          <p:cNvSpPr/>
          <p:nvPr/>
        </p:nvSpPr>
        <p:spPr>
          <a:xfrm>
            <a:off x="5449824" y="1737360"/>
            <a:ext cx="1572768" cy="1371600"/>
          </a:xfrm>
          <a:prstGeom prst="rect">
            <a:avLst>
              <a:gd name="adj" fmla="val 2667"/>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4" name="Shape 18"/>
          <p:cNvSpPr/>
          <p:nvPr/>
        </p:nvSpPr>
        <p:spPr>
          <a:xfrm>
            <a:off x="5943600" y="1792224"/>
            <a:ext cx="585216" cy="585216"/>
          </a:xfrm>
          <a:prstGeom prst="oval">
            <a:avLst/>
          </a:prstGeom>
          <a:solidFill>
            <a:srgbClr val="EAB308"/>
          </a:solidFill>
          <a:ln w="12700">
            <a:solidFill>
              <a:srgbClr val="EAB308"/>
            </a:solidFill>
            <a:prstDash val="solid"/>
          </a:ln>
        </p:spPr>
      </p:sp>
      <p:pic>
        <p:nvPicPr>
          <p:cNvPr id="25" name="Image 4" descr="preencoded.png">    </p:cNvPr>
          <p:cNvPicPr>
            <a:picLocks noChangeAspect="1"/>
          </p:cNvPicPr>
          <p:nvPr/>
        </p:nvPicPr>
        <p:blipFill>
          <a:blip r:embed="rId5"/>
          <a:stretch>
            <a:fillRect/>
          </a:stretch>
        </p:blipFill>
        <p:spPr>
          <a:xfrm>
            <a:off x="6060643" y="1909267"/>
            <a:ext cx="351130" cy="351130"/>
          </a:xfrm>
          <a:prstGeom prst="rect">
            <a:avLst/>
          </a:prstGeom>
        </p:spPr>
      </p:pic>
      <p:sp>
        <p:nvSpPr>
          <p:cNvPr id="26" name="Text 19"/>
          <p:cNvSpPr/>
          <p:nvPr/>
        </p:nvSpPr>
        <p:spPr>
          <a:xfrm>
            <a:off x="5449824" y="2487168"/>
            <a:ext cx="1572768" cy="50292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Automated</a:t>
            </a:r>
            <a:endParaRPr lang="en-US" sz="1100" dirty="0"/>
          </a:p>
          <a:p>
            <a:pPr algn="ctr" indent="0" marL="0">
              <a:buNone/>
            </a:pPr>
            <a:r>
              <a:rPr lang="en-US" sz="1100" b="1" dirty="0">
                <a:solidFill>
                  <a:srgbClr val="1E293B"/>
                </a:solidFill>
                <a:latin typeface="Calibri" pitchFamily="34" charset="0"/>
                <a:ea typeface="Calibri" pitchFamily="34" charset="-122"/>
                <a:cs typeface="Calibri" pitchFamily="34" charset="-120"/>
              </a:rPr>
              <a:t>Reminders</a:t>
            </a:r>
            <a:endParaRPr lang="en-US" sz="1100" dirty="0"/>
          </a:p>
        </p:txBody>
      </p:sp>
      <p:sp>
        <p:nvSpPr>
          <p:cNvPr id="27" name="Shape 20"/>
          <p:cNvSpPr/>
          <p:nvPr/>
        </p:nvSpPr>
        <p:spPr>
          <a:xfrm>
            <a:off x="7022592" y="2423160"/>
            <a:ext cx="137160" cy="0"/>
          </a:xfrm>
          <a:prstGeom prst="line">
            <a:avLst/>
          </a:prstGeom>
          <a:noFill/>
          <a:ln w="25400">
            <a:solidFill>
              <a:srgbClr val="FF9900"/>
            </a:solidFill>
            <a:prstDash val="solid"/>
            <a:tailEnd type="arrow"/>
          </a:ln>
        </p:spPr>
      </p:sp>
      <p:sp>
        <p:nvSpPr>
          <p:cNvPr id="28" name="Shape 21"/>
          <p:cNvSpPr/>
          <p:nvPr/>
        </p:nvSpPr>
        <p:spPr>
          <a:xfrm>
            <a:off x="7159752" y="1737360"/>
            <a:ext cx="1572768" cy="1371600"/>
          </a:xfrm>
          <a:prstGeom prst="rect">
            <a:avLst>
              <a:gd name="adj" fmla="val 2667"/>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9" name="Shape 22"/>
          <p:cNvSpPr/>
          <p:nvPr/>
        </p:nvSpPr>
        <p:spPr>
          <a:xfrm>
            <a:off x="7653528" y="1792224"/>
            <a:ext cx="585216" cy="585216"/>
          </a:xfrm>
          <a:prstGeom prst="oval">
            <a:avLst/>
          </a:prstGeom>
          <a:solidFill>
            <a:srgbClr val="EF4444"/>
          </a:solidFill>
          <a:ln w="12700">
            <a:solidFill>
              <a:srgbClr val="EF4444"/>
            </a:solidFill>
            <a:prstDash val="solid"/>
          </a:ln>
        </p:spPr>
      </p:sp>
      <p:pic>
        <p:nvPicPr>
          <p:cNvPr id="30" name="Image 5" descr="preencoded.png">    </p:cNvPr>
          <p:cNvPicPr>
            <a:picLocks noChangeAspect="1"/>
          </p:cNvPicPr>
          <p:nvPr/>
        </p:nvPicPr>
        <p:blipFill>
          <a:blip r:embed="rId6"/>
          <a:stretch>
            <a:fillRect/>
          </a:stretch>
        </p:blipFill>
        <p:spPr>
          <a:xfrm>
            <a:off x="7770571" y="1909267"/>
            <a:ext cx="351130" cy="351130"/>
          </a:xfrm>
          <a:prstGeom prst="rect">
            <a:avLst/>
          </a:prstGeom>
        </p:spPr>
      </p:pic>
      <p:sp>
        <p:nvSpPr>
          <p:cNvPr id="31" name="Text 23"/>
          <p:cNvSpPr/>
          <p:nvPr/>
        </p:nvSpPr>
        <p:spPr>
          <a:xfrm>
            <a:off x="7159752" y="2487168"/>
            <a:ext cx="1572768" cy="50292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Secure</a:t>
            </a:r>
            <a:endParaRPr lang="en-US" sz="1100" dirty="0"/>
          </a:p>
          <a:p>
            <a:pPr algn="ctr" indent="0" marL="0">
              <a:buNone/>
            </a:pPr>
            <a:r>
              <a:rPr lang="en-US" sz="1100" b="1" dirty="0">
                <a:solidFill>
                  <a:srgbClr val="1E293B"/>
                </a:solidFill>
                <a:latin typeface="Calibri" pitchFamily="34" charset="0"/>
                <a:ea typeface="Calibri" pitchFamily="34" charset="-122"/>
                <a:cs typeface="Calibri" pitchFamily="34" charset="-120"/>
              </a:rPr>
              <a:t>Deployment</a:t>
            </a:r>
            <a:endParaRPr lang="en-US" sz="1100" dirty="0"/>
          </a:p>
        </p:txBody>
      </p:sp>
      <p:sp>
        <p:nvSpPr>
          <p:cNvPr id="32" name="Shape 24"/>
          <p:cNvSpPr/>
          <p:nvPr/>
        </p:nvSpPr>
        <p:spPr>
          <a:xfrm>
            <a:off x="320040" y="3246120"/>
            <a:ext cx="4114800" cy="1554480"/>
          </a:xfrm>
          <a:prstGeom prst="rect">
            <a:avLst>
              <a:gd name="adj" fmla="val 2353"/>
            </a:avLst>
          </a:prstGeom>
          <a:solidFill>
            <a:srgbClr val="1A2C42"/>
          </a:solidFill>
          <a:ln w="6350">
            <a:solidFill>
              <a:srgbClr val="CBD5E1"/>
            </a:solidFill>
            <a:prstDash val="solid"/>
          </a:ln>
          <a:effectLst>
            <a:outerShdw sx="100000" sy="100000" kx="0" ky="0" algn="bl" rotWithShape="0" blurRad="101600" dist="25400" dir="2700000">
              <a:srgbClr val="000000">
                <a:alpha val="8000"/>
              </a:srgbClr>
            </a:outerShdw>
          </a:effectLst>
        </p:spPr>
      </p:sp>
      <p:pic>
        <p:nvPicPr>
          <p:cNvPr id="33" name="Image 6" descr="preencoded.png">    </p:cNvPr>
          <p:cNvPicPr>
            <a:picLocks noChangeAspect="1"/>
          </p:cNvPicPr>
          <p:nvPr/>
        </p:nvPicPr>
        <p:blipFill>
          <a:blip r:embed="rId7"/>
          <a:stretch>
            <a:fillRect/>
          </a:stretch>
        </p:blipFill>
        <p:spPr>
          <a:xfrm>
            <a:off x="502920" y="3364992"/>
            <a:ext cx="502920" cy="502920"/>
          </a:xfrm>
          <a:prstGeom prst="rect">
            <a:avLst/>
          </a:prstGeom>
        </p:spPr>
      </p:pic>
      <p:sp>
        <p:nvSpPr>
          <p:cNvPr id="34" name="Text 25"/>
          <p:cNvSpPr/>
          <p:nvPr/>
        </p:nvSpPr>
        <p:spPr>
          <a:xfrm>
            <a:off x="1078992" y="3337560"/>
            <a:ext cx="3200400" cy="347472"/>
          </a:xfrm>
          <a:prstGeom prst="rect">
            <a:avLst/>
          </a:prstGeom>
          <a:noFill/>
          <a:ln/>
        </p:spPr>
        <p:txBody>
          <a:bodyPr wrap="square" lIns="0" tIns="0" rIns="0" bIns="0" rtlCol="0" anchor="ctr"/>
          <a:lstStyle/>
          <a:p>
            <a:pPr indent="0" marL="0">
              <a:buNone/>
            </a:pPr>
            <a:r>
              <a:rPr lang="en-US" sz="1500" b="1" dirty="0">
                <a:solidFill>
                  <a:srgbClr val="FF9900"/>
                </a:solidFill>
                <a:latin typeface="Cambria" pitchFamily="34" charset="0"/>
                <a:ea typeface="Cambria" pitchFamily="34" charset="-122"/>
                <a:cs typeface="Cambria" pitchFamily="34" charset="-120"/>
              </a:rPr>
              <a:t>AWS Cloud</a:t>
            </a:r>
            <a:endParaRPr lang="en-US" sz="1500" dirty="0"/>
          </a:p>
        </p:txBody>
      </p:sp>
      <p:sp>
        <p:nvSpPr>
          <p:cNvPr id="35" name="Text 26"/>
          <p:cNvSpPr/>
          <p:nvPr/>
        </p:nvSpPr>
        <p:spPr>
          <a:xfrm>
            <a:off x="548640" y="3730752"/>
            <a:ext cx="3749040" cy="914400"/>
          </a:xfrm>
          <a:prstGeom prst="rect">
            <a:avLst/>
          </a:prstGeom>
          <a:noFill/>
          <a:ln/>
        </p:spPr>
        <p:txBody>
          <a:bodyPr wrap="square" lIns="0" tIns="0" rIns="0" bIns="0" rtlCol="0" anchor="ctr"/>
          <a:lstStyle/>
          <a:p>
            <a:pPr marL="342900" indent="-342900">
              <a:buSzPct val="100000"/>
              <a:buChar char="•"/>
            </a:pPr>
            <a:r>
              <a:rPr lang="en-US" sz="1100" dirty="0">
                <a:solidFill>
                  <a:srgbClr val="A0C4E0"/>
                </a:solidFill>
                <a:latin typeface="Calibri" pitchFamily="34" charset="0"/>
                <a:ea typeface="Calibri" pitchFamily="34" charset="-122"/>
                <a:cs typeface="Calibri" pitchFamily="34" charset="-120"/>
              </a:rPr>
              <a:t>15+ managed services</a:t>
            </a:r>
            <a:endParaRPr lang="en-US" sz="1100" dirty="0"/>
          </a:p>
          <a:p>
            <a:pPr marL="342900" indent="-342900">
              <a:buSzPct val="100000"/>
              <a:buChar char="•"/>
            </a:pPr>
            <a:r>
              <a:rPr lang="en-US" sz="1100" dirty="0">
                <a:solidFill>
                  <a:srgbClr val="A0C4E0"/>
                </a:solidFill>
                <a:latin typeface="Calibri" pitchFamily="34" charset="0"/>
                <a:ea typeface="Calibri" pitchFamily="34" charset="-122"/>
                <a:cs typeface="Calibri" pitchFamily="34" charset="-120"/>
              </a:rPr>
              <a:t>Multi-AZ high availability</a:t>
            </a:r>
            <a:endParaRPr lang="en-US" sz="1100" dirty="0"/>
          </a:p>
          <a:p>
            <a:pPr marL="342900" indent="-342900">
              <a:buSzPct val="100000"/>
              <a:buChar char="•"/>
            </a:pPr>
            <a:r>
              <a:rPr lang="en-US" sz="1100" dirty="0">
                <a:solidFill>
                  <a:srgbClr val="A0C4E0"/>
                </a:solidFill>
                <a:latin typeface="Calibri" pitchFamily="34" charset="0"/>
                <a:ea typeface="Calibri" pitchFamily="34" charset="-122"/>
                <a:cs typeface="Calibri" pitchFamily="34" charset="-120"/>
              </a:rPr>
              <a:t>Built-in security controls</a:t>
            </a:r>
            <a:endParaRPr lang="en-US" sz="1100" dirty="0"/>
          </a:p>
        </p:txBody>
      </p:sp>
      <p:sp>
        <p:nvSpPr>
          <p:cNvPr id="36" name="Shape 27"/>
          <p:cNvSpPr/>
          <p:nvPr/>
        </p:nvSpPr>
        <p:spPr>
          <a:xfrm>
            <a:off x="4709160" y="3246120"/>
            <a:ext cx="4114800" cy="1554480"/>
          </a:xfrm>
          <a:prstGeom prst="rect">
            <a:avLst>
              <a:gd name="adj" fmla="val 2353"/>
            </a:avLst>
          </a:prstGeom>
          <a:solidFill>
            <a:srgbClr val="F5F0FF"/>
          </a:solidFill>
          <a:ln w="6350">
            <a:solidFill>
              <a:srgbClr val="CBD5E1"/>
            </a:solidFill>
            <a:prstDash val="solid"/>
          </a:ln>
          <a:effectLst>
            <a:outerShdw sx="100000" sy="100000" kx="0" ky="0" algn="bl" rotWithShape="0" blurRad="101600" dist="25400" dir="2700000">
              <a:srgbClr val="000000">
                <a:alpha val="8000"/>
              </a:srgbClr>
            </a:outerShdw>
          </a:effectLst>
        </p:spPr>
      </p:sp>
      <p:pic>
        <p:nvPicPr>
          <p:cNvPr id="37" name="Image 7" descr="preencoded.png">    </p:cNvPr>
          <p:cNvPicPr>
            <a:picLocks noChangeAspect="1"/>
          </p:cNvPicPr>
          <p:nvPr/>
        </p:nvPicPr>
        <p:blipFill>
          <a:blip r:embed="rId8"/>
          <a:stretch>
            <a:fillRect/>
          </a:stretch>
        </p:blipFill>
        <p:spPr>
          <a:xfrm>
            <a:off x="4892040" y="3364992"/>
            <a:ext cx="502920" cy="502920"/>
          </a:xfrm>
          <a:prstGeom prst="rect">
            <a:avLst/>
          </a:prstGeom>
        </p:spPr>
      </p:pic>
      <p:sp>
        <p:nvSpPr>
          <p:cNvPr id="38" name="Text 28"/>
          <p:cNvSpPr/>
          <p:nvPr/>
        </p:nvSpPr>
        <p:spPr>
          <a:xfrm>
            <a:off x="5486400" y="3337560"/>
            <a:ext cx="3200400" cy="347472"/>
          </a:xfrm>
          <a:prstGeom prst="rect">
            <a:avLst/>
          </a:prstGeom>
          <a:noFill/>
          <a:ln/>
        </p:spPr>
        <p:txBody>
          <a:bodyPr wrap="square" lIns="0" tIns="0" rIns="0" bIns="0" rtlCol="0" anchor="ctr"/>
          <a:lstStyle/>
          <a:p>
            <a:pPr indent="0" marL="0">
              <a:buNone/>
            </a:pPr>
            <a:r>
              <a:rPr lang="en-US" sz="1500" b="1" dirty="0">
                <a:solidFill>
                  <a:srgbClr val="7C3AED"/>
                </a:solidFill>
                <a:latin typeface="Cambria" pitchFamily="34" charset="0"/>
                <a:ea typeface="Cambria" pitchFamily="34" charset="-122"/>
                <a:cs typeface="Cambria" pitchFamily="34" charset="-120"/>
              </a:rPr>
              <a:t>Terraform IaC</a:t>
            </a:r>
            <a:endParaRPr lang="en-US" sz="1500" dirty="0"/>
          </a:p>
        </p:txBody>
      </p:sp>
      <p:sp>
        <p:nvSpPr>
          <p:cNvPr id="39" name="Text 29"/>
          <p:cNvSpPr/>
          <p:nvPr/>
        </p:nvSpPr>
        <p:spPr>
          <a:xfrm>
            <a:off x="4800600" y="3730752"/>
            <a:ext cx="3840480" cy="914400"/>
          </a:xfrm>
          <a:prstGeom prst="rect">
            <a:avLst/>
          </a:prstGeom>
          <a:noFill/>
          <a:ln/>
        </p:spPr>
        <p:txBody>
          <a:bodyPr wrap="square" lIns="0" tIns="0" rIns="0" bIns="0" rtlCol="0" anchor="ctr"/>
          <a:lstStyle/>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15 reusable modules</a:t>
            </a:r>
            <a:endParaRPr lang="en-US" sz="1100" dirty="0"/>
          </a:p>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Automated provisioning</a:t>
            </a:r>
            <a:endParaRPr lang="en-US" sz="1100" dirty="0"/>
          </a:p>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Remote state with S3 + DynamoDB</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System Features</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Core capabilities of the CareSync platform</a:t>
            </a:r>
            <a:endParaRPr lang="en-US" sz="1100" dirty="0"/>
          </a:p>
        </p:txBody>
      </p:sp>
      <p:sp>
        <p:nvSpPr>
          <p:cNvPr id="5" name="Shape 3"/>
          <p:cNvSpPr/>
          <p:nvPr/>
        </p:nvSpPr>
        <p:spPr>
          <a:xfrm>
            <a:off x="320040" y="960120"/>
            <a:ext cx="2011680" cy="1463040"/>
          </a:xfrm>
          <a:prstGeom prst="rect">
            <a:avLst>
              <a:gd name="adj" fmla="val 2500"/>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6" name="Shape 4"/>
          <p:cNvSpPr/>
          <p:nvPr/>
        </p:nvSpPr>
        <p:spPr>
          <a:xfrm>
            <a:off x="393192" y="1042416"/>
            <a:ext cx="512064" cy="512064"/>
          </a:xfrm>
          <a:prstGeom prst="oval">
            <a:avLst/>
          </a:prstGeom>
          <a:solidFill>
            <a:srgbClr val="0073BB"/>
          </a:solidFill>
          <a:ln w="12700">
            <a:solidFill>
              <a:srgbClr val="0073BB"/>
            </a:solidFill>
            <a:prstDash val="solid"/>
          </a:ln>
        </p:spPr>
      </p:sp>
      <p:pic>
        <p:nvPicPr>
          <p:cNvPr id="7" name="Image 0" descr="preencoded.png">    </p:cNvPr>
          <p:cNvPicPr>
            <a:picLocks noChangeAspect="1"/>
          </p:cNvPicPr>
          <p:nvPr/>
        </p:nvPicPr>
        <p:blipFill>
          <a:blip r:embed="rId1"/>
          <a:stretch>
            <a:fillRect/>
          </a:stretch>
        </p:blipFill>
        <p:spPr>
          <a:xfrm>
            <a:off x="495605" y="1144829"/>
            <a:ext cx="307238" cy="307238"/>
          </a:xfrm>
          <a:prstGeom prst="rect">
            <a:avLst/>
          </a:prstGeom>
        </p:spPr>
      </p:pic>
      <p:sp>
        <p:nvSpPr>
          <p:cNvPr id="8" name="Text 5"/>
          <p:cNvSpPr/>
          <p:nvPr/>
        </p:nvSpPr>
        <p:spPr>
          <a:xfrm>
            <a:off x="1005840" y="1097280"/>
            <a:ext cx="1234440" cy="38404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Patient Registration</a:t>
            </a:r>
            <a:endParaRPr lang="en-US" sz="1100" dirty="0"/>
          </a:p>
        </p:txBody>
      </p:sp>
      <p:sp>
        <p:nvSpPr>
          <p:cNvPr id="9" name="Text 6"/>
          <p:cNvSpPr/>
          <p:nvPr/>
        </p:nvSpPr>
        <p:spPr>
          <a:xfrm>
            <a:off x="411480" y="1508760"/>
            <a:ext cx="1783080" cy="6858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Secure sign-up with JWT authentication</a:t>
            </a:r>
            <a:endParaRPr lang="en-US" sz="1000" dirty="0"/>
          </a:p>
        </p:txBody>
      </p:sp>
      <p:sp>
        <p:nvSpPr>
          <p:cNvPr id="10" name="Shape 7"/>
          <p:cNvSpPr/>
          <p:nvPr/>
        </p:nvSpPr>
        <p:spPr>
          <a:xfrm>
            <a:off x="2468880" y="960120"/>
            <a:ext cx="2011680" cy="1463040"/>
          </a:xfrm>
          <a:prstGeom prst="rect">
            <a:avLst>
              <a:gd name="adj" fmla="val 2500"/>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1" name="Shape 8"/>
          <p:cNvSpPr/>
          <p:nvPr/>
        </p:nvSpPr>
        <p:spPr>
          <a:xfrm>
            <a:off x="2542032" y="1042416"/>
            <a:ext cx="512064" cy="512064"/>
          </a:xfrm>
          <a:prstGeom prst="oval">
            <a:avLst/>
          </a:prstGeom>
          <a:solidFill>
            <a:srgbClr val="22C55E"/>
          </a:solidFill>
          <a:ln w="12700">
            <a:solidFill>
              <a:srgbClr val="22C55E"/>
            </a:solidFill>
            <a:prstDash val="solid"/>
          </a:ln>
        </p:spPr>
      </p:sp>
      <p:pic>
        <p:nvPicPr>
          <p:cNvPr id="12" name="Image 1" descr="preencoded.png">    </p:cNvPr>
          <p:cNvPicPr>
            <a:picLocks noChangeAspect="1"/>
          </p:cNvPicPr>
          <p:nvPr/>
        </p:nvPicPr>
        <p:blipFill>
          <a:blip r:embed="rId2"/>
          <a:stretch>
            <a:fillRect/>
          </a:stretch>
        </p:blipFill>
        <p:spPr>
          <a:xfrm>
            <a:off x="2644445" y="1144829"/>
            <a:ext cx="307238" cy="307238"/>
          </a:xfrm>
          <a:prstGeom prst="rect">
            <a:avLst/>
          </a:prstGeom>
        </p:spPr>
      </p:pic>
      <p:sp>
        <p:nvSpPr>
          <p:cNvPr id="13" name="Text 9"/>
          <p:cNvSpPr/>
          <p:nvPr/>
        </p:nvSpPr>
        <p:spPr>
          <a:xfrm>
            <a:off x="3154680" y="1097280"/>
            <a:ext cx="1234440" cy="38404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Appointment Booking</a:t>
            </a:r>
            <a:endParaRPr lang="en-US" sz="1100" dirty="0"/>
          </a:p>
        </p:txBody>
      </p:sp>
      <p:sp>
        <p:nvSpPr>
          <p:cNvPr id="14" name="Text 10"/>
          <p:cNvSpPr/>
          <p:nvPr/>
        </p:nvSpPr>
        <p:spPr>
          <a:xfrm>
            <a:off x="2560320" y="1508760"/>
            <a:ext cx="1783080" cy="6858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Real-time slot selection and confirmation</a:t>
            </a:r>
            <a:endParaRPr lang="en-US" sz="1000" dirty="0"/>
          </a:p>
        </p:txBody>
      </p:sp>
      <p:sp>
        <p:nvSpPr>
          <p:cNvPr id="15" name="Shape 11"/>
          <p:cNvSpPr/>
          <p:nvPr/>
        </p:nvSpPr>
        <p:spPr>
          <a:xfrm>
            <a:off x="4617720" y="960120"/>
            <a:ext cx="2011680" cy="1463040"/>
          </a:xfrm>
          <a:prstGeom prst="rect">
            <a:avLst>
              <a:gd name="adj" fmla="val 2500"/>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6" name="Shape 12"/>
          <p:cNvSpPr/>
          <p:nvPr/>
        </p:nvSpPr>
        <p:spPr>
          <a:xfrm>
            <a:off x="4690872" y="1042416"/>
            <a:ext cx="512064" cy="512064"/>
          </a:xfrm>
          <a:prstGeom prst="oval">
            <a:avLst/>
          </a:prstGeom>
          <a:solidFill>
            <a:srgbClr val="F97316"/>
          </a:solidFill>
          <a:ln w="12700">
            <a:solidFill>
              <a:srgbClr val="F97316"/>
            </a:solidFill>
            <a:prstDash val="solid"/>
          </a:ln>
        </p:spPr>
      </p:sp>
      <p:pic>
        <p:nvPicPr>
          <p:cNvPr id="17" name="Image 2" descr="preencoded.png">    </p:cNvPr>
          <p:cNvPicPr>
            <a:picLocks noChangeAspect="1"/>
          </p:cNvPicPr>
          <p:nvPr/>
        </p:nvPicPr>
        <p:blipFill>
          <a:blip r:embed="rId3"/>
          <a:stretch>
            <a:fillRect/>
          </a:stretch>
        </p:blipFill>
        <p:spPr>
          <a:xfrm>
            <a:off x="4793285" y="1144829"/>
            <a:ext cx="307238" cy="307238"/>
          </a:xfrm>
          <a:prstGeom prst="rect">
            <a:avLst/>
          </a:prstGeom>
        </p:spPr>
      </p:pic>
      <p:sp>
        <p:nvSpPr>
          <p:cNvPr id="18" name="Text 13"/>
          <p:cNvSpPr/>
          <p:nvPr/>
        </p:nvSpPr>
        <p:spPr>
          <a:xfrm>
            <a:off x="5303520" y="1097280"/>
            <a:ext cx="1234440" cy="38404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Appointment Tracking</a:t>
            </a:r>
            <a:endParaRPr lang="en-US" sz="1100" dirty="0"/>
          </a:p>
        </p:txBody>
      </p:sp>
      <p:sp>
        <p:nvSpPr>
          <p:cNvPr id="19" name="Text 14"/>
          <p:cNvSpPr/>
          <p:nvPr/>
        </p:nvSpPr>
        <p:spPr>
          <a:xfrm>
            <a:off x="4709160" y="1508760"/>
            <a:ext cx="1783080" cy="6858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View, reschedule, and cancel bookings</a:t>
            </a:r>
            <a:endParaRPr lang="en-US" sz="1000" dirty="0"/>
          </a:p>
        </p:txBody>
      </p:sp>
      <p:sp>
        <p:nvSpPr>
          <p:cNvPr id="20" name="Shape 15"/>
          <p:cNvSpPr/>
          <p:nvPr/>
        </p:nvSpPr>
        <p:spPr>
          <a:xfrm>
            <a:off x="6766560" y="960120"/>
            <a:ext cx="2011680" cy="1463040"/>
          </a:xfrm>
          <a:prstGeom prst="rect">
            <a:avLst>
              <a:gd name="adj" fmla="val 2500"/>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1" name="Shape 16"/>
          <p:cNvSpPr/>
          <p:nvPr/>
        </p:nvSpPr>
        <p:spPr>
          <a:xfrm>
            <a:off x="6839712" y="1042416"/>
            <a:ext cx="512064" cy="512064"/>
          </a:xfrm>
          <a:prstGeom prst="oval">
            <a:avLst/>
          </a:prstGeom>
          <a:solidFill>
            <a:srgbClr val="A855F7"/>
          </a:solidFill>
          <a:ln w="12700">
            <a:solidFill>
              <a:srgbClr val="A855F7"/>
            </a:solidFill>
            <a:prstDash val="solid"/>
          </a:ln>
        </p:spPr>
      </p:sp>
      <p:pic>
        <p:nvPicPr>
          <p:cNvPr id="22" name="Image 3" descr="preencoded.png">    </p:cNvPr>
          <p:cNvPicPr>
            <a:picLocks noChangeAspect="1"/>
          </p:cNvPicPr>
          <p:nvPr/>
        </p:nvPicPr>
        <p:blipFill>
          <a:blip r:embed="rId4"/>
          <a:stretch>
            <a:fillRect/>
          </a:stretch>
        </p:blipFill>
        <p:spPr>
          <a:xfrm>
            <a:off x="6942125" y="1144829"/>
            <a:ext cx="307238" cy="307238"/>
          </a:xfrm>
          <a:prstGeom prst="rect">
            <a:avLst/>
          </a:prstGeom>
        </p:spPr>
      </p:pic>
      <p:sp>
        <p:nvSpPr>
          <p:cNvPr id="23" name="Text 17"/>
          <p:cNvSpPr/>
          <p:nvPr/>
        </p:nvSpPr>
        <p:spPr>
          <a:xfrm>
            <a:off x="7452360" y="1097280"/>
            <a:ext cx="1234440" cy="38404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Prescription Management</a:t>
            </a:r>
            <a:endParaRPr lang="en-US" sz="1100" dirty="0"/>
          </a:p>
        </p:txBody>
      </p:sp>
      <p:sp>
        <p:nvSpPr>
          <p:cNvPr id="24" name="Text 18"/>
          <p:cNvSpPr/>
          <p:nvPr/>
        </p:nvSpPr>
        <p:spPr>
          <a:xfrm>
            <a:off x="6858000" y="1508760"/>
            <a:ext cx="1783080" cy="6858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Upload and retrieve prescriptions via S3</a:t>
            </a:r>
            <a:endParaRPr lang="en-US" sz="1000" dirty="0"/>
          </a:p>
        </p:txBody>
      </p:sp>
      <p:sp>
        <p:nvSpPr>
          <p:cNvPr id="25" name="Shape 19"/>
          <p:cNvSpPr/>
          <p:nvPr/>
        </p:nvSpPr>
        <p:spPr>
          <a:xfrm>
            <a:off x="1417320" y="2606040"/>
            <a:ext cx="2011680" cy="1463040"/>
          </a:xfrm>
          <a:prstGeom prst="rect">
            <a:avLst>
              <a:gd name="adj" fmla="val 2500"/>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6" name="Shape 20"/>
          <p:cNvSpPr/>
          <p:nvPr/>
        </p:nvSpPr>
        <p:spPr>
          <a:xfrm>
            <a:off x="1490472" y="2688336"/>
            <a:ext cx="512064" cy="512064"/>
          </a:xfrm>
          <a:prstGeom prst="oval">
            <a:avLst/>
          </a:prstGeom>
          <a:solidFill>
            <a:srgbClr val="14B8A6"/>
          </a:solidFill>
          <a:ln w="12700">
            <a:solidFill>
              <a:srgbClr val="14B8A6"/>
            </a:solidFill>
            <a:prstDash val="solid"/>
          </a:ln>
        </p:spPr>
      </p:sp>
      <p:pic>
        <p:nvPicPr>
          <p:cNvPr id="27" name="Image 4" descr="preencoded.png">    </p:cNvPr>
          <p:cNvPicPr>
            <a:picLocks noChangeAspect="1"/>
          </p:cNvPicPr>
          <p:nvPr/>
        </p:nvPicPr>
        <p:blipFill>
          <a:blip r:embed="rId5"/>
          <a:stretch>
            <a:fillRect/>
          </a:stretch>
        </p:blipFill>
        <p:spPr>
          <a:xfrm>
            <a:off x="1592885" y="2790749"/>
            <a:ext cx="307238" cy="307238"/>
          </a:xfrm>
          <a:prstGeom prst="rect">
            <a:avLst/>
          </a:prstGeom>
        </p:spPr>
      </p:pic>
      <p:sp>
        <p:nvSpPr>
          <p:cNvPr id="28" name="Text 21"/>
          <p:cNvSpPr/>
          <p:nvPr/>
        </p:nvSpPr>
        <p:spPr>
          <a:xfrm>
            <a:off x="2103120" y="2743200"/>
            <a:ext cx="1234440" cy="38404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Medical Report Upload</a:t>
            </a:r>
            <a:endParaRPr lang="en-US" sz="1100" dirty="0"/>
          </a:p>
        </p:txBody>
      </p:sp>
      <p:sp>
        <p:nvSpPr>
          <p:cNvPr id="29" name="Text 22"/>
          <p:cNvSpPr/>
          <p:nvPr/>
        </p:nvSpPr>
        <p:spPr>
          <a:xfrm>
            <a:off x="1508760" y="3154680"/>
            <a:ext cx="1783080" cy="6858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KMS-encrypted document storage on S3</a:t>
            </a:r>
            <a:endParaRPr lang="en-US" sz="1000" dirty="0"/>
          </a:p>
        </p:txBody>
      </p:sp>
      <p:sp>
        <p:nvSpPr>
          <p:cNvPr id="30" name="Shape 23"/>
          <p:cNvSpPr/>
          <p:nvPr/>
        </p:nvSpPr>
        <p:spPr>
          <a:xfrm>
            <a:off x="3566160" y="2606040"/>
            <a:ext cx="2011680" cy="1463040"/>
          </a:xfrm>
          <a:prstGeom prst="rect">
            <a:avLst>
              <a:gd name="adj" fmla="val 2500"/>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31" name="Shape 24"/>
          <p:cNvSpPr/>
          <p:nvPr/>
        </p:nvSpPr>
        <p:spPr>
          <a:xfrm>
            <a:off x="3639312" y="2688336"/>
            <a:ext cx="512064" cy="512064"/>
          </a:xfrm>
          <a:prstGeom prst="oval">
            <a:avLst/>
          </a:prstGeom>
          <a:solidFill>
            <a:srgbClr val="EAB308"/>
          </a:solidFill>
          <a:ln w="12700">
            <a:solidFill>
              <a:srgbClr val="EAB308"/>
            </a:solidFill>
            <a:prstDash val="solid"/>
          </a:ln>
        </p:spPr>
      </p:sp>
      <p:pic>
        <p:nvPicPr>
          <p:cNvPr id="32" name="Image 5" descr="preencoded.png">    </p:cNvPr>
          <p:cNvPicPr>
            <a:picLocks noChangeAspect="1"/>
          </p:cNvPicPr>
          <p:nvPr/>
        </p:nvPicPr>
        <p:blipFill>
          <a:blip r:embed="rId6"/>
          <a:stretch>
            <a:fillRect/>
          </a:stretch>
        </p:blipFill>
        <p:spPr>
          <a:xfrm>
            <a:off x="3741725" y="2790749"/>
            <a:ext cx="307238" cy="307238"/>
          </a:xfrm>
          <a:prstGeom prst="rect">
            <a:avLst/>
          </a:prstGeom>
        </p:spPr>
      </p:pic>
      <p:sp>
        <p:nvSpPr>
          <p:cNvPr id="33" name="Text 25"/>
          <p:cNvSpPr/>
          <p:nvPr/>
        </p:nvSpPr>
        <p:spPr>
          <a:xfrm>
            <a:off x="4251960" y="2743200"/>
            <a:ext cx="1234440" cy="38404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Appointment Reminders</a:t>
            </a:r>
            <a:endParaRPr lang="en-US" sz="1100" dirty="0"/>
          </a:p>
        </p:txBody>
      </p:sp>
      <p:sp>
        <p:nvSpPr>
          <p:cNvPr id="34" name="Text 26"/>
          <p:cNvSpPr/>
          <p:nvPr/>
        </p:nvSpPr>
        <p:spPr>
          <a:xfrm>
            <a:off x="3657600" y="3154680"/>
            <a:ext cx="1783080" cy="6858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Lambda + SNS automated patient notifications</a:t>
            </a:r>
            <a:endParaRPr lang="en-US" sz="1000" dirty="0"/>
          </a:p>
        </p:txBody>
      </p:sp>
      <p:sp>
        <p:nvSpPr>
          <p:cNvPr id="35" name="Shape 27"/>
          <p:cNvSpPr/>
          <p:nvPr/>
        </p:nvSpPr>
        <p:spPr>
          <a:xfrm>
            <a:off x="5715000" y="2606040"/>
            <a:ext cx="2011680" cy="1463040"/>
          </a:xfrm>
          <a:prstGeom prst="rect">
            <a:avLst>
              <a:gd name="adj" fmla="val 2500"/>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36" name="Shape 28"/>
          <p:cNvSpPr/>
          <p:nvPr/>
        </p:nvSpPr>
        <p:spPr>
          <a:xfrm>
            <a:off x="5788152" y="2688336"/>
            <a:ext cx="512064" cy="512064"/>
          </a:xfrm>
          <a:prstGeom prst="oval">
            <a:avLst/>
          </a:prstGeom>
          <a:solidFill>
            <a:srgbClr val="EF4444"/>
          </a:solidFill>
          <a:ln w="12700">
            <a:solidFill>
              <a:srgbClr val="EF4444"/>
            </a:solidFill>
            <a:prstDash val="solid"/>
          </a:ln>
        </p:spPr>
      </p:sp>
      <p:pic>
        <p:nvPicPr>
          <p:cNvPr id="37" name="Image 6" descr="preencoded.png">    </p:cNvPr>
          <p:cNvPicPr>
            <a:picLocks noChangeAspect="1"/>
          </p:cNvPicPr>
          <p:nvPr/>
        </p:nvPicPr>
        <p:blipFill>
          <a:blip r:embed="rId7"/>
          <a:stretch>
            <a:fillRect/>
          </a:stretch>
        </p:blipFill>
        <p:spPr>
          <a:xfrm>
            <a:off x="5890565" y="2790749"/>
            <a:ext cx="307238" cy="307238"/>
          </a:xfrm>
          <a:prstGeom prst="rect">
            <a:avLst/>
          </a:prstGeom>
        </p:spPr>
      </p:pic>
      <p:sp>
        <p:nvSpPr>
          <p:cNvPr id="38" name="Text 29"/>
          <p:cNvSpPr/>
          <p:nvPr/>
        </p:nvSpPr>
        <p:spPr>
          <a:xfrm>
            <a:off x="6400800" y="2743200"/>
            <a:ext cx="1234440" cy="384048"/>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Notification Cleanup</a:t>
            </a:r>
            <a:endParaRPr lang="en-US" sz="1100" dirty="0"/>
          </a:p>
        </p:txBody>
      </p:sp>
      <p:sp>
        <p:nvSpPr>
          <p:cNvPr id="39" name="Text 30"/>
          <p:cNvSpPr/>
          <p:nvPr/>
        </p:nvSpPr>
        <p:spPr>
          <a:xfrm>
            <a:off x="5806440" y="3154680"/>
            <a:ext cx="1783080" cy="6858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EventBridge scheduler purges stale records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Technology Stack</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Frontend, Backend, Database, and Infrastructure</a:t>
            </a:r>
            <a:endParaRPr lang="en-US" sz="1100" dirty="0"/>
          </a:p>
        </p:txBody>
      </p:sp>
      <p:sp>
        <p:nvSpPr>
          <p:cNvPr id="5" name="Shape 3"/>
          <p:cNvSpPr/>
          <p:nvPr/>
        </p:nvSpPr>
        <p:spPr>
          <a:xfrm>
            <a:off x="274320" y="960120"/>
            <a:ext cx="1600200" cy="475488"/>
          </a:xfrm>
          <a:prstGeom prst="rect">
            <a:avLst>
              <a:gd name="adj" fmla="val 7692"/>
            </a:avLst>
          </a:prstGeom>
          <a:solidFill>
            <a:srgbClr val="3B82F6"/>
          </a:solidFill>
          <a:ln w="12700">
            <a:solidFill>
              <a:srgbClr val="3B82F6"/>
            </a:solidFill>
            <a:prstDash val="solid"/>
          </a:ln>
        </p:spPr>
      </p:sp>
      <p:sp>
        <p:nvSpPr>
          <p:cNvPr id="6" name="Text 4"/>
          <p:cNvSpPr/>
          <p:nvPr/>
        </p:nvSpPr>
        <p:spPr>
          <a:xfrm>
            <a:off x="274320" y="960120"/>
            <a:ext cx="160020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Frontend</a:t>
            </a:r>
            <a:endParaRPr lang="en-US" sz="1200" dirty="0"/>
          </a:p>
        </p:txBody>
      </p:sp>
      <p:sp>
        <p:nvSpPr>
          <p:cNvPr id="7" name="Shape 5"/>
          <p:cNvSpPr/>
          <p:nvPr/>
        </p:nvSpPr>
        <p:spPr>
          <a:xfrm>
            <a:off x="274320" y="1435608"/>
            <a:ext cx="1600200" cy="3291840"/>
          </a:xfrm>
          <a:prstGeom prst="rect">
            <a:avLst>
              <a:gd name="adj" fmla="val 2286"/>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pic>
        <p:nvPicPr>
          <p:cNvPr id="8" name="Image 0" descr="preencoded.png">    </p:cNvPr>
          <p:cNvPicPr>
            <a:picLocks noChangeAspect="1"/>
          </p:cNvPicPr>
          <p:nvPr/>
        </p:nvPicPr>
        <p:blipFill>
          <a:blip r:embed="rId1"/>
          <a:stretch>
            <a:fillRect/>
          </a:stretch>
        </p:blipFill>
        <p:spPr>
          <a:xfrm>
            <a:off x="777240" y="1572768"/>
            <a:ext cx="594360" cy="594360"/>
          </a:xfrm>
          <a:prstGeom prst="rect">
            <a:avLst/>
          </a:prstGeom>
        </p:spPr>
      </p:pic>
      <p:sp>
        <p:nvSpPr>
          <p:cNvPr id="9" name="Text 6"/>
          <p:cNvSpPr/>
          <p:nvPr/>
        </p:nvSpPr>
        <p:spPr>
          <a:xfrm>
            <a:off x="347472" y="2304288"/>
            <a:ext cx="1463040" cy="475488"/>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React</a:t>
            </a:r>
            <a:endParaRPr lang="en-US" sz="1200" dirty="0"/>
          </a:p>
        </p:txBody>
      </p:sp>
      <p:sp>
        <p:nvSpPr>
          <p:cNvPr id="10" name="Shape 7"/>
          <p:cNvSpPr/>
          <p:nvPr/>
        </p:nvSpPr>
        <p:spPr>
          <a:xfrm>
            <a:off x="457200" y="2816352"/>
            <a:ext cx="1234440" cy="0"/>
          </a:xfrm>
          <a:prstGeom prst="line">
            <a:avLst/>
          </a:prstGeom>
          <a:noFill/>
          <a:ln w="6350">
            <a:solidFill>
              <a:srgbClr val="E8EEF4"/>
            </a:solidFill>
            <a:prstDash val="solid"/>
          </a:ln>
        </p:spPr>
      </p:sp>
      <p:sp>
        <p:nvSpPr>
          <p:cNvPr id="11" name="Text 8"/>
          <p:cNvSpPr/>
          <p:nvPr/>
        </p:nvSpPr>
        <p:spPr>
          <a:xfrm>
            <a:off x="347472" y="2871216"/>
            <a:ext cx="1463040" cy="47548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Vite</a:t>
            </a:r>
            <a:endParaRPr lang="en-US" sz="1200" dirty="0"/>
          </a:p>
        </p:txBody>
      </p:sp>
      <p:sp>
        <p:nvSpPr>
          <p:cNvPr id="12" name="Shape 9"/>
          <p:cNvSpPr/>
          <p:nvPr/>
        </p:nvSpPr>
        <p:spPr>
          <a:xfrm>
            <a:off x="457200" y="3383280"/>
            <a:ext cx="1234440" cy="0"/>
          </a:xfrm>
          <a:prstGeom prst="line">
            <a:avLst/>
          </a:prstGeom>
          <a:noFill/>
          <a:ln w="6350">
            <a:solidFill>
              <a:srgbClr val="E8EEF4"/>
            </a:solidFill>
            <a:prstDash val="solid"/>
          </a:ln>
        </p:spPr>
      </p:sp>
      <p:sp>
        <p:nvSpPr>
          <p:cNvPr id="13" name="Text 10"/>
          <p:cNvSpPr/>
          <p:nvPr/>
        </p:nvSpPr>
        <p:spPr>
          <a:xfrm>
            <a:off x="347472" y="3438144"/>
            <a:ext cx="1463040" cy="47548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JavaScript</a:t>
            </a:r>
            <a:endParaRPr lang="en-US" sz="1200" dirty="0"/>
          </a:p>
        </p:txBody>
      </p:sp>
      <p:sp>
        <p:nvSpPr>
          <p:cNvPr id="14" name="Shape 11"/>
          <p:cNvSpPr/>
          <p:nvPr/>
        </p:nvSpPr>
        <p:spPr>
          <a:xfrm>
            <a:off x="2011680" y="960120"/>
            <a:ext cx="1600200" cy="475488"/>
          </a:xfrm>
          <a:prstGeom prst="rect">
            <a:avLst>
              <a:gd name="adj" fmla="val 7692"/>
            </a:avLst>
          </a:prstGeom>
          <a:solidFill>
            <a:srgbClr val="F97316"/>
          </a:solidFill>
          <a:ln w="12700">
            <a:solidFill>
              <a:srgbClr val="F97316"/>
            </a:solidFill>
            <a:prstDash val="solid"/>
          </a:ln>
        </p:spPr>
      </p:sp>
      <p:sp>
        <p:nvSpPr>
          <p:cNvPr id="15" name="Text 12"/>
          <p:cNvSpPr/>
          <p:nvPr/>
        </p:nvSpPr>
        <p:spPr>
          <a:xfrm>
            <a:off x="2011680" y="960120"/>
            <a:ext cx="160020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Backend</a:t>
            </a:r>
            <a:endParaRPr lang="en-US" sz="1200" dirty="0"/>
          </a:p>
        </p:txBody>
      </p:sp>
      <p:sp>
        <p:nvSpPr>
          <p:cNvPr id="16" name="Shape 13"/>
          <p:cNvSpPr/>
          <p:nvPr/>
        </p:nvSpPr>
        <p:spPr>
          <a:xfrm>
            <a:off x="2011680" y="1435608"/>
            <a:ext cx="1600200" cy="3291840"/>
          </a:xfrm>
          <a:prstGeom prst="rect">
            <a:avLst>
              <a:gd name="adj" fmla="val 2286"/>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pic>
        <p:nvPicPr>
          <p:cNvPr id="17" name="Image 1" descr="preencoded.png">    </p:cNvPr>
          <p:cNvPicPr>
            <a:picLocks noChangeAspect="1"/>
          </p:cNvPicPr>
          <p:nvPr/>
        </p:nvPicPr>
        <p:blipFill>
          <a:blip r:embed="rId2"/>
          <a:stretch>
            <a:fillRect/>
          </a:stretch>
        </p:blipFill>
        <p:spPr>
          <a:xfrm>
            <a:off x="2514600" y="1572768"/>
            <a:ext cx="594360" cy="594360"/>
          </a:xfrm>
          <a:prstGeom prst="rect">
            <a:avLst/>
          </a:prstGeom>
        </p:spPr>
      </p:pic>
      <p:sp>
        <p:nvSpPr>
          <p:cNvPr id="18" name="Text 14"/>
          <p:cNvSpPr/>
          <p:nvPr/>
        </p:nvSpPr>
        <p:spPr>
          <a:xfrm>
            <a:off x="2084832" y="2304288"/>
            <a:ext cx="1463040" cy="475488"/>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Node.js</a:t>
            </a:r>
            <a:endParaRPr lang="en-US" sz="1200" dirty="0"/>
          </a:p>
        </p:txBody>
      </p:sp>
      <p:sp>
        <p:nvSpPr>
          <p:cNvPr id="19" name="Shape 15"/>
          <p:cNvSpPr/>
          <p:nvPr/>
        </p:nvSpPr>
        <p:spPr>
          <a:xfrm>
            <a:off x="2194560" y="2816352"/>
            <a:ext cx="1234440" cy="0"/>
          </a:xfrm>
          <a:prstGeom prst="line">
            <a:avLst/>
          </a:prstGeom>
          <a:noFill/>
          <a:ln w="6350">
            <a:solidFill>
              <a:srgbClr val="E8EEF4"/>
            </a:solidFill>
            <a:prstDash val="solid"/>
          </a:ln>
        </p:spPr>
      </p:sp>
      <p:sp>
        <p:nvSpPr>
          <p:cNvPr id="20" name="Text 16"/>
          <p:cNvSpPr/>
          <p:nvPr/>
        </p:nvSpPr>
        <p:spPr>
          <a:xfrm>
            <a:off x="2084832" y="2871216"/>
            <a:ext cx="1463040" cy="47548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Express.js</a:t>
            </a:r>
            <a:endParaRPr lang="en-US" sz="1200" dirty="0"/>
          </a:p>
        </p:txBody>
      </p:sp>
      <p:sp>
        <p:nvSpPr>
          <p:cNvPr id="21" name="Shape 17"/>
          <p:cNvSpPr/>
          <p:nvPr/>
        </p:nvSpPr>
        <p:spPr>
          <a:xfrm>
            <a:off x="2194560" y="3383280"/>
            <a:ext cx="1234440" cy="0"/>
          </a:xfrm>
          <a:prstGeom prst="line">
            <a:avLst/>
          </a:prstGeom>
          <a:noFill/>
          <a:ln w="6350">
            <a:solidFill>
              <a:srgbClr val="E8EEF4"/>
            </a:solidFill>
            <a:prstDash val="solid"/>
          </a:ln>
        </p:spPr>
      </p:sp>
      <p:sp>
        <p:nvSpPr>
          <p:cNvPr id="22" name="Text 18"/>
          <p:cNvSpPr/>
          <p:nvPr/>
        </p:nvSpPr>
        <p:spPr>
          <a:xfrm>
            <a:off x="2084832" y="3438144"/>
            <a:ext cx="1463040" cy="47548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REST APIs</a:t>
            </a:r>
            <a:endParaRPr lang="en-US" sz="1200" dirty="0"/>
          </a:p>
        </p:txBody>
      </p:sp>
      <p:sp>
        <p:nvSpPr>
          <p:cNvPr id="23" name="Shape 19"/>
          <p:cNvSpPr/>
          <p:nvPr/>
        </p:nvSpPr>
        <p:spPr>
          <a:xfrm>
            <a:off x="3749040" y="960120"/>
            <a:ext cx="1600200" cy="475488"/>
          </a:xfrm>
          <a:prstGeom prst="rect">
            <a:avLst>
              <a:gd name="adj" fmla="val 7692"/>
            </a:avLst>
          </a:prstGeom>
          <a:solidFill>
            <a:srgbClr val="A855F7"/>
          </a:solidFill>
          <a:ln w="12700">
            <a:solidFill>
              <a:srgbClr val="A855F7"/>
            </a:solidFill>
            <a:prstDash val="solid"/>
          </a:ln>
        </p:spPr>
      </p:sp>
      <p:sp>
        <p:nvSpPr>
          <p:cNvPr id="24" name="Text 20"/>
          <p:cNvSpPr/>
          <p:nvPr/>
        </p:nvSpPr>
        <p:spPr>
          <a:xfrm>
            <a:off x="3749040" y="960120"/>
            <a:ext cx="160020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Database</a:t>
            </a:r>
            <a:endParaRPr lang="en-US" sz="1200" dirty="0"/>
          </a:p>
        </p:txBody>
      </p:sp>
      <p:sp>
        <p:nvSpPr>
          <p:cNvPr id="25" name="Shape 21"/>
          <p:cNvSpPr/>
          <p:nvPr/>
        </p:nvSpPr>
        <p:spPr>
          <a:xfrm>
            <a:off x="3749040" y="1435608"/>
            <a:ext cx="1600200" cy="3291840"/>
          </a:xfrm>
          <a:prstGeom prst="rect">
            <a:avLst>
              <a:gd name="adj" fmla="val 2286"/>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pic>
        <p:nvPicPr>
          <p:cNvPr id="26" name="Image 2" descr="preencoded.png">    </p:cNvPr>
          <p:cNvPicPr>
            <a:picLocks noChangeAspect="1"/>
          </p:cNvPicPr>
          <p:nvPr/>
        </p:nvPicPr>
        <p:blipFill>
          <a:blip r:embed="rId3"/>
          <a:stretch>
            <a:fillRect/>
          </a:stretch>
        </p:blipFill>
        <p:spPr>
          <a:xfrm>
            <a:off x="4251960" y="1572768"/>
            <a:ext cx="594360" cy="594360"/>
          </a:xfrm>
          <a:prstGeom prst="rect">
            <a:avLst/>
          </a:prstGeom>
        </p:spPr>
      </p:pic>
      <p:sp>
        <p:nvSpPr>
          <p:cNvPr id="27" name="Text 22"/>
          <p:cNvSpPr/>
          <p:nvPr/>
        </p:nvSpPr>
        <p:spPr>
          <a:xfrm>
            <a:off x="3822192" y="2304288"/>
            <a:ext cx="1463040" cy="475488"/>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PostgreSQL</a:t>
            </a:r>
            <a:endParaRPr lang="en-US" sz="1200" dirty="0"/>
          </a:p>
        </p:txBody>
      </p:sp>
      <p:sp>
        <p:nvSpPr>
          <p:cNvPr id="28" name="Shape 23"/>
          <p:cNvSpPr/>
          <p:nvPr/>
        </p:nvSpPr>
        <p:spPr>
          <a:xfrm>
            <a:off x="3931920" y="2816352"/>
            <a:ext cx="1234440" cy="0"/>
          </a:xfrm>
          <a:prstGeom prst="line">
            <a:avLst/>
          </a:prstGeom>
          <a:noFill/>
          <a:ln w="6350">
            <a:solidFill>
              <a:srgbClr val="E8EEF4"/>
            </a:solidFill>
            <a:prstDash val="solid"/>
          </a:ln>
        </p:spPr>
      </p:sp>
      <p:sp>
        <p:nvSpPr>
          <p:cNvPr id="29" name="Text 24"/>
          <p:cNvSpPr/>
          <p:nvPr/>
        </p:nvSpPr>
        <p:spPr>
          <a:xfrm>
            <a:off x="3822192" y="2871216"/>
            <a:ext cx="1463040" cy="47548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Amazon RDS</a:t>
            </a:r>
            <a:endParaRPr lang="en-US" sz="1200" dirty="0"/>
          </a:p>
        </p:txBody>
      </p:sp>
      <p:sp>
        <p:nvSpPr>
          <p:cNvPr id="30" name="Shape 25"/>
          <p:cNvSpPr/>
          <p:nvPr/>
        </p:nvSpPr>
        <p:spPr>
          <a:xfrm>
            <a:off x="3931920" y="3383280"/>
            <a:ext cx="1234440" cy="0"/>
          </a:xfrm>
          <a:prstGeom prst="line">
            <a:avLst/>
          </a:prstGeom>
          <a:noFill/>
          <a:ln w="6350">
            <a:solidFill>
              <a:srgbClr val="E8EEF4"/>
            </a:solidFill>
            <a:prstDash val="solid"/>
          </a:ln>
        </p:spPr>
      </p:sp>
      <p:sp>
        <p:nvSpPr>
          <p:cNvPr id="31" name="Text 26"/>
          <p:cNvSpPr/>
          <p:nvPr/>
        </p:nvSpPr>
        <p:spPr>
          <a:xfrm>
            <a:off x="3822192" y="3438144"/>
            <a:ext cx="1463040" cy="47548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Multi-AZ</a:t>
            </a:r>
            <a:endParaRPr lang="en-US" sz="1200" dirty="0"/>
          </a:p>
        </p:txBody>
      </p:sp>
      <p:sp>
        <p:nvSpPr>
          <p:cNvPr id="32" name="Shape 27"/>
          <p:cNvSpPr/>
          <p:nvPr/>
        </p:nvSpPr>
        <p:spPr>
          <a:xfrm>
            <a:off x="5486400" y="960120"/>
            <a:ext cx="1600200" cy="475488"/>
          </a:xfrm>
          <a:prstGeom prst="rect">
            <a:avLst>
              <a:gd name="adj" fmla="val 7692"/>
            </a:avLst>
          </a:prstGeom>
          <a:solidFill>
            <a:srgbClr val="7C3AED"/>
          </a:solidFill>
          <a:ln w="12700">
            <a:solidFill>
              <a:srgbClr val="7C3AED"/>
            </a:solidFill>
            <a:prstDash val="solid"/>
          </a:ln>
        </p:spPr>
      </p:sp>
      <p:sp>
        <p:nvSpPr>
          <p:cNvPr id="33" name="Text 28"/>
          <p:cNvSpPr/>
          <p:nvPr/>
        </p:nvSpPr>
        <p:spPr>
          <a:xfrm>
            <a:off x="5486400" y="960120"/>
            <a:ext cx="160020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Infrastructure</a:t>
            </a:r>
            <a:endParaRPr lang="en-US" sz="1200" dirty="0"/>
          </a:p>
        </p:txBody>
      </p:sp>
      <p:sp>
        <p:nvSpPr>
          <p:cNvPr id="34" name="Shape 29"/>
          <p:cNvSpPr/>
          <p:nvPr/>
        </p:nvSpPr>
        <p:spPr>
          <a:xfrm>
            <a:off x="5486400" y="1435608"/>
            <a:ext cx="1600200" cy="3291840"/>
          </a:xfrm>
          <a:prstGeom prst="rect">
            <a:avLst>
              <a:gd name="adj" fmla="val 2286"/>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pic>
        <p:nvPicPr>
          <p:cNvPr id="35" name="Image 3" descr="preencoded.png">    </p:cNvPr>
          <p:cNvPicPr>
            <a:picLocks noChangeAspect="1"/>
          </p:cNvPicPr>
          <p:nvPr/>
        </p:nvPicPr>
        <p:blipFill>
          <a:blip r:embed="rId4"/>
          <a:stretch>
            <a:fillRect/>
          </a:stretch>
        </p:blipFill>
        <p:spPr>
          <a:xfrm>
            <a:off x="5989320" y="1572768"/>
            <a:ext cx="594360" cy="594360"/>
          </a:xfrm>
          <a:prstGeom prst="rect">
            <a:avLst/>
          </a:prstGeom>
        </p:spPr>
      </p:pic>
      <p:sp>
        <p:nvSpPr>
          <p:cNvPr id="36" name="Text 30"/>
          <p:cNvSpPr/>
          <p:nvPr/>
        </p:nvSpPr>
        <p:spPr>
          <a:xfrm>
            <a:off x="5559552" y="2304288"/>
            <a:ext cx="1463040" cy="475488"/>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Terraform</a:t>
            </a:r>
            <a:endParaRPr lang="en-US" sz="1200" dirty="0"/>
          </a:p>
        </p:txBody>
      </p:sp>
      <p:sp>
        <p:nvSpPr>
          <p:cNvPr id="37" name="Shape 31"/>
          <p:cNvSpPr/>
          <p:nvPr/>
        </p:nvSpPr>
        <p:spPr>
          <a:xfrm>
            <a:off x="5669280" y="2816352"/>
            <a:ext cx="1234440" cy="0"/>
          </a:xfrm>
          <a:prstGeom prst="line">
            <a:avLst/>
          </a:prstGeom>
          <a:noFill/>
          <a:ln w="6350">
            <a:solidFill>
              <a:srgbClr val="E8EEF4"/>
            </a:solidFill>
            <a:prstDash val="solid"/>
          </a:ln>
        </p:spPr>
      </p:sp>
      <p:sp>
        <p:nvSpPr>
          <p:cNvPr id="38" name="Text 32"/>
          <p:cNvSpPr/>
          <p:nvPr/>
        </p:nvSpPr>
        <p:spPr>
          <a:xfrm>
            <a:off x="5559552" y="2871216"/>
            <a:ext cx="1463040" cy="47548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15 Modules</a:t>
            </a:r>
            <a:endParaRPr lang="en-US" sz="1200" dirty="0"/>
          </a:p>
        </p:txBody>
      </p:sp>
      <p:sp>
        <p:nvSpPr>
          <p:cNvPr id="39" name="Shape 33"/>
          <p:cNvSpPr/>
          <p:nvPr/>
        </p:nvSpPr>
        <p:spPr>
          <a:xfrm>
            <a:off x="5669280" y="3383280"/>
            <a:ext cx="1234440" cy="0"/>
          </a:xfrm>
          <a:prstGeom prst="line">
            <a:avLst/>
          </a:prstGeom>
          <a:noFill/>
          <a:ln w="6350">
            <a:solidFill>
              <a:srgbClr val="E8EEF4"/>
            </a:solidFill>
            <a:prstDash val="solid"/>
          </a:ln>
        </p:spPr>
      </p:sp>
      <p:sp>
        <p:nvSpPr>
          <p:cNvPr id="40" name="Text 34"/>
          <p:cNvSpPr/>
          <p:nvPr/>
        </p:nvSpPr>
        <p:spPr>
          <a:xfrm>
            <a:off x="5559552" y="3438144"/>
            <a:ext cx="1463040" cy="47548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Remote State</a:t>
            </a:r>
            <a:endParaRPr lang="en-US" sz="1200" dirty="0"/>
          </a:p>
        </p:txBody>
      </p:sp>
      <p:sp>
        <p:nvSpPr>
          <p:cNvPr id="41" name="Shape 35"/>
          <p:cNvSpPr/>
          <p:nvPr/>
        </p:nvSpPr>
        <p:spPr>
          <a:xfrm>
            <a:off x="7223760" y="960120"/>
            <a:ext cx="1600200" cy="475488"/>
          </a:xfrm>
          <a:prstGeom prst="rect">
            <a:avLst>
              <a:gd name="adj" fmla="val 7692"/>
            </a:avLst>
          </a:prstGeom>
          <a:solidFill>
            <a:srgbClr val="FF9900"/>
          </a:solidFill>
          <a:ln w="12700">
            <a:solidFill>
              <a:srgbClr val="FF9900"/>
            </a:solidFill>
            <a:prstDash val="solid"/>
          </a:ln>
        </p:spPr>
      </p:sp>
      <p:sp>
        <p:nvSpPr>
          <p:cNvPr id="42" name="Text 36"/>
          <p:cNvSpPr/>
          <p:nvPr/>
        </p:nvSpPr>
        <p:spPr>
          <a:xfrm>
            <a:off x="7223760" y="960120"/>
            <a:ext cx="160020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Cloud Platform</a:t>
            </a:r>
            <a:endParaRPr lang="en-US" sz="1200" dirty="0"/>
          </a:p>
        </p:txBody>
      </p:sp>
      <p:sp>
        <p:nvSpPr>
          <p:cNvPr id="43" name="Shape 37"/>
          <p:cNvSpPr/>
          <p:nvPr/>
        </p:nvSpPr>
        <p:spPr>
          <a:xfrm>
            <a:off x="7223760" y="1435608"/>
            <a:ext cx="1600200" cy="3291840"/>
          </a:xfrm>
          <a:prstGeom prst="rect">
            <a:avLst>
              <a:gd name="adj" fmla="val 2286"/>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pic>
        <p:nvPicPr>
          <p:cNvPr id="44" name="Image 4" descr="preencoded.png">    </p:cNvPr>
          <p:cNvPicPr>
            <a:picLocks noChangeAspect="1"/>
          </p:cNvPicPr>
          <p:nvPr/>
        </p:nvPicPr>
        <p:blipFill>
          <a:blip r:embed="rId5"/>
          <a:stretch>
            <a:fillRect/>
          </a:stretch>
        </p:blipFill>
        <p:spPr>
          <a:xfrm>
            <a:off x="7726680" y="1572768"/>
            <a:ext cx="594360" cy="594360"/>
          </a:xfrm>
          <a:prstGeom prst="rect">
            <a:avLst/>
          </a:prstGeom>
        </p:spPr>
      </p:pic>
      <p:sp>
        <p:nvSpPr>
          <p:cNvPr id="45" name="Text 38"/>
          <p:cNvSpPr/>
          <p:nvPr/>
        </p:nvSpPr>
        <p:spPr>
          <a:xfrm>
            <a:off x="7296912" y="2304288"/>
            <a:ext cx="1463040" cy="475488"/>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Amazon Web Services</a:t>
            </a:r>
            <a:endParaRPr lang="en-US" sz="1200" dirty="0"/>
          </a:p>
        </p:txBody>
      </p:sp>
      <p:sp>
        <p:nvSpPr>
          <p:cNvPr id="46" name="Shape 39"/>
          <p:cNvSpPr/>
          <p:nvPr/>
        </p:nvSpPr>
        <p:spPr>
          <a:xfrm>
            <a:off x="7406640" y="2816352"/>
            <a:ext cx="1234440" cy="0"/>
          </a:xfrm>
          <a:prstGeom prst="line">
            <a:avLst/>
          </a:prstGeom>
          <a:noFill/>
          <a:ln w="6350">
            <a:solidFill>
              <a:srgbClr val="E8EEF4"/>
            </a:solidFill>
            <a:prstDash val="solid"/>
          </a:ln>
        </p:spPr>
      </p:sp>
      <p:sp>
        <p:nvSpPr>
          <p:cNvPr id="47" name="Text 40"/>
          <p:cNvSpPr/>
          <p:nvPr/>
        </p:nvSpPr>
        <p:spPr>
          <a:xfrm>
            <a:off x="7296912" y="2871216"/>
            <a:ext cx="1463040" cy="47548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15+ Services</a:t>
            </a:r>
            <a:endParaRPr lang="en-US" sz="1200" dirty="0"/>
          </a:p>
        </p:txBody>
      </p:sp>
      <p:sp>
        <p:nvSpPr>
          <p:cNvPr id="48" name="Shape 41"/>
          <p:cNvSpPr/>
          <p:nvPr/>
        </p:nvSpPr>
        <p:spPr>
          <a:xfrm>
            <a:off x="7406640" y="3383280"/>
            <a:ext cx="1234440" cy="0"/>
          </a:xfrm>
          <a:prstGeom prst="line">
            <a:avLst/>
          </a:prstGeom>
          <a:noFill/>
          <a:ln w="6350">
            <a:solidFill>
              <a:srgbClr val="E8EEF4"/>
            </a:solidFill>
            <a:prstDash val="solid"/>
          </a:ln>
        </p:spPr>
      </p:sp>
      <p:sp>
        <p:nvSpPr>
          <p:cNvPr id="49" name="Text 42"/>
          <p:cNvSpPr/>
          <p:nvPr/>
        </p:nvSpPr>
        <p:spPr>
          <a:xfrm>
            <a:off x="7296912" y="3438144"/>
            <a:ext cx="1463040" cy="47548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us-east-1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Why AWS?</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Advantages of cloud over traditional on-premises deployments</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0040" y="960120"/>
          <a:ext cx="8503920" cy="3840480"/>
        </p:xfrm>
        <a:graphic>
          <a:graphicData uri="http://schemas.openxmlformats.org/drawingml/2006/table">
            <a:tbl>
              <a:tblPr/>
              <a:tblGrid>
                <a:gridCol w="2011680"/>
                <a:gridCol w="3108960"/>
                <a:gridCol w="3108960"/>
              </a:tblGrid>
              <a:tr h="54864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Capability</a:t>
                      </a:r>
                      <a:endParaRPr lang="en-US" sz="11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73BB"/>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Traditional Deployment</a:t>
                      </a:r>
                      <a:endParaRPr lang="en-US" sz="11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73BB"/>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CareSync on AWS</a:t>
                      </a:r>
                      <a:endParaRPr lang="en-US" sz="11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73BB"/>
                    </a:solidFill>
                  </a:tcPr>
                </a:tc>
              </a:tr>
              <a:tr h="548640">
                <a:tc>
                  <a:txBody>
                    <a:bodyPr/>
                    <a:lstStyle/>
                    <a:p>
                      <a:pPr algn="l" indent="0" marL="0">
                        <a:buNone/>
                      </a:pPr>
                      <a:r>
                        <a:rPr lang="en-US" sz="1000" b="1" dirty="0">
                          <a:solidFill>
                            <a:srgbClr val="1E293B"/>
                          </a:solidFill>
                          <a:latin typeface="Calibri" pitchFamily="34" charset="0"/>
                          <a:ea typeface="Calibri" pitchFamily="34" charset="-122"/>
                          <a:cs typeface="Calibri" pitchFamily="34" charset="-120"/>
                        </a:rPr>
                        <a:t>Scaling</a:t>
                      </a:r>
                      <a:endParaRPr lang="en-US" sz="10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Manual server provisioning</a:t>
                      </a:r>
                      <a:endParaRPr lang="en-US" sz="10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73BB"/>
                          </a:solidFill>
                          <a:latin typeface="Calibri" pitchFamily="34" charset="0"/>
                          <a:ea typeface="Calibri" pitchFamily="34" charset="-122"/>
                          <a:cs typeface="Calibri" pitchFamily="34" charset="-120"/>
                        </a:rPr>
                        <a:t>Auto Scaling Groups — automatic</a:t>
                      </a:r>
                      <a:endParaRPr lang="en-US" sz="10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548640">
                <a:tc>
                  <a:txBody>
                    <a:bodyPr/>
                    <a:lstStyle/>
                    <a:p>
                      <a:pPr algn="l" indent="0" marL="0">
                        <a:buNone/>
                      </a:pPr>
                      <a:r>
                        <a:rPr lang="en-US" sz="1000" b="1" dirty="0">
                          <a:solidFill>
                            <a:srgbClr val="1E293B"/>
                          </a:solidFill>
                          <a:latin typeface="Calibri" pitchFamily="34" charset="0"/>
                          <a:ea typeface="Calibri" pitchFamily="34" charset="-122"/>
                          <a:cs typeface="Calibri" pitchFamily="34" charset="-120"/>
                        </a:rPr>
                        <a:t>Availability</a:t>
                      </a:r>
                      <a:endParaRPr lang="en-US" sz="10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Single server — SPOF</a:t>
                      </a:r>
                      <a:endParaRPr lang="en-US" sz="10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l" indent="0" marL="0">
                        <a:buNone/>
                      </a:pPr>
                      <a:r>
                        <a:rPr lang="en-US" sz="1000" dirty="0">
                          <a:solidFill>
                            <a:srgbClr val="0073BB"/>
                          </a:solidFill>
                          <a:latin typeface="Calibri" pitchFamily="34" charset="0"/>
                          <a:ea typeface="Calibri" pitchFamily="34" charset="-122"/>
                          <a:cs typeface="Calibri" pitchFamily="34" charset="-120"/>
                        </a:rPr>
                        <a:t>Multi-AZ RDS + ASG — HA</a:t>
                      </a:r>
                      <a:endParaRPr lang="en-US" sz="10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548640">
                <a:tc>
                  <a:txBody>
                    <a:bodyPr/>
                    <a:lstStyle/>
                    <a:p>
                      <a:pPr algn="l" indent="0" marL="0">
                        <a:buNone/>
                      </a:pPr>
                      <a:r>
                        <a:rPr lang="en-US" sz="1000" b="1" dirty="0">
                          <a:solidFill>
                            <a:srgbClr val="1E293B"/>
                          </a:solidFill>
                          <a:latin typeface="Calibri" pitchFamily="34" charset="0"/>
                          <a:ea typeface="Calibri" pitchFamily="34" charset="-122"/>
                          <a:cs typeface="Calibri" pitchFamily="34" charset="-120"/>
                        </a:rPr>
                        <a:t>Security</a:t>
                      </a:r>
                      <a:endParaRPr lang="en-US" sz="10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Perimeter-only firewall</a:t>
                      </a:r>
                      <a:endParaRPr lang="en-US" sz="10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73BB"/>
                          </a:solidFill>
                          <a:latin typeface="Calibri" pitchFamily="34" charset="0"/>
                          <a:ea typeface="Calibri" pitchFamily="34" charset="-122"/>
                          <a:cs typeface="Calibri" pitchFamily="34" charset="-120"/>
                        </a:rPr>
                        <a:t>IAM + KMS + WAF + Secrets Manager</a:t>
                      </a:r>
                      <a:endParaRPr lang="en-US" sz="10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548640">
                <a:tc>
                  <a:txBody>
                    <a:bodyPr/>
                    <a:lstStyle/>
                    <a:p>
                      <a:pPr algn="l" indent="0" marL="0">
                        <a:buNone/>
                      </a:pPr>
                      <a:r>
                        <a:rPr lang="en-US" sz="1000" b="1" dirty="0">
                          <a:solidFill>
                            <a:srgbClr val="1E293B"/>
                          </a:solidFill>
                          <a:latin typeface="Calibri" pitchFamily="34" charset="0"/>
                          <a:ea typeface="Calibri" pitchFamily="34" charset="-122"/>
                          <a:cs typeface="Calibri" pitchFamily="34" charset="-120"/>
                        </a:rPr>
                        <a:t>Monitoring</a:t>
                      </a:r>
                      <a:endParaRPr lang="en-US" sz="10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Manual log checks</a:t>
                      </a:r>
                      <a:endParaRPr lang="en-US" sz="10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l" indent="0" marL="0">
                        <a:buNone/>
                      </a:pPr>
                      <a:r>
                        <a:rPr lang="en-US" sz="1000" dirty="0">
                          <a:solidFill>
                            <a:srgbClr val="0073BB"/>
                          </a:solidFill>
                          <a:latin typeface="Calibri" pitchFamily="34" charset="0"/>
                          <a:ea typeface="Calibri" pitchFamily="34" charset="-122"/>
                          <a:cs typeface="Calibri" pitchFamily="34" charset="-120"/>
                        </a:rPr>
                        <a:t>CloudWatch alarms + SNS alerts</a:t>
                      </a:r>
                      <a:endParaRPr lang="en-US" sz="10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548640">
                <a:tc>
                  <a:txBody>
                    <a:bodyPr/>
                    <a:lstStyle/>
                    <a:p>
                      <a:pPr algn="l" indent="0" marL="0">
                        <a:buNone/>
                      </a:pPr>
                      <a:r>
                        <a:rPr lang="en-US" sz="1000" b="1" dirty="0">
                          <a:solidFill>
                            <a:srgbClr val="1E293B"/>
                          </a:solidFill>
                          <a:latin typeface="Calibri" pitchFamily="34" charset="0"/>
                          <a:ea typeface="Calibri" pitchFamily="34" charset="-122"/>
                          <a:cs typeface="Calibri" pitchFamily="34" charset="-120"/>
                        </a:rPr>
                        <a:t>Backups</a:t>
                      </a:r>
                      <a:endParaRPr lang="en-US" sz="10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Manual scripts</a:t>
                      </a:r>
                      <a:endParaRPr lang="en-US" sz="10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73BB"/>
                          </a:solidFill>
                          <a:latin typeface="Calibri" pitchFamily="34" charset="0"/>
                          <a:ea typeface="Calibri" pitchFamily="34" charset="-122"/>
                          <a:cs typeface="Calibri" pitchFamily="34" charset="-120"/>
                        </a:rPr>
                        <a:t>RDS automated backups + S3 versioning</a:t>
                      </a:r>
                      <a:endParaRPr lang="en-US" sz="10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548640">
                <a:tc>
                  <a:txBody>
                    <a:bodyPr/>
                    <a:lstStyle/>
                    <a:p>
                      <a:pPr algn="l" indent="0" marL="0">
                        <a:buNone/>
                      </a:pPr>
                      <a:r>
                        <a:rPr lang="en-US" sz="1000" b="1" dirty="0">
                          <a:solidFill>
                            <a:srgbClr val="1E293B"/>
                          </a:solidFill>
                          <a:latin typeface="Calibri" pitchFamily="34" charset="0"/>
                          <a:ea typeface="Calibri" pitchFamily="34" charset="-122"/>
                          <a:cs typeface="Calibri" pitchFamily="34" charset="-120"/>
                        </a:rPr>
                        <a:t>Deployment</a:t>
                      </a:r>
                      <a:endParaRPr lang="en-US" sz="10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Manual SSH + config</a:t>
                      </a:r>
                      <a:endParaRPr lang="en-US" sz="10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l" indent="0" marL="0">
                        <a:buNone/>
                      </a:pPr>
                      <a:r>
                        <a:rPr lang="en-US" sz="1000" dirty="0">
                          <a:solidFill>
                            <a:srgbClr val="0073BB"/>
                          </a:solidFill>
                          <a:latin typeface="Calibri" pitchFamily="34" charset="0"/>
                          <a:ea typeface="Calibri" pitchFamily="34" charset="-122"/>
                          <a:cs typeface="Calibri" pitchFamily="34" charset="-120"/>
                        </a:rPr>
                        <a:t>Terraform IaC — repeatable</a:t>
                      </a:r>
                      <a:endParaRPr lang="en-US" sz="1000" dirty="0">
                        <a:latin typeface="Calibri" charset="0"/>
                        <a:ea typeface="Calibri" charset="0"/>
                        <a:cs typeface="Calibri" charset="0"/>
                      </a:endParaRPr>
                    </a:p>
                  </a:txBody>
                  <a:tcPr marL="76200" marR="76200" marT="50800" marB="508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AWS Services Used</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15+ services across networking, compute, security, and monitoring</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914400"/>
          <a:ext cx="8503920" cy="4069080"/>
        </p:xfrm>
        <a:graphic>
          <a:graphicData uri="http://schemas.openxmlformats.org/drawingml/2006/table">
            <a:tbl>
              <a:tblPr/>
              <a:tblGrid>
                <a:gridCol w="2011680"/>
                <a:gridCol w="1417320"/>
                <a:gridCol w="5074920"/>
              </a:tblGrid>
              <a:tr h="2712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Service</a:t>
                      </a:r>
                      <a:endParaRPr lang="en-US" sz="11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73B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73BB"/>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Purpose in CareSync</a:t>
                      </a:r>
                      <a:endParaRPr lang="en-US" sz="11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073BB"/>
                    </a:solidFill>
                  </a:tcPr>
                </a:tc>
              </a:tr>
              <a:tr h="2712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VPC + Subnets</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C55E"/>
                          </a:solidFill>
                          <a:latin typeface="Calibri" pitchFamily="34" charset="0"/>
                          <a:ea typeface="Calibri" pitchFamily="34" charset="-122"/>
                          <a:cs typeface="Calibri" pitchFamily="34" charset="-120"/>
                        </a:rPr>
                        <a:t>Networking</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22C55E">
                        <a:alpha val="15000"/>
                      </a:srgbClr>
                    </a:solidFill>
                  </a:tcPr>
                </a:tc>
                <a:tc>
                  <a:txBody>
                    <a:bodyPr/>
                    <a:lstStyle/>
                    <a:p>
                      <a:pPr indent="0" marL="0">
                        <a:buNone/>
                      </a:pPr>
                      <a:r>
                        <a:rPr lang="en-US" sz="950" dirty="0">
                          <a:solidFill>
                            <a:srgbClr val="64748B"/>
                          </a:solidFill>
                          <a:latin typeface="Calibri" pitchFamily="34" charset="0"/>
                          <a:ea typeface="Calibri" pitchFamily="34" charset="-122"/>
                          <a:cs typeface="Calibri" pitchFamily="34" charset="-120"/>
                        </a:rPr>
                        <a:t>Isolated network with public/private subnet tiers</a:t>
                      </a:r>
                      <a:endParaRPr lang="en-US" sz="95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712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EC2 + ASG</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F97316"/>
                          </a:solidFill>
                          <a:latin typeface="Calibri" pitchFamily="34" charset="0"/>
                          <a:ea typeface="Calibri" pitchFamily="34" charset="-122"/>
                          <a:cs typeface="Calibri" pitchFamily="34" charset="-120"/>
                        </a:rPr>
                        <a:t>Compute</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97316">
                        <a:alpha val="15000"/>
                      </a:srgbClr>
                    </a:solidFill>
                  </a:tcPr>
                </a:tc>
                <a:tc>
                  <a:txBody>
                    <a:bodyPr/>
                    <a:lstStyle/>
                    <a:p>
                      <a:pPr indent="0" marL="0">
                        <a:buNone/>
                      </a:pPr>
                      <a:r>
                        <a:rPr lang="en-US" sz="950" dirty="0">
                          <a:solidFill>
                            <a:srgbClr val="64748B"/>
                          </a:solidFill>
                          <a:latin typeface="Calibri" pitchFamily="34" charset="0"/>
                          <a:ea typeface="Calibri" pitchFamily="34" charset="-122"/>
                          <a:cs typeface="Calibri" pitchFamily="34" charset="-120"/>
                        </a:rPr>
                        <a:t>Frontend &amp; backend instances with auto-scaling</a:t>
                      </a:r>
                      <a:endParaRPr lang="en-US" sz="95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2712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App Load Balancer</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C55E"/>
                          </a:solidFill>
                          <a:latin typeface="Calibri" pitchFamily="34" charset="0"/>
                          <a:ea typeface="Calibri" pitchFamily="34" charset="-122"/>
                          <a:cs typeface="Calibri" pitchFamily="34" charset="-120"/>
                        </a:rPr>
                        <a:t>Networking</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22C55E">
                        <a:alpha val="15000"/>
                      </a:srgbClr>
                    </a:solidFill>
                  </a:tcPr>
                </a:tc>
                <a:tc>
                  <a:txBody>
                    <a:bodyPr/>
                    <a:lstStyle/>
                    <a:p>
                      <a:pPr indent="0" marL="0">
                        <a:buNone/>
                      </a:pPr>
                      <a:r>
                        <a:rPr lang="en-US" sz="950" dirty="0">
                          <a:solidFill>
                            <a:srgbClr val="64748B"/>
                          </a:solidFill>
                          <a:latin typeface="Calibri" pitchFamily="34" charset="0"/>
                          <a:ea typeface="Calibri" pitchFamily="34" charset="-122"/>
                          <a:cs typeface="Calibri" pitchFamily="34" charset="-120"/>
                        </a:rPr>
                        <a:t>Routes /* to frontend, /api/* to backend</a:t>
                      </a:r>
                      <a:endParaRPr lang="en-US" sz="95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712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RDS PostgreSQL</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A855F7"/>
                          </a:solidFill>
                          <a:latin typeface="Calibri" pitchFamily="34" charset="0"/>
                          <a:ea typeface="Calibri" pitchFamily="34" charset="-122"/>
                          <a:cs typeface="Calibri" pitchFamily="34" charset="-120"/>
                        </a:rPr>
                        <a:t>Database</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A855F7">
                        <a:alpha val="15000"/>
                      </a:srgbClr>
                    </a:solidFill>
                  </a:tcPr>
                </a:tc>
                <a:tc>
                  <a:txBody>
                    <a:bodyPr/>
                    <a:lstStyle/>
                    <a:p>
                      <a:pPr indent="0" marL="0">
                        <a:buNone/>
                      </a:pPr>
                      <a:r>
                        <a:rPr lang="en-US" sz="950" dirty="0">
                          <a:solidFill>
                            <a:srgbClr val="64748B"/>
                          </a:solidFill>
                          <a:latin typeface="Calibri" pitchFamily="34" charset="0"/>
                          <a:ea typeface="Calibri" pitchFamily="34" charset="-122"/>
                          <a:cs typeface="Calibri" pitchFamily="34" charset="-120"/>
                        </a:rPr>
                        <a:t>Multi-AZ primary database with auto failover</a:t>
                      </a:r>
                      <a:endParaRPr lang="en-US" sz="95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2712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Amazon S3</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4B8A6"/>
                          </a:solidFill>
                          <a:latin typeface="Calibri" pitchFamily="34" charset="0"/>
                          <a:ea typeface="Calibri" pitchFamily="34" charset="-122"/>
                          <a:cs typeface="Calibri" pitchFamily="34" charset="-120"/>
                        </a:rPr>
                        <a:t>Storage</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4B8A6">
                        <a:alpha val="15000"/>
                      </a:srgbClr>
                    </a:solidFill>
                  </a:tcPr>
                </a:tc>
                <a:tc>
                  <a:txBody>
                    <a:bodyPr/>
                    <a:lstStyle/>
                    <a:p>
                      <a:pPr indent="0" marL="0">
                        <a:buNone/>
                      </a:pPr>
                      <a:r>
                        <a:rPr lang="en-US" sz="950" dirty="0">
                          <a:solidFill>
                            <a:srgbClr val="64748B"/>
                          </a:solidFill>
                          <a:latin typeface="Calibri" pitchFamily="34" charset="0"/>
                          <a:ea typeface="Calibri" pitchFamily="34" charset="-122"/>
                          <a:cs typeface="Calibri" pitchFamily="34" charset="-120"/>
                        </a:rPr>
                        <a:t>KMS-encrypted medical reports &amp; prescriptions</a:t>
                      </a:r>
                      <a:endParaRPr lang="en-US" sz="95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712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AWS IAM</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Security</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4444">
                        <a:alpha val="15000"/>
                      </a:srgbClr>
                    </a:solidFill>
                  </a:tcPr>
                </a:tc>
                <a:tc>
                  <a:txBody>
                    <a:bodyPr/>
                    <a:lstStyle/>
                    <a:p>
                      <a:pPr indent="0" marL="0">
                        <a:buNone/>
                      </a:pPr>
                      <a:r>
                        <a:rPr lang="en-US" sz="950" dirty="0">
                          <a:solidFill>
                            <a:srgbClr val="64748B"/>
                          </a:solidFill>
                          <a:latin typeface="Calibri" pitchFamily="34" charset="0"/>
                          <a:ea typeface="Calibri" pitchFamily="34" charset="-122"/>
                          <a:cs typeface="Calibri" pitchFamily="34" charset="-120"/>
                        </a:rPr>
                        <a:t>Least-privilege roles for EC2 and Lambda</a:t>
                      </a:r>
                      <a:endParaRPr lang="en-US" sz="95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2712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AWS KMS</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Security</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4444">
                        <a:alpha val="15000"/>
                      </a:srgbClr>
                    </a:solidFill>
                  </a:tcPr>
                </a:tc>
                <a:tc>
                  <a:txBody>
                    <a:bodyPr/>
                    <a:lstStyle/>
                    <a:p>
                      <a:pPr indent="0" marL="0">
                        <a:buNone/>
                      </a:pPr>
                      <a:r>
                        <a:rPr lang="en-US" sz="950" dirty="0">
                          <a:solidFill>
                            <a:srgbClr val="64748B"/>
                          </a:solidFill>
                          <a:latin typeface="Calibri" pitchFamily="34" charset="0"/>
                          <a:ea typeface="Calibri" pitchFamily="34" charset="-122"/>
                          <a:cs typeface="Calibri" pitchFamily="34" charset="-120"/>
                        </a:rPr>
                        <a:t>Encrypts Secrets, S3, CloudWatch, Lambda vars</a:t>
                      </a:r>
                      <a:endParaRPr lang="en-US" sz="95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712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Secrets Manager</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Security</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4444">
                        <a:alpha val="15000"/>
                      </a:srgbClr>
                    </a:solidFill>
                  </a:tcPr>
                </a:tc>
                <a:tc>
                  <a:txBody>
                    <a:bodyPr/>
                    <a:lstStyle/>
                    <a:p>
                      <a:pPr indent="0" marL="0">
                        <a:buNone/>
                      </a:pPr>
                      <a:r>
                        <a:rPr lang="en-US" sz="950" dirty="0">
                          <a:solidFill>
                            <a:srgbClr val="64748B"/>
                          </a:solidFill>
                          <a:latin typeface="Calibri" pitchFamily="34" charset="0"/>
                          <a:ea typeface="Calibri" pitchFamily="34" charset="-122"/>
                          <a:cs typeface="Calibri" pitchFamily="34" charset="-120"/>
                        </a:rPr>
                        <a:t>Stores DB credentials, JWT, SMTP secrets</a:t>
                      </a:r>
                      <a:endParaRPr lang="en-US" sz="95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2712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AWS WAF</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F4444"/>
                          </a:solidFill>
                          <a:latin typeface="Calibri" pitchFamily="34" charset="0"/>
                          <a:ea typeface="Calibri" pitchFamily="34" charset="-122"/>
                          <a:cs typeface="Calibri" pitchFamily="34" charset="-120"/>
                        </a:rPr>
                        <a:t>Security</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4444">
                        <a:alpha val="15000"/>
                      </a:srgbClr>
                    </a:solidFill>
                  </a:tcPr>
                </a:tc>
                <a:tc>
                  <a:txBody>
                    <a:bodyPr/>
                    <a:lstStyle/>
                    <a:p>
                      <a:pPr indent="0" marL="0">
                        <a:buNone/>
                      </a:pPr>
                      <a:r>
                        <a:rPr lang="en-US" sz="950" dirty="0">
                          <a:solidFill>
                            <a:srgbClr val="64748B"/>
                          </a:solidFill>
                          <a:latin typeface="Calibri" pitchFamily="34" charset="0"/>
                          <a:ea typeface="Calibri" pitchFamily="34" charset="-122"/>
                          <a:cs typeface="Calibri" pitchFamily="34" charset="-120"/>
                        </a:rPr>
                        <a:t>Rate limiting, SQL injection, bad input rules</a:t>
                      </a:r>
                      <a:endParaRPr lang="en-US" sz="95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712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Lambda</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EAB308"/>
                          </a:solidFill>
                          <a:latin typeface="Calibri" pitchFamily="34" charset="0"/>
                          <a:ea typeface="Calibri" pitchFamily="34" charset="-122"/>
                          <a:cs typeface="Calibri" pitchFamily="34" charset="-120"/>
                        </a:rPr>
                        <a:t>Serverless</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B308">
                        <a:alpha val="15000"/>
                      </a:srgbClr>
                    </a:solidFill>
                  </a:tcPr>
                </a:tc>
                <a:tc>
                  <a:txBody>
                    <a:bodyPr/>
                    <a:lstStyle/>
                    <a:p>
                      <a:pPr indent="0" marL="0">
                        <a:buNone/>
                      </a:pPr>
                      <a:r>
                        <a:rPr lang="en-US" sz="950" dirty="0">
                          <a:solidFill>
                            <a:srgbClr val="64748B"/>
                          </a:solidFill>
                          <a:latin typeface="Calibri" pitchFamily="34" charset="0"/>
                          <a:ea typeface="Calibri" pitchFamily="34" charset="-122"/>
                          <a:cs typeface="Calibri" pitchFamily="34" charset="-120"/>
                        </a:rPr>
                        <a:t>Reminder dispatch &amp; notification cleanup</a:t>
                      </a:r>
                      <a:endParaRPr lang="en-US" sz="95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2712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EventBridge</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AB308"/>
                          </a:solidFill>
                          <a:latin typeface="Calibri" pitchFamily="34" charset="0"/>
                          <a:ea typeface="Calibri" pitchFamily="34" charset="-122"/>
                          <a:cs typeface="Calibri" pitchFamily="34" charset="-120"/>
                        </a:rPr>
                        <a:t>Serverless</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B308">
                        <a:alpha val="15000"/>
                      </a:srgbClr>
                    </a:solidFill>
                  </a:tcPr>
                </a:tc>
                <a:tc>
                  <a:txBody>
                    <a:bodyPr/>
                    <a:lstStyle/>
                    <a:p>
                      <a:pPr indent="0" marL="0">
                        <a:buNone/>
                      </a:pPr>
                      <a:r>
                        <a:rPr lang="en-US" sz="950" dirty="0">
                          <a:solidFill>
                            <a:srgbClr val="64748B"/>
                          </a:solidFill>
                          <a:latin typeface="Calibri" pitchFamily="34" charset="0"/>
                          <a:ea typeface="Calibri" pitchFamily="34" charset="-122"/>
                          <a:cs typeface="Calibri" pitchFamily="34" charset="-120"/>
                        </a:rPr>
                        <a:t>Scheduled triggers for Lambda functions</a:t>
                      </a:r>
                      <a:endParaRPr lang="en-US" sz="95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712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CloudWatch</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EC4899"/>
                          </a:solidFill>
                          <a:latin typeface="Calibri" pitchFamily="34" charset="0"/>
                          <a:ea typeface="Calibri" pitchFamily="34" charset="-122"/>
                          <a:cs typeface="Calibri" pitchFamily="34" charset="-120"/>
                        </a:rPr>
                        <a:t>Monitoring</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C4899">
                        <a:alpha val="15000"/>
                      </a:srgbClr>
                    </a:solidFill>
                  </a:tcPr>
                </a:tc>
                <a:tc>
                  <a:txBody>
                    <a:bodyPr/>
                    <a:lstStyle/>
                    <a:p>
                      <a:pPr indent="0" marL="0">
                        <a:buNone/>
                      </a:pPr>
                      <a:r>
                        <a:rPr lang="en-US" sz="950" dirty="0">
                          <a:solidFill>
                            <a:srgbClr val="64748B"/>
                          </a:solidFill>
                          <a:latin typeface="Calibri" pitchFamily="34" charset="0"/>
                          <a:ea typeface="Calibri" pitchFamily="34" charset="-122"/>
                          <a:cs typeface="Calibri" pitchFamily="34" charset="-120"/>
                        </a:rPr>
                        <a:t>Metrics, alarms, and log aggregation</a:t>
                      </a:r>
                      <a:endParaRPr lang="en-US" sz="95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2712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Amazon SNS</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B82F6"/>
                          </a:solidFill>
                          <a:latin typeface="Calibri" pitchFamily="34" charset="0"/>
                          <a:ea typeface="Calibri" pitchFamily="34" charset="-122"/>
                          <a:cs typeface="Calibri" pitchFamily="34" charset="-120"/>
                        </a:rPr>
                        <a:t>Notifications</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3B82F6">
                        <a:alpha val="15000"/>
                      </a:srgbClr>
                    </a:solidFill>
                  </a:tcPr>
                </a:tc>
                <a:tc>
                  <a:txBody>
                    <a:bodyPr/>
                    <a:lstStyle/>
                    <a:p>
                      <a:pPr indent="0" marL="0">
                        <a:buNone/>
                      </a:pPr>
                      <a:r>
                        <a:rPr lang="en-US" sz="950" dirty="0">
                          <a:solidFill>
                            <a:srgbClr val="64748B"/>
                          </a:solidFill>
                          <a:latin typeface="Calibri" pitchFamily="34" charset="0"/>
                          <a:ea typeface="Calibri" pitchFamily="34" charset="-122"/>
                          <a:cs typeface="Calibri" pitchFamily="34" charset="-120"/>
                        </a:rPr>
                        <a:t>Patient email/SMS alerts &amp; admin alarms</a:t>
                      </a:r>
                      <a:endParaRPr lang="en-US" sz="95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712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CloudFront</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3B82F6"/>
                          </a:solidFill>
                          <a:latin typeface="Calibri" pitchFamily="34" charset="0"/>
                          <a:ea typeface="Calibri" pitchFamily="34" charset="-122"/>
                          <a:cs typeface="Calibri" pitchFamily="34" charset="-120"/>
                        </a:rPr>
                        <a:t>Edge</a:t>
                      </a:r>
                      <a:endParaRPr lang="en-US" sz="100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3B82F6">
                        <a:alpha val="15000"/>
                      </a:srgbClr>
                    </a:solidFill>
                  </a:tcPr>
                </a:tc>
                <a:tc>
                  <a:txBody>
                    <a:bodyPr/>
                    <a:lstStyle/>
                    <a:p>
                      <a:pPr indent="0" marL="0">
                        <a:buNone/>
                      </a:pPr>
                      <a:r>
                        <a:rPr lang="en-US" sz="950" dirty="0">
                          <a:solidFill>
                            <a:srgbClr val="64748B"/>
                          </a:solidFill>
                          <a:latin typeface="Calibri" pitchFamily="34" charset="0"/>
                          <a:ea typeface="Calibri" pitchFamily="34" charset="-122"/>
                          <a:cs typeface="Calibri" pitchFamily="34" charset="-120"/>
                        </a:rPr>
                        <a:t>CDN — caches frontend, forwards API traffic</a:t>
                      </a:r>
                      <a:endParaRPr lang="en-US" sz="950" dirty="0">
                        <a:latin typeface="Calibri" charset="0"/>
                        <a:ea typeface="Calibri" charset="0"/>
                        <a:cs typeface="Calibri" charset="0"/>
                      </a:endParaRPr>
                    </a:p>
                  </a:txBody>
                  <a:tcPr marL="76200" marR="76200" marT="38100" marB="3810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C42"/>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High-Level Architecture</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End-to-end request path through the CareSync platform</a:t>
            </a:r>
            <a:endParaRPr lang="en-US" sz="1100" dirty="0"/>
          </a:p>
        </p:txBody>
      </p:sp>
      <p:sp>
        <p:nvSpPr>
          <p:cNvPr id="5" name="Shape 3"/>
          <p:cNvSpPr/>
          <p:nvPr/>
        </p:nvSpPr>
        <p:spPr>
          <a:xfrm>
            <a:off x="365760" y="2103120"/>
            <a:ext cx="1188720" cy="685800"/>
          </a:xfrm>
          <a:prstGeom prst="rect">
            <a:avLst>
              <a:gd name="adj" fmla="val 8000"/>
            </a:avLst>
          </a:prstGeom>
          <a:solidFill>
            <a:srgbClr val="64748B"/>
          </a:solidFill>
          <a:ln w="12700">
            <a:solidFill>
              <a:srgbClr val="64748B"/>
            </a:solidFill>
            <a:prstDash val="solid"/>
          </a:ln>
          <a:effectLst>
            <a:outerShdw sx="100000" sy="100000" kx="0" ky="0" algn="bl" rotWithShape="0" blurRad="101600" dist="25400" dir="2700000">
              <a:srgbClr val="000000">
                <a:alpha val="25000"/>
              </a:srgbClr>
            </a:outerShdw>
          </a:effectLst>
        </p:spPr>
      </p:sp>
      <p:pic>
        <p:nvPicPr>
          <p:cNvPr id="6" name="Image 0" descr="preencoded.png">    </p:cNvPr>
          <p:cNvPicPr>
            <a:picLocks noChangeAspect="1"/>
          </p:cNvPicPr>
          <p:nvPr/>
        </p:nvPicPr>
        <p:blipFill>
          <a:blip r:embed="rId1"/>
          <a:stretch>
            <a:fillRect/>
          </a:stretch>
        </p:blipFill>
        <p:spPr>
          <a:xfrm>
            <a:off x="438912" y="2194560"/>
            <a:ext cx="256032" cy="256032"/>
          </a:xfrm>
          <a:prstGeom prst="rect">
            <a:avLst/>
          </a:prstGeom>
        </p:spPr>
      </p:pic>
      <p:sp>
        <p:nvSpPr>
          <p:cNvPr id="7" name="Text 4"/>
          <p:cNvSpPr/>
          <p:nvPr/>
        </p:nvSpPr>
        <p:spPr>
          <a:xfrm>
            <a:off x="713232" y="2157984"/>
            <a:ext cx="77724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Users</a:t>
            </a:r>
            <a:endParaRPr lang="en-US" sz="1000" dirty="0"/>
          </a:p>
        </p:txBody>
      </p:sp>
      <p:sp>
        <p:nvSpPr>
          <p:cNvPr id="8" name="Text 5"/>
          <p:cNvSpPr/>
          <p:nvPr/>
        </p:nvSpPr>
        <p:spPr>
          <a:xfrm>
            <a:off x="713232" y="2423160"/>
            <a:ext cx="777240" cy="256032"/>
          </a:xfrm>
          <a:prstGeom prst="rect">
            <a:avLst/>
          </a:prstGeom>
          <a:noFill/>
          <a:ln/>
        </p:spPr>
        <p:txBody>
          <a:bodyPr wrap="square" lIns="0" tIns="0" rIns="0" bIns="0" rtlCol="0" anchor="ctr"/>
          <a:lstStyle/>
          <a:p>
            <a:pPr indent="0" marL="0">
              <a:buNone/>
            </a:pPr>
            <a:r>
              <a:rPr lang="en-US" sz="800" dirty="0">
                <a:solidFill>
                  <a:srgbClr val="C8DCF0"/>
                </a:solidFill>
                <a:latin typeface="Calibri" pitchFamily="34" charset="0"/>
                <a:ea typeface="Calibri" pitchFamily="34" charset="-122"/>
                <a:cs typeface="Calibri" pitchFamily="34" charset="-120"/>
              </a:rPr>
              <a:t>Browser / App</a:t>
            </a:r>
            <a:endParaRPr lang="en-US" sz="800" dirty="0"/>
          </a:p>
        </p:txBody>
      </p:sp>
      <p:sp>
        <p:nvSpPr>
          <p:cNvPr id="9" name="Shape 6"/>
          <p:cNvSpPr/>
          <p:nvPr/>
        </p:nvSpPr>
        <p:spPr>
          <a:xfrm>
            <a:off x="1691640" y="2103120"/>
            <a:ext cx="1188720" cy="685800"/>
          </a:xfrm>
          <a:prstGeom prst="rect">
            <a:avLst>
              <a:gd name="adj" fmla="val 8000"/>
            </a:avLst>
          </a:prstGeom>
          <a:solidFill>
            <a:srgbClr val="EF4444"/>
          </a:solidFill>
          <a:ln w="12700">
            <a:solidFill>
              <a:srgbClr val="EF4444"/>
            </a:solidFill>
            <a:prstDash val="solid"/>
          </a:ln>
          <a:effectLst>
            <a:outerShdw sx="100000" sy="100000" kx="0" ky="0" algn="bl" rotWithShape="0" blurRad="101600" dist="25400" dir="2700000">
              <a:srgbClr val="000000">
                <a:alpha val="25000"/>
              </a:srgbClr>
            </a:outerShdw>
          </a:effectLst>
        </p:spPr>
      </p:sp>
      <p:pic>
        <p:nvPicPr>
          <p:cNvPr id="10" name="Image 1" descr="preencoded.png">    </p:cNvPr>
          <p:cNvPicPr>
            <a:picLocks noChangeAspect="1"/>
          </p:cNvPicPr>
          <p:nvPr/>
        </p:nvPicPr>
        <p:blipFill>
          <a:blip r:embed="rId2"/>
          <a:stretch>
            <a:fillRect/>
          </a:stretch>
        </p:blipFill>
        <p:spPr>
          <a:xfrm>
            <a:off x="1764792" y="2194560"/>
            <a:ext cx="256032" cy="256032"/>
          </a:xfrm>
          <a:prstGeom prst="rect">
            <a:avLst/>
          </a:prstGeom>
        </p:spPr>
      </p:pic>
      <p:sp>
        <p:nvSpPr>
          <p:cNvPr id="11" name="Text 7"/>
          <p:cNvSpPr/>
          <p:nvPr/>
        </p:nvSpPr>
        <p:spPr>
          <a:xfrm>
            <a:off x="2039112" y="2157984"/>
            <a:ext cx="77724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AWS WAF</a:t>
            </a:r>
            <a:endParaRPr lang="en-US" sz="1000" dirty="0"/>
          </a:p>
        </p:txBody>
      </p:sp>
      <p:sp>
        <p:nvSpPr>
          <p:cNvPr id="12" name="Text 8"/>
          <p:cNvSpPr/>
          <p:nvPr/>
        </p:nvSpPr>
        <p:spPr>
          <a:xfrm>
            <a:off x="2039112" y="2423160"/>
            <a:ext cx="777240" cy="256032"/>
          </a:xfrm>
          <a:prstGeom prst="rect">
            <a:avLst/>
          </a:prstGeom>
          <a:noFill/>
          <a:ln/>
        </p:spPr>
        <p:txBody>
          <a:bodyPr wrap="square" lIns="0" tIns="0" rIns="0" bIns="0" rtlCol="0" anchor="ctr"/>
          <a:lstStyle/>
          <a:p>
            <a:pPr indent="0" marL="0">
              <a:buNone/>
            </a:pPr>
            <a:r>
              <a:rPr lang="en-US" sz="800" dirty="0">
                <a:solidFill>
                  <a:srgbClr val="C8DCF0"/>
                </a:solidFill>
                <a:latin typeface="Calibri" pitchFamily="34" charset="0"/>
                <a:ea typeface="Calibri" pitchFamily="34" charset="-122"/>
                <a:cs typeface="Calibri" pitchFamily="34" charset="-120"/>
              </a:rPr>
              <a:t>Web Protection</a:t>
            </a:r>
            <a:endParaRPr lang="en-US" sz="800" dirty="0"/>
          </a:p>
        </p:txBody>
      </p:sp>
      <p:sp>
        <p:nvSpPr>
          <p:cNvPr id="13" name="Shape 9"/>
          <p:cNvSpPr/>
          <p:nvPr/>
        </p:nvSpPr>
        <p:spPr>
          <a:xfrm>
            <a:off x="3017520" y="2103120"/>
            <a:ext cx="1188720" cy="685800"/>
          </a:xfrm>
          <a:prstGeom prst="rect">
            <a:avLst>
              <a:gd name="adj" fmla="val 8000"/>
            </a:avLst>
          </a:prstGeom>
          <a:solidFill>
            <a:srgbClr val="3B82F6"/>
          </a:solidFill>
          <a:ln w="12700">
            <a:solidFill>
              <a:srgbClr val="3B82F6"/>
            </a:solidFill>
            <a:prstDash val="solid"/>
          </a:ln>
          <a:effectLst>
            <a:outerShdw sx="100000" sy="100000" kx="0" ky="0" algn="bl" rotWithShape="0" blurRad="101600" dist="25400" dir="2700000">
              <a:srgbClr val="000000">
                <a:alpha val="25000"/>
              </a:srgbClr>
            </a:outerShdw>
          </a:effectLst>
        </p:spPr>
      </p:sp>
      <p:pic>
        <p:nvPicPr>
          <p:cNvPr id="14" name="Image 2" descr="preencoded.png">    </p:cNvPr>
          <p:cNvPicPr>
            <a:picLocks noChangeAspect="1"/>
          </p:cNvPicPr>
          <p:nvPr/>
        </p:nvPicPr>
        <p:blipFill>
          <a:blip r:embed="rId3"/>
          <a:stretch>
            <a:fillRect/>
          </a:stretch>
        </p:blipFill>
        <p:spPr>
          <a:xfrm>
            <a:off x="3090672" y="2194560"/>
            <a:ext cx="256032" cy="256032"/>
          </a:xfrm>
          <a:prstGeom prst="rect">
            <a:avLst/>
          </a:prstGeom>
        </p:spPr>
      </p:pic>
      <p:sp>
        <p:nvSpPr>
          <p:cNvPr id="15" name="Text 10"/>
          <p:cNvSpPr/>
          <p:nvPr/>
        </p:nvSpPr>
        <p:spPr>
          <a:xfrm>
            <a:off x="3364992" y="2157984"/>
            <a:ext cx="77724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CloudFront</a:t>
            </a:r>
            <a:endParaRPr lang="en-US" sz="1000" dirty="0"/>
          </a:p>
        </p:txBody>
      </p:sp>
      <p:sp>
        <p:nvSpPr>
          <p:cNvPr id="16" name="Text 11"/>
          <p:cNvSpPr/>
          <p:nvPr/>
        </p:nvSpPr>
        <p:spPr>
          <a:xfrm>
            <a:off x="3364992" y="2423160"/>
            <a:ext cx="777240" cy="256032"/>
          </a:xfrm>
          <a:prstGeom prst="rect">
            <a:avLst/>
          </a:prstGeom>
          <a:noFill/>
          <a:ln/>
        </p:spPr>
        <p:txBody>
          <a:bodyPr wrap="square" lIns="0" tIns="0" rIns="0" bIns="0" rtlCol="0" anchor="ctr"/>
          <a:lstStyle/>
          <a:p>
            <a:pPr indent="0" marL="0">
              <a:buNone/>
            </a:pPr>
            <a:r>
              <a:rPr lang="en-US" sz="800" dirty="0">
                <a:solidFill>
                  <a:srgbClr val="C8DCF0"/>
                </a:solidFill>
                <a:latin typeface="Calibri" pitchFamily="34" charset="0"/>
                <a:ea typeface="Calibri" pitchFamily="34" charset="-122"/>
                <a:cs typeface="Calibri" pitchFamily="34" charset="-120"/>
              </a:rPr>
              <a:t>CDN / Cache</a:t>
            </a:r>
            <a:endParaRPr lang="en-US" sz="800" dirty="0"/>
          </a:p>
        </p:txBody>
      </p:sp>
      <p:sp>
        <p:nvSpPr>
          <p:cNvPr id="17" name="Shape 12"/>
          <p:cNvSpPr/>
          <p:nvPr/>
        </p:nvSpPr>
        <p:spPr>
          <a:xfrm>
            <a:off x="4343400" y="2103120"/>
            <a:ext cx="1188720" cy="685800"/>
          </a:xfrm>
          <a:prstGeom prst="rect">
            <a:avLst>
              <a:gd name="adj" fmla="val 8000"/>
            </a:avLst>
          </a:prstGeom>
          <a:solidFill>
            <a:srgbClr val="F97316"/>
          </a:solidFill>
          <a:ln w="12700">
            <a:solidFill>
              <a:srgbClr val="F97316"/>
            </a:solidFill>
            <a:prstDash val="solid"/>
          </a:ln>
          <a:effectLst>
            <a:outerShdw sx="100000" sy="100000" kx="0" ky="0" algn="bl" rotWithShape="0" blurRad="101600" dist="25400" dir="2700000">
              <a:srgbClr val="000000">
                <a:alpha val="25000"/>
              </a:srgbClr>
            </a:outerShdw>
          </a:effectLst>
        </p:spPr>
      </p:sp>
      <p:pic>
        <p:nvPicPr>
          <p:cNvPr id="18" name="Image 3" descr="preencoded.png">    </p:cNvPr>
          <p:cNvPicPr>
            <a:picLocks noChangeAspect="1"/>
          </p:cNvPicPr>
          <p:nvPr/>
        </p:nvPicPr>
        <p:blipFill>
          <a:blip r:embed="rId4"/>
          <a:stretch>
            <a:fillRect/>
          </a:stretch>
        </p:blipFill>
        <p:spPr>
          <a:xfrm>
            <a:off x="4416552" y="2194560"/>
            <a:ext cx="256032" cy="256032"/>
          </a:xfrm>
          <a:prstGeom prst="rect">
            <a:avLst/>
          </a:prstGeom>
        </p:spPr>
      </p:pic>
      <p:sp>
        <p:nvSpPr>
          <p:cNvPr id="19" name="Text 13"/>
          <p:cNvSpPr/>
          <p:nvPr/>
        </p:nvSpPr>
        <p:spPr>
          <a:xfrm>
            <a:off x="4690872" y="2157984"/>
            <a:ext cx="77724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ALB</a:t>
            </a:r>
            <a:endParaRPr lang="en-US" sz="1000" dirty="0"/>
          </a:p>
        </p:txBody>
      </p:sp>
      <p:sp>
        <p:nvSpPr>
          <p:cNvPr id="20" name="Text 14"/>
          <p:cNvSpPr/>
          <p:nvPr/>
        </p:nvSpPr>
        <p:spPr>
          <a:xfrm>
            <a:off x="4690872" y="2423160"/>
            <a:ext cx="777240" cy="256032"/>
          </a:xfrm>
          <a:prstGeom prst="rect">
            <a:avLst/>
          </a:prstGeom>
          <a:noFill/>
          <a:ln/>
        </p:spPr>
        <p:txBody>
          <a:bodyPr wrap="square" lIns="0" tIns="0" rIns="0" bIns="0" rtlCol="0" anchor="ctr"/>
          <a:lstStyle/>
          <a:p>
            <a:pPr indent="0" marL="0">
              <a:buNone/>
            </a:pPr>
            <a:r>
              <a:rPr lang="en-US" sz="800" dirty="0">
                <a:solidFill>
                  <a:srgbClr val="C8DCF0"/>
                </a:solidFill>
                <a:latin typeface="Calibri" pitchFamily="34" charset="0"/>
                <a:ea typeface="Calibri" pitchFamily="34" charset="-122"/>
                <a:cs typeface="Calibri" pitchFamily="34" charset="-120"/>
              </a:rPr>
              <a:t>Load Balancer</a:t>
            </a:r>
            <a:endParaRPr lang="en-US" sz="800" dirty="0"/>
          </a:p>
        </p:txBody>
      </p:sp>
      <p:sp>
        <p:nvSpPr>
          <p:cNvPr id="21" name="Shape 15"/>
          <p:cNvSpPr/>
          <p:nvPr/>
        </p:nvSpPr>
        <p:spPr>
          <a:xfrm>
            <a:off x="5852160" y="1280160"/>
            <a:ext cx="1188720" cy="685800"/>
          </a:xfrm>
          <a:prstGeom prst="rect">
            <a:avLst>
              <a:gd name="adj" fmla="val 8000"/>
            </a:avLst>
          </a:prstGeom>
          <a:solidFill>
            <a:srgbClr val="0073BB"/>
          </a:solidFill>
          <a:ln w="12700">
            <a:solidFill>
              <a:srgbClr val="0073BB"/>
            </a:solidFill>
            <a:prstDash val="solid"/>
          </a:ln>
          <a:effectLst>
            <a:outerShdw sx="100000" sy="100000" kx="0" ky="0" algn="bl" rotWithShape="0" blurRad="101600" dist="25400" dir="2700000">
              <a:srgbClr val="000000">
                <a:alpha val="25000"/>
              </a:srgbClr>
            </a:outerShdw>
          </a:effectLst>
        </p:spPr>
      </p:sp>
      <p:pic>
        <p:nvPicPr>
          <p:cNvPr id="22" name="Image 4" descr="preencoded.png">    </p:cNvPr>
          <p:cNvPicPr>
            <a:picLocks noChangeAspect="1"/>
          </p:cNvPicPr>
          <p:nvPr/>
        </p:nvPicPr>
        <p:blipFill>
          <a:blip r:embed="rId5"/>
          <a:stretch>
            <a:fillRect/>
          </a:stretch>
        </p:blipFill>
        <p:spPr>
          <a:xfrm>
            <a:off x="5925312" y="1371600"/>
            <a:ext cx="256032" cy="256032"/>
          </a:xfrm>
          <a:prstGeom prst="rect">
            <a:avLst/>
          </a:prstGeom>
        </p:spPr>
      </p:pic>
      <p:sp>
        <p:nvSpPr>
          <p:cNvPr id="23" name="Text 16"/>
          <p:cNvSpPr/>
          <p:nvPr/>
        </p:nvSpPr>
        <p:spPr>
          <a:xfrm>
            <a:off x="6199632" y="1335024"/>
            <a:ext cx="77724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Frontend</a:t>
            </a:r>
            <a:endParaRPr lang="en-US" sz="1000" dirty="0"/>
          </a:p>
        </p:txBody>
      </p:sp>
      <p:sp>
        <p:nvSpPr>
          <p:cNvPr id="24" name="Text 17"/>
          <p:cNvSpPr/>
          <p:nvPr/>
        </p:nvSpPr>
        <p:spPr>
          <a:xfrm>
            <a:off x="6199632" y="1600200"/>
            <a:ext cx="777240" cy="256032"/>
          </a:xfrm>
          <a:prstGeom prst="rect">
            <a:avLst/>
          </a:prstGeom>
          <a:noFill/>
          <a:ln/>
        </p:spPr>
        <p:txBody>
          <a:bodyPr wrap="square" lIns="0" tIns="0" rIns="0" bIns="0" rtlCol="0" anchor="ctr"/>
          <a:lstStyle/>
          <a:p>
            <a:pPr indent="0" marL="0">
              <a:buNone/>
            </a:pPr>
            <a:r>
              <a:rPr lang="en-US" sz="800" dirty="0">
                <a:solidFill>
                  <a:srgbClr val="C8DCF0"/>
                </a:solidFill>
                <a:latin typeface="Calibri" pitchFamily="34" charset="0"/>
                <a:ea typeface="Calibri" pitchFamily="34" charset="-122"/>
                <a:cs typeface="Calibri" pitchFamily="34" charset="-120"/>
              </a:rPr>
              <a:t>React / EC2</a:t>
            </a:r>
            <a:endParaRPr lang="en-US" sz="800" dirty="0"/>
          </a:p>
        </p:txBody>
      </p:sp>
      <p:sp>
        <p:nvSpPr>
          <p:cNvPr id="25" name="Shape 18"/>
          <p:cNvSpPr/>
          <p:nvPr/>
        </p:nvSpPr>
        <p:spPr>
          <a:xfrm>
            <a:off x="5852160" y="2926080"/>
            <a:ext cx="1188720" cy="685800"/>
          </a:xfrm>
          <a:prstGeom prst="rect">
            <a:avLst>
              <a:gd name="adj" fmla="val 8000"/>
            </a:avLst>
          </a:prstGeom>
          <a:solidFill>
            <a:srgbClr val="22C55E"/>
          </a:solidFill>
          <a:ln w="12700">
            <a:solidFill>
              <a:srgbClr val="22C55E"/>
            </a:solidFill>
            <a:prstDash val="solid"/>
          </a:ln>
          <a:effectLst>
            <a:outerShdw sx="100000" sy="100000" kx="0" ky="0" algn="bl" rotWithShape="0" blurRad="101600" dist="25400" dir="2700000">
              <a:srgbClr val="000000">
                <a:alpha val="25000"/>
              </a:srgbClr>
            </a:outerShdw>
          </a:effectLst>
        </p:spPr>
      </p:sp>
      <p:pic>
        <p:nvPicPr>
          <p:cNvPr id="26" name="Image 5" descr="preencoded.png">    </p:cNvPr>
          <p:cNvPicPr>
            <a:picLocks noChangeAspect="1"/>
          </p:cNvPicPr>
          <p:nvPr/>
        </p:nvPicPr>
        <p:blipFill>
          <a:blip r:embed="rId6"/>
          <a:stretch>
            <a:fillRect/>
          </a:stretch>
        </p:blipFill>
        <p:spPr>
          <a:xfrm>
            <a:off x="5925312" y="3017520"/>
            <a:ext cx="256032" cy="256032"/>
          </a:xfrm>
          <a:prstGeom prst="rect">
            <a:avLst/>
          </a:prstGeom>
        </p:spPr>
      </p:pic>
      <p:sp>
        <p:nvSpPr>
          <p:cNvPr id="27" name="Text 19"/>
          <p:cNvSpPr/>
          <p:nvPr/>
        </p:nvSpPr>
        <p:spPr>
          <a:xfrm>
            <a:off x="6199632" y="2980944"/>
            <a:ext cx="77724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Backend API</a:t>
            </a:r>
            <a:endParaRPr lang="en-US" sz="1000" dirty="0"/>
          </a:p>
        </p:txBody>
      </p:sp>
      <p:sp>
        <p:nvSpPr>
          <p:cNvPr id="28" name="Text 20"/>
          <p:cNvSpPr/>
          <p:nvPr/>
        </p:nvSpPr>
        <p:spPr>
          <a:xfrm>
            <a:off x="6199632" y="3246120"/>
            <a:ext cx="777240" cy="256032"/>
          </a:xfrm>
          <a:prstGeom prst="rect">
            <a:avLst/>
          </a:prstGeom>
          <a:noFill/>
          <a:ln/>
        </p:spPr>
        <p:txBody>
          <a:bodyPr wrap="square" lIns="0" tIns="0" rIns="0" bIns="0" rtlCol="0" anchor="ctr"/>
          <a:lstStyle/>
          <a:p>
            <a:pPr indent="0" marL="0">
              <a:buNone/>
            </a:pPr>
            <a:r>
              <a:rPr lang="en-US" sz="800" dirty="0">
                <a:solidFill>
                  <a:srgbClr val="C8DCF0"/>
                </a:solidFill>
                <a:latin typeface="Calibri" pitchFamily="34" charset="0"/>
                <a:ea typeface="Calibri" pitchFamily="34" charset="-122"/>
                <a:cs typeface="Calibri" pitchFamily="34" charset="-120"/>
              </a:rPr>
              <a:t>Node.js / EC2</a:t>
            </a:r>
            <a:endParaRPr lang="en-US" sz="800" dirty="0"/>
          </a:p>
        </p:txBody>
      </p:sp>
      <p:sp>
        <p:nvSpPr>
          <p:cNvPr id="29" name="Shape 21"/>
          <p:cNvSpPr/>
          <p:nvPr/>
        </p:nvSpPr>
        <p:spPr>
          <a:xfrm>
            <a:off x="7498080" y="1280160"/>
            <a:ext cx="1188720" cy="685800"/>
          </a:xfrm>
          <a:prstGeom prst="rect">
            <a:avLst>
              <a:gd name="adj" fmla="val 8000"/>
            </a:avLst>
          </a:prstGeom>
          <a:solidFill>
            <a:srgbClr val="A855F7"/>
          </a:solidFill>
          <a:ln w="12700">
            <a:solidFill>
              <a:srgbClr val="A855F7"/>
            </a:solidFill>
            <a:prstDash val="solid"/>
          </a:ln>
          <a:effectLst>
            <a:outerShdw sx="100000" sy="100000" kx="0" ky="0" algn="bl" rotWithShape="0" blurRad="101600" dist="25400" dir="2700000">
              <a:srgbClr val="000000">
                <a:alpha val="25000"/>
              </a:srgbClr>
            </a:outerShdw>
          </a:effectLst>
        </p:spPr>
      </p:sp>
      <p:pic>
        <p:nvPicPr>
          <p:cNvPr id="30" name="Image 6" descr="preencoded.png">    </p:cNvPr>
          <p:cNvPicPr>
            <a:picLocks noChangeAspect="1"/>
          </p:cNvPicPr>
          <p:nvPr/>
        </p:nvPicPr>
        <p:blipFill>
          <a:blip r:embed="rId7"/>
          <a:stretch>
            <a:fillRect/>
          </a:stretch>
        </p:blipFill>
        <p:spPr>
          <a:xfrm>
            <a:off x="7571232" y="1371600"/>
            <a:ext cx="256032" cy="256032"/>
          </a:xfrm>
          <a:prstGeom prst="rect">
            <a:avLst/>
          </a:prstGeom>
        </p:spPr>
      </p:pic>
      <p:sp>
        <p:nvSpPr>
          <p:cNvPr id="31" name="Text 22"/>
          <p:cNvSpPr/>
          <p:nvPr/>
        </p:nvSpPr>
        <p:spPr>
          <a:xfrm>
            <a:off x="7845552" y="1335024"/>
            <a:ext cx="77724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RDS</a:t>
            </a:r>
            <a:endParaRPr lang="en-US" sz="1000" dirty="0"/>
          </a:p>
        </p:txBody>
      </p:sp>
      <p:sp>
        <p:nvSpPr>
          <p:cNvPr id="32" name="Text 23"/>
          <p:cNvSpPr/>
          <p:nvPr/>
        </p:nvSpPr>
        <p:spPr>
          <a:xfrm>
            <a:off x="7845552" y="1600200"/>
            <a:ext cx="777240" cy="256032"/>
          </a:xfrm>
          <a:prstGeom prst="rect">
            <a:avLst/>
          </a:prstGeom>
          <a:noFill/>
          <a:ln/>
        </p:spPr>
        <p:txBody>
          <a:bodyPr wrap="square" lIns="0" tIns="0" rIns="0" bIns="0" rtlCol="0" anchor="ctr"/>
          <a:lstStyle/>
          <a:p>
            <a:pPr indent="0" marL="0">
              <a:buNone/>
            </a:pPr>
            <a:r>
              <a:rPr lang="en-US" sz="800" dirty="0">
                <a:solidFill>
                  <a:srgbClr val="C8DCF0"/>
                </a:solidFill>
                <a:latin typeface="Calibri" pitchFamily="34" charset="0"/>
                <a:ea typeface="Calibri" pitchFamily="34" charset="-122"/>
                <a:cs typeface="Calibri" pitchFamily="34" charset="-120"/>
              </a:rPr>
              <a:t>PostgreSQL</a:t>
            </a:r>
            <a:endParaRPr lang="en-US" sz="800" dirty="0"/>
          </a:p>
        </p:txBody>
      </p:sp>
      <p:sp>
        <p:nvSpPr>
          <p:cNvPr id="33" name="Shape 24"/>
          <p:cNvSpPr/>
          <p:nvPr/>
        </p:nvSpPr>
        <p:spPr>
          <a:xfrm>
            <a:off x="7498080" y="2926080"/>
            <a:ext cx="1188720" cy="685800"/>
          </a:xfrm>
          <a:prstGeom prst="rect">
            <a:avLst>
              <a:gd name="adj" fmla="val 8000"/>
            </a:avLst>
          </a:prstGeom>
          <a:solidFill>
            <a:srgbClr val="14B8A6"/>
          </a:solidFill>
          <a:ln w="12700">
            <a:solidFill>
              <a:srgbClr val="14B8A6"/>
            </a:solidFill>
            <a:prstDash val="solid"/>
          </a:ln>
          <a:effectLst>
            <a:outerShdw sx="100000" sy="100000" kx="0" ky="0" algn="bl" rotWithShape="0" blurRad="101600" dist="25400" dir="2700000">
              <a:srgbClr val="000000">
                <a:alpha val="25000"/>
              </a:srgbClr>
            </a:outerShdw>
          </a:effectLst>
        </p:spPr>
      </p:sp>
      <p:pic>
        <p:nvPicPr>
          <p:cNvPr id="34" name="Image 7" descr="preencoded.png">    </p:cNvPr>
          <p:cNvPicPr>
            <a:picLocks noChangeAspect="1"/>
          </p:cNvPicPr>
          <p:nvPr/>
        </p:nvPicPr>
        <p:blipFill>
          <a:blip r:embed="rId8"/>
          <a:stretch>
            <a:fillRect/>
          </a:stretch>
        </p:blipFill>
        <p:spPr>
          <a:xfrm>
            <a:off x="7571232" y="3017520"/>
            <a:ext cx="256032" cy="256032"/>
          </a:xfrm>
          <a:prstGeom prst="rect">
            <a:avLst/>
          </a:prstGeom>
        </p:spPr>
      </p:pic>
      <p:sp>
        <p:nvSpPr>
          <p:cNvPr id="35" name="Text 25"/>
          <p:cNvSpPr/>
          <p:nvPr/>
        </p:nvSpPr>
        <p:spPr>
          <a:xfrm>
            <a:off x="7845552" y="2980944"/>
            <a:ext cx="77724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S3</a:t>
            </a:r>
            <a:endParaRPr lang="en-US" sz="1000" dirty="0"/>
          </a:p>
        </p:txBody>
      </p:sp>
      <p:sp>
        <p:nvSpPr>
          <p:cNvPr id="36" name="Text 26"/>
          <p:cNvSpPr/>
          <p:nvPr/>
        </p:nvSpPr>
        <p:spPr>
          <a:xfrm>
            <a:off x="7845552" y="3246120"/>
            <a:ext cx="777240" cy="256032"/>
          </a:xfrm>
          <a:prstGeom prst="rect">
            <a:avLst/>
          </a:prstGeom>
          <a:noFill/>
          <a:ln/>
        </p:spPr>
        <p:txBody>
          <a:bodyPr wrap="square" lIns="0" tIns="0" rIns="0" bIns="0" rtlCol="0" anchor="ctr"/>
          <a:lstStyle/>
          <a:p>
            <a:pPr indent="0" marL="0">
              <a:buNone/>
            </a:pPr>
            <a:r>
              <a:rPr lang="en-US" sz="800" dirty="0">
                <a:solidFill>
                  <a:srgbClr val="C8DCF0"/>
                </a:solidFill>
                <a:latin typeface="Calibri" pitchFamily="34" charset="0"/>
                <a:ea typeface="Calibri" pitchFamily="34" charset="-122"/>
                <a:cs typeface="Calibri" pitchFamily="34" charset="-120"/>
              </a:rPr>
              <a:t>Medical Files</a:t>
            </a:r>
            <a:endParaRPr lang="en-US" sz="800" dirty="0"/>
          </a:p>
        </p:txBody>
      </p:sp>
      <p:sp>
        <p:nvSpPr>
          <p:cNvPr id="37" name="Shape 27"/>
          <p:cNvSpPr/>
          <p:nvPr/>
        </p:nvSpPr>
        <p:spPr>
          <a:xfrm>
            <a:off x="1554480" y="2441448"/>
            <a:ext cx="137160" cy="0"/>
          </a:xfrm>
          <a:prstGeom prst="line">
            <a:avLst/>
          </a:prstGeom>
          <a:noFill/>
          <a:ln w="25400">
            <a:solidFill>
              <a:srgbClr val="FF9900"/>
            </a:solidFill>
            <a:prstDash val="solid"/>
            <a:tailEnd type="arrow"/>
          </a:ln>
        </p:spPr>
      </p:sp>
      <p:sp>
        <p:nvSpPr>
          <p:cNvPr id="38" name="Shape 28"/>
          <p:cNvSpPr/>
          <p:nvPr/>
        </p:nvSpPr>
        <p:spPr>
          <a:xfrm>
            <a:off x="2880360" y="2441448"/>
            <a:ext cx="137160" cy="0"/>
          </a:xfrm>
          <a:prstGeom prst="line">
            <a:avLst/>
          </a:prstGeom>
          <a:noFill/>
          <a:ln w="25400">
            <a:solidFill>
              <a:srgbClr val="FF9900"/>
            </a:solidFill>
            <a:prstDash val="solid"/>
            <a:tailEnd type="arrow"/>
          </a:ln>
        </p:spPr>
      </p:sp>
      <p:sp>
        <p:nvSpPr>
          <p:cNvPr id="39" name="Shape 29"/>
          <p:cNvSpPr/>
          <p:nvPr/>
        </p:nvSpPr>
        <p:spPr>
          <a:xfrm>
            <a:off x="4206240" y="2441448"/>
            <a:ext cx="137160" cy="0"/>
          </a:xfrm>
          <a:prstGeom prst="line">
            <a:avLst/>
          </a:prstGeom>
          <a:noFill/>
          <a:ln w="25400">
            <a:solidFill>
              <a:srgbClr val="FF9900"/>
            </a:solidFill>
            <a:prstDash val="solid"/>
            <a:tailEnd type="arrow"/>
          </a:ln>
        </p:spPr>
      </p:sp>
      <p:sp>
        <p:nvSpPr>
          <p:cNvPr id="40" name="Shape 30"/>
          <p:cNvSpPr/>
          <p:nvPr/>
        </p:nvSpPr>
        <p:spPr>
          <a:xfrm>
            <a:off x="5532120" y="2441448"/>
            <a:ext cx="320040" cy="0"/>
          </a:xfrm>
          <a:prstGeom prst="line">
            <a:avLst/>
          </a:prstGeom>
          <a:noFill/>
          <a:ln w="25400">
            <a:solidFill>
              <a:srgbClr val="FF9900"/>
            </a:solidFill>
            <a:prstDash val="solid"/>
            <a:tailEnd type="arrow"/>
          </a:ln>
        </p:spPr>
      </p:sp>
      <p:sp>
        <p:nvSpPr>
          <p:cNvPr id="41" name="Shape 31"/>
          <p:cNvSpPr/>
          <p:nvPr/>
        </p:nvSpPr>
        <p:spPr>
          <a:xfrm>
            <a:off x="5532120" y="2331720"/>
            <a:ext cx="320040" cy="-713232"/>
          </a:xfrm>
          <a:prstGeom prst="line">
            <a:avLst/>
          </a:prstGeom>
          <a:noFill/>
          <a:ln w="19050">
            <a:solidFill>
              <a:srgbClr val="FF9900"/>
            </a:solidFill>
            <a:prstDash val="solid"/>
            <a:tailEnd type="arrow"/>
          </a:ln>
        </p:spPr>
      </p:sp>
      <p:sp>
        <p:nvSpPr>
          <p:cNvPr id="42" name="Shape 32"/>
          <p:cNvSpPr/>
          <p:nvPr/>
        </p:nvSpPr>
        <p:spPr>
          <a:xfrm>
            <a:off x="5532120" y="2560320"/>
            <a:ext cx="320040" cy="704088"/>
          </a:xfrm>
          <a:prstGeom prst="line">
            <a:avLst/>
          </a:prstGeom>
          <a:noFill/>
          <a:ln w="19050">
            <a:solidFill>
              <a:srgbClr val="FF9900"/>
            </a:solidFill>
            <a:prstDash val="solid"/>
            <a:tailEnd type="arrow"/>
          </a:ln>
        </p:spPr>
      </p:sp>
      <p:sp>
        <p:nvSpPr>
          <p:cNvPr id="43" name="Shape 33"/>
          <p:cNvSpPr/>
          <p:nvPr/>
        </p:nvSpPr>
        <p:spPr>
          <a:xfrm>
            <a:off x="7040880" y="1618488"/>
            <a:ext cx="457200" cy="0"/>
          </a:xfrm>
          <a:prstGeom prst="line">
            <a:avLst/>
          </a:prstGeom>
          <a:noFill/>
          <a:ln w="19050">
            <a:solidFill>
              <a:srgbClr val="FF9900"/>
            </a:solidFill>
            <a:prstDash val="solid"/>
            <a:tailEnd type="arrow"/>
          </a:ln>
        </p:spPr>
      </p:sp>
      <p:sp>
        <p:nvSpPr>
          <p:cNvPr id="44" name="Shape 34"/>
          <p:cNvSpPr/>
          <p:nvPr/>
        </p:nvSpPr>
        <p:spPr>
          <a:xfrm>
            <a:off x="7040880" y="3264408"/>
            <a:ext cx="457200" cy="0"/>
          </a:xfrm>
          <a:prstGeom prst="line">
            <a:avLst/>
          </a:prstGeom>
          <a:noFill/>
          <a:ln w="19050">
            <a:solidFill>
              <a:srgbClr val="FF9900"/>
            </a:solidFill>
            <a:prstDash val="solid"/>
            <a:tailEnd type="arrow"/>
          </a:ln>
        </p:spPr>
      </p:sp>
      <p:sp>
        <p:nvSpPr>
          <p:cNvPr id="45" name="Shape 35"/>
          <p:cNvSpPr/>
          <p:nvPr/>
        </p:nvSpPr>
        <p:spPr>
          <a:xfrm>
            <a:off x="7040880" y="1618488"/>
            <a:ext cx="0" cy="1307592"/>
          </a:xfrm>
          <a:prstGeom prst="line">
            <a:avLst/>
          </a:prstGeom>
          <a:noFill/>
          <a:ln w="12700">
            <a:solidFill>
              <a:srgbClr val="5A8FAA"/>
            </a:solidFill>
            <a:prstDash val="dash"/>
          </a:ln>
        </p:spPr>
      </p:sp>
      <p:sp>
        <p:nvSpPr>
          <p:cNvPr id="46" name="Text 36"/>
          <p:cNvSpPr/>
          <p:nvPr/>
        </p:nvSpPr>
        <p:spPr>
          <a:xfrm>
            <a:off x="5303520" y="1051560"/>
            <a:ext cx="1554480" cy="201168"/>
          </a:xfrm>
          <a:prstGeom prst="rect">
            <a:avLst/>
          </a:prstGeom>
          <a:noFill/>
          <a:ln/>
        </p:spPr>
        <p:txBody>
          <a:bodyPr wrap="square" lIns="0" tIns="0" rIns="0" bIns="0" rtlCol="0" anchor="ctr"/>
          <a:lstStyle/>
          <a:p>
            <a:pPr algn="ctr" indent="0" marL="0">
              <a:buNone/>
            </a:pPr>
            <a:r>
              <a:rPr lang="en-US" sz="800" dirty="0">
                <a:solidFill>
                  <a:srgbClr val="FF9900"/>
                </a:solidFill>
                <a:latin typeface="Calibri" pitchFamily="34" charset="0"/>
                <a:ea typeface="Calibri" pitchFamily="34" charset="-122"/>
                <a:cs typeface="Calibri" pitchFamily="34" charset="-120"/>
              </a:rPr>
              <a:t>/* → Frontend</a:t>
            </a:r>
            <a:endParaRPr lang="en-US" sz="800" dirty="0"/>
          </a:p>
        </p:txBody>
      </p:sp>
      <p:sp>
        <p:nvSpPr>
          <p:cNvPr id="47" name="Text 37"/>
          <p:cNvSpPr/>
          <p:nvPr/>
        </p:nvSpPr>
        <p:spPr>
          <a:xfrm>
            <a:off x="5303520" y="3639312"/>
            <a:ext cx="1554480" cy="201168"/>
          </a:xfrm>
          <a:prstGeom prst="rect">
            <a:avLst/>
          </a:prstGeom>
          <a:noFill/>
          <a:ln/>
        </p:spPr>
        <p:txBody>
          <a:bodyPr wrap="square" lIns="0" tIns="0" rIns="0" bIns="0" rtlCol="0" anchor="ctr"/>
          <a:lstStyle/>
          <a:p>
            <a:pPr algn="ctr" indent="0" marL="0">
              <a:buNone/>
            </a:pPr>
            <a:r>
              <a:rPr lang="en-US" sz="800" dirty="0">
                <a:solidFill>
                  <a:srgbClr val="FF9900"/>
                </a:solidFill>
                <a:latin typeface="Calibri" pitchFamily="34" charset="0"/>
                <a:ea typeface="Calibri" pitchFamily="34" charset="-122"/>
                <a:cs typeface="Calibri" pitchFamily="34" charset="-120"/>
              </a:rPr>
              <a:t>/api/* → Backend</a:t>
            </a:r>
            <a:endParaRPr lang="en-US" sz="800" dirty="0"/>
          </a:p>
        </p:txBody>
      </p:sp>
      <p:sp>
        <p:nvSpPr>
          <p:cNvPr id="48" name="Text 38"/>
          <p:cNvSpPr/>
          <p:nvPr/>
        </p:nvSpPr>
        <p:spPr>
          <a:xfrm>
            <a:off x="1618488" y="2093976"/>
            <a:ext cx="274320" cy="256032"/>
          </a:xfrm>
          <a:prstGeom prst="rect">
            <a:avLst/>
          </a:prstGeom>
          <a:noFill/>
          <a:ln/>
        </p:spPr>
        <p:txBody>
          <a:bodyPr wrap="square" lIns="0" tIns="0" rIns="0" bIns="0" rtlCol="0" anchor="ctr"/>
          <a:lstStyle/>
          <a:p>
            <a:pPr indent="0" marL="0">
              <a:buNone/>
            </a:pPr>
            <a:r>
              <a:rPr lang="en-US" sz="1000" dirty="0">
                <a:solidFill>
                  <a:srgbClr val="FF9900"/>
                </a:solidFill>
                <a:latin typeface="Calibri" pitchFamily="34" charset="0"/>
                <a:ea typeface="Calibri" pitchFamily="34" charset="-122"/>
                <a:cs typeface="Calibri" pitchFamily="34" charset="-120"/>
              </a:rPr>
              <a:t>①</a:t>
            </a:r>
            <a:endParaRPr lang="en-US" sz="1000" dirty="0"/>
          </a:p>
        </p:txBody>
      </p:sp>
      <p:sp>
        <p:nvSpPr>
          <p:cNvPr id="49" name="Text 39"/>
          <p:cNvSpPr/>
          <p:nvPr/>
        </p:nvSpPr>
        <p:spPr>
          <a:xfrm>
            <a:off x="2944368" y="2093976"/>
            <a:ext cx="274320" cy="256032"/>
          </a:xfrm>
          <a:prstGeom prst="rect">
            <a:avLst/>
          </a:prstGeom>
          <a:noFill/>
          <a:ln/>
        </p:spPr>
        <p:txBody>
          <a:bodyPr wrap="square" lIns="0" tIns="0" rIns="0" bIns="0" rtlCol="0" anchor="ctr"/>
          <a:lstStyle/>
          <a:p>
            <a:pPr indent="0" marL="0">
              <a:buNone/>
            </a:pPr>
            <a:r>
              <a:rPr lang="en-US" sz="1000" dirty="0">
                <a:solidFill>
                  <a:srgbClr val="FF9900"/>
                </a:solidFill>
                <a:latin typeface="Calibri" pitchFamily="34" charset="0"/>
                <a:ea typeface="Calibri" pitchFamily="34" charset="-122"/>
                <a:cs typeface="Calibri" pitchFamily="34" charset="-120"/>
              </a:rPr>
              <a:t>②</a:t>
            </a:r>
            <a:endParaRPr lang="en-US" sz="1000" dirty="0"/>
          </a:p>
        </p:txBody>
      </p:sp>
      <p:sp>
        <p:nvSpPr>
          <p:cNvPr id="50" name="Text 40"/>
          <p:cNvSpPr/>
          <p:nvPr/>
        </p:nvSpPr>
        <p:spPr>
          <a:xfrm>
            <a:off x="4270248" y="2093976"/>
            <a:ext cx="274320" cy="256032"/>
          </a:xfrm>
          <a:prstGeom prst="rect">
            <a:avLst/>
          </a:prstGeom>
          <a:noFill/>
          <a:ln/>
        </p:spPr>
        <p:txBody>
          <a:bodyPr wrap="square" lIns="0" tIns="0" rIns="0" bIns="0" rtlCol="0" anchor="ctr"/>
          <a:lstStyle/>
          <a:p>
            <a:pPr indent="0" marL="0">
              <a:buNone/>
            </a:pPr>
            <a:r>
              <a:rPr lang="en-US" sz="1000" dirty="0">
                <a:solidFill>
                  <a:srgbClr val="FF9900"/>
                </a:solidFill>
                <a:latin typeface="Calibri" pitchFamily="34" charset="0"/>
                <a:ea typeface="Calibri" pitchFamily="34" charset="-122"/>
                <a:cs typeface="Calibri" pitchFamily="34" charset="-120"/>
              </a:rPr>
              <a:t>③</a:t>
            </a:r>
            <a:endParaRPr lang="en-US" sz="1000" dirty="0"/>
          </a:p>
        </p:txBody>
      </p:sp>
      <p:sp>
        <p:nvSpPr>
          <p:cNvPr id="51" name="Text 41"/>
          <p:cNvSpPr/>
          <p:nvPr/>
        </p:nvSpPr>
        <p:spPr>
          <a:xfrm>
            <a:off x="5138928" y="2093976"/>
            <a:ext cx="274320" cy="256032"/>
          </a:xfrm>
          <a:prstGeom prst="rect">
            <a:avLst/>
          </a:prstGeom>
          <a:noFill/>
          <a:ln/>
        </p:spPr>
        <p:txBody>
          <a:bodyPr wrap="square" lIns="0" tIns="0" rIns="0" bIns="0" rtlCol="0" anchor="ctr"/>
          <a:lstStyle/>
          <a:p>
            <a:pPr indent="0" marL="0">
              <a:buNone/>
            </a:pPr>
            <a:r>
              <a:rPr lang="en-US" sz="1000" dirty="0">
                <a:solidFill>
                  <a:srgbClr val="FF9900"/>
                </a:solidFill>
                <a:latin typeface="Calibri" pitchFamily="34" charset="0"/>
                <a:ea typeface="Calibri" pitchFamily="34" charset="-122"/>
                <a:cs typeface="Calibri" pitchFamily="34" charset="-120"/>
              </a:rPr>
              <a:t>④</a:t>
            </a:r>
            <a:endParaRPr lang="en-US" sz="1000" dirty="0"/>
          </a:p>
        </p:txBody>
      </p:sp>
      <p:sp>
        <p:nvSpPr>
          <p:cNvPr id="52" name="Shape 42"/>
          <p:cNvSpPr/>
          <p:nvPr/>
        </p:nvSpPr>
        <p:spPr>
          <a:xfrm>
            <a:off x="365760" y="4773168"/>
            <a:ext cx="146304" cy="146304"/>
          </a:xfrm>
          <a:prstGeom prst="rect">
            <a:avLst/>
          </a:prstGeom>
          <a:solidFill>
            <a:srgbClr val="EF4444"/>
          </a:solidFill>
          <a:ln w="12700">
            <a:solidFill>
              <a:srgbClr val="EF4444"/>
            </a:solidFill>
            <a:prstDash val="solid"/>
          </a:ln>
        </p:spPr>
      </p:sp>
      <p:sp>
        <p:nvSpPr>
          <p:cNvPr id="53" name="Text 43"/>
          <p:cNvSpPr/>
          <p:nvPr/>
        </p:nvSpPr>
        <p:spPr>
          <a:xfrm>
            <a:off x="566928" y="4754880"/>
            <a:ext cx="1188720" cy="182880"/>
          </a:xfrm>
          <a:prstGeom prst="rect">
            <a:avLst/>
          </a:prstGeom>
          <a:noFill/>
          <a:ln/>
        </p:spPr>
        <p:txBody>
          <a:bodyPr wrap="square" lIns="0" tIns="0" rIns="0" bIns="0" rtlCol="0" anchor="ctr"/>
          <a:lstStyle/>
          <a:p>
            <a:pPr indent="0" marL="0">
              <a:buNone/>
            </a:pPr>
            <a:r>
              <a:rPr lang="en-US" sz="900" dirty="0">
                <a:solidFill>
                  <a:srgbClr val="A0BDD0"/>
                </a:solidFill>
                <a:latin typeface="Calibri" pitchFamily="34" charset="0"/>
                <a:ea typeface="Calibri" pitchFamily="34" charset="-122"/>
                <a:cs typeface="Calibri" pitchFamily="34" charset="-120"/>
              </a:rPr>
              <a:t>Security</a:t>
            </a:r>
            <a:endParaRPr lang="en-US" sz="900" dirty="0"/>
          </a:p>
        </p:txBody>
      </p:sp>
      <p:sp>
        <p:nvSpPr>
          <p:cNvPr id="54" name="Shape 44"/>
          <p:cNvSpPr/>
          <p:nvPr/>
        </p:nvSpPr>
        <p:spPr>
          <a:xfrm>
            <a:off x="2011680" y="4773168"/>
            <a:ext cx="146304" cy="146304"/>
          </a:xfrm>
          <a:prstGeom prst="rect">
            <a:avLst/>
          </a:prstGeom>
          <a:solidFill>
            <a:srgbClr val="3B82F6"/>
          </a:solidFill>
          <a:ln w="12700">
            <a:solidFill>
              <a:srgbClr val="3B82F6"/>
            </a:solidFill>
            <a:prstDash val="solid"/>
          </a:ln>
        </p:spPr>
      </p:sp>
      <p:sp>
        <p:nvSpPr>
          <p:cNvPr id="55" name="Text 45"/>
          <p:cNvSpPr/>
          <p:nvPr/>
        </p:nvSpPr>
        <p:spPr>
          <a:xfrm>
            <a:off x="2212848" y="4754880"/>
            <a:ext cx="1188720" cy="182880"/>
          </a:xfrm>
          <a:prstGeom prst="rect">
            <a:avLst/>
          </a:prstGeom>
          <a:noFill/>
          <a:ln/>
        </p:spPr>
        <p:txBody>
          <a:bodyPr wrap="square" lIns="0" tIns="0" rIns="0" bIns="0" rtlCol="0" anchor="ctr"/>
          <a:lstStyle/>
          <a:p>
            <a:pPr indent="0" marL="0">
              <a:buNone/>
            </a:pPr>
            <a:r>
              <a:rPr lang="en-US" sz="900" dirty="0">
                <a:solidFill>
                  <a:srgbClr val="A0BDD0"/>
                </a:solidFill>
                <a:latin typeface="Calibri" pitchFamily="34" charset="0"/>
                <a:ea typeface="Calibri" pitchFamily="34" charset="-122"/>
                <a:cs typeface="Calibri" pitchFamily="34" charset="-120"/>
              </a:rPr>
              <a:t>Edge</a:t>
            </a:r>
            <a:endParaRPr lang="en-US" sz="900" dirty="0"/>
          </a:p>
        </p:txBody>
      </p:sp>
      <p:sp>
        <p:nvSpPr>
          <p:cNvPr id="56" name="Shape 46"/>
          <p:cNvSpPr/>
          <p:nvPr/>
        </p:nvSpPr>
        <p:spPr>
          <a:xfrm>
            <a:off x="3657600" y="4773168"/>
            <a:ext cx="146304" cy="146304"/>
          </a:xfrm>
          <a:prstGeom prst="rect">
            <a:avLst/>
          </a:prstGeom>
          <a:solidFill>
            <a:srgbClr val="F97316"/>
          </a:solidFill>
          <a:ln w="12700">
            <a:solidFill>
              <a:srgbClr val="F97316"/>
            </a:solidFill>
            <a:prstDash val="solid"/>
          </a:ln>
        </p:spPr>
      </p:sp>
      <p:sp>
        <p:nvSpPr>
          <p:cNvPr id="57" name="Text 47"/>
          <p:cNvSpPr/>
          <p:nvPr/>
        </p:nvSpPr>
        <p:spPr>
          <a:xfrm>
            <a:off x="3858768" y="4754880"/>
            <a:ext cx="1188720" cy="182880"/>
          </a:xfrm>
          <a:prstGeom prst="rect">
            <a:avLst/>
          </a:prstGeom>
          <a:noFill/>
          <a:ln/>
        </p:spPr>
        <p:txBody>
          <a:bodyPr wrap="square" lIns="0" tIns="0" rIns="0" bIns="0" rtlCol="0" anchor="ctr"/>
          <a:lstStyle/>
          <a:p>
            <a:pPr indent="0" marL="0">
              <a:buNone/>
            </a:pPr>
            <a:r>
              <a:rPr lang="en-US" sz="900" dirty="0">
                <a:solidFill>
                  <a:srgbClr val="A0BDD0"/>
                </a:solidFill>
                <a:latin typeface="Calibri" pitchFamily="34" charset="0"/>
                <a:ea typeface="Calibri" pitchFamily="34" charset="-122"/>
                <a:cs typeface="Calibri" pitchFamily="34" charset="-120"/>
              </a:rPr>
              <a:t>Compute</a:t>
            </a:r>
            <a:endParaRPr lang="en-US" sz="900" dirty="0"/>
          </a:p>
        </p:txBody>
      </p:sp>
      <p:sp>
        <p:nvSpPr>
          <p:cNvPr id="58" name="Shape 48"/>
          <p:cNvSpPr/>
          <p:nvPr/>
        </p:nvSpPr>
        <p:spPr>
          <a:xfrm>
            <a:off x="5303520" y="4773168"/>
            <a:ext cx="146304" cy="146304"/>
          </a:xfrm>
          <a:prstGeom prst="rect">
            <a:avLst/>
          </a:prstGeom>
          <a:solidFill>
            <a:srgbClr val="A855F7"/>
          </a:solidFill>
          <a:ln w="12700">
            <a:solidFill>
              <a:srgbClr val="A855F7"/>
            </a:solidFill>
            <a:prstDash val="solid"/>
          </a:ln>
        </p:spPr>
      </p:sp>
      <p:sp>
        <p:nvSpPr>
          <p:cNvPr id="59" name="Text 49"/>
          <p:cNvSpPr/>
          <p:nvPr/>
        </p:nvSpPr>
        <p:spPr>
          <a:xfrm>
            <a:off x="5504688" y="4754880"/>
            <a:ext cx="1188720" cy="182880"/>
          </a:xfrm>
          <a:prstGeom prst="rect">
            <a:avLst/>
          </a:prstGeom>
          <a:noFill/>
          <a:ln/>
        </p:spPr>
        <p:txBody>
          <a:bodyPr wrap="square" lIns="0" tIns="0" rIns="0" bIns="0" rtlCol="0" anchor="ctr"/>
          <a:lstStyle/>
          <a:p>
            <a:pPr indent="0" marL="0">
              <a:buNone/>
            </a:pPr>
            <a:r>
              <a:rPr lang="en-US" sz="900" dirty="0">
                <a:solidFill>
                  <a:srgbClr val="A0BDD0"/>
                </a:solidFill>
                <a:latin typeface="Calibri" pitchFamily="34" charset="0"/>
                <a:ea typeface="Calibri" pitchFamily="34" charset="-122"/>
                <a:cs typeface="Calibri" pitchFamily="34" charset="-120"/>
              </a:rPr>
              <a:t>Database</a:t>
            </a:r>
            <a:endParaRPr lang="en-US" sz="900" dirty="0"/>
          </a:p>
        </p:txBody>
      </p:sp>
      <p:sp>
        <p:nvSpPr>
          <p:cNvPr id="60" name="Shape 50"/>
          <p:cNvSpPr/>
          <p:nvPr/>
        </p:nvSpPr>
        <p:spPr>
          <a:xfrm>
            <a:off x="6949440" y="4773168"/>
            <a:ext cx="146304" cy="146304"/>
          </a:xfrm>
          <a:prstGeom prst="rect">
            <a:avLst/>
          </a:prstGeom>
          <a:solidFill>
            <a:srgbClr val="14B8A6"/>
          </a:solidFill>
          <a:ln w="12700">
            <a:solidFill>
              <a:srgbClr val="14B8A6"/>
            </a:solidFill>
            <a:prstDash val="solid"/>
          </a:ln>
        </p:spPr>
      </p:sp>
      <p:sp>
        <p:nvSpPr>
          <p:cNvPr id="61" name="Text 51"/>
          <p:cNvSpPr/>
          <p:nvPr/>
        </p:nvSpPr>
        <p:spPr>
          <a:xfrm>
            <a:off x="7150608" y="4754880"/>
            <a:ext cx="1188720" cy="182880"/>
          </a:xfrm>
          <a:prstGeom prst="rect">
            <a:avLst/>
          </a:prstGeom>
          <a:noFill/>
          <a:ln/>
        </p:spPr>
        <p:txBody>
          <a:bodyPr wrap="square" lIns="0" tIns="0" rIns="0" bIns="0" rtlCol="0" anchor="ctr"/>
          <a:lstStyle/>
          <a:p>
            <a:pPr indent="0" marL="0">
              <a:buNone/>
            </a:pPr>
            <a:r>
              <a:rPr lang="en-US" sz="900" dirty="0">
                <a:solidFill>
                  <a:srgbClr val="A0BDD0"/>
                </a:solidFill>
                <a:latin typeface="Calibri" pitchFamily="34" charset="0"/>
                <a:ea typeface="Calibri" pitchFamily="34" charset="-122"/>
                <a:cs typeface="Calibri" pitchFamily="34" charset="-120"/>
              </a:rPr>
              <a:t>Storage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VPC Architecture</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Multi-AZ network design with private subnet isolation — us-east-1</a:t>
            </a:r>
            <a:endParaRPr lang="en-US" sz="1100" dirty="0"/>
          </a:p>
        </p:txBody>
      </p:sp>
      <p:sp>
        <p:nvSpPr>
          <p:cNvPr id="5" name="Shape 3"/>
          <p:cNvSpPr/>
          <p:nvPr/>
        </p:nvSpPr>
        <p:spPr>
          <a:xfrm>
            <a:off x="320040" y="960120"/>
            <a:ext cx="8503920" cy="3931920"/>
          </a:xfrm>
          <a:prstGeom prst="rect">
            <a:avLst>
              <a:gd name="adj" fmla="val 930"/>
            </a:avLst>
          </a:prstGeom>
          <a:solidFill>
            <a:srgbClr val="EFF6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6" name="Text 4"/>
          <p:cNvSpPr/>
          <p:nvPr/>
        </p:nvSpPr>
        <p:spPr>
          <a:xfrm>
            <a:off x="457200" y="987552"/>
            <a:ext cx="3200400" cy="256032"/>
          </a:xfrm>
          <a:prstGeom prst="rect">
            <a:avLst/>
          </a:prstGeom>
          <a:noFill/>
          <a:ln/>
        </p:spPr>
        <p:txBody>
          <a:bodyPr wrap="square" lIns="0" tIns="0" rIns="0" bIns="0" rtlCol="0" anchor="ctr"/>
          <a:lstStyle/>
          <a:p>
            <a:pPr indent="0" marL="0">
              <a:buNone/>
            </a:pPr>
            <a:r>
              <a:rPr lang="en-US" sz="1000" b="1" dirty="0">
                <a:solidFill>
                  <a:srgbClr val="0073BB"/>
                </a:solidFill>
                <a:latin typeface="Calibri" pitchFamily="34" charset="0"/>
                <a:ea typeface="Calibri" pitchFamily="34" charset="-122"/>
                <a:cs typeface="Calibri" pitchFamily="34" charset="-120"/>
              </a:rPr>
              <a:t>VPC  10.0.0.0/16  ·  us-east-1</a:t>
            </a:r>
            <a:endParaRPr lang="en-US" sz="1000" dirty="0"/>
          </a:p>
        </p:txBody>
      </p:sp>
      <p:sp>
        <p:nvSpPr>
          <p:cNvPr id="7" name="Shape 5"/>
          <p:cNvSpPr/>
          <p:nvPr/>
        </p:nvSpPr>
        <p:spPr>
          <a:xfrm>
            <a:off x="502920" y="1298448"/>
            <a:ext cx="3977640" cy="3401568"/>
          </a:xfrm>
          <a:prstGeom prst="rect">
            <a:avLst>
              <a:gd name="adj" fmla="val 1075"/>
            </a:avLst>
          </a:prstGeom>
          <a:solidFill>
            <a:srgbClr val="F8FBFF"/>
          </a:solidFill>
          <a:ln w="12700">
            <a:solidFill>
              <a:srgbClr val="BFDBFE"/>
            </a:solidFill>
            <a:prstDash val="solid"/>
          </a:ln>
        </p:spPr>
      </p:sp>
      <p:sp>
        <p:nvSpPr>
          <p:cNvPr id="8" name="Text 6"/>
          <p:cNvSpPr/>
          <p:nvPr/>
        </p:nvSpPr>
        <p:spPr>
          <a:xfrm>
            <a:off x="594360" y="1316736"/>
            <a:ext cx="3794760" cy="228600"/>
          </a:xfrm>
          <a:prstGeom prst="rect">
            <a:avLst/>
          </a:prstGeom>
          <a:noFill/>
          <a:ln/>
        </p:spPr>
        <p:txBody>
          <a:bodyPr wrap="square" lIns="0" tIns="0" rIns="0" bIns="0" rtlCol="0" anchor="ctr"/>
          <a:lstStyle/>
          <a:p>
            <a:pPr indent="0" marL="0">
              <a:buNone/>
            </a:pPr>
            <a:r>
              <a:rPr lang="en-US" sz="1000" b="1" dirty="0">
                <a:solidFill>
                  <a:srgbClr val="0073BB"/>
                </a:solidFill>
                <a:latin typeface="Calibri" pitchFamily="34" charset="0"/>
                <a:ea typeface="Calibri" pitchFamily="34" charset="-122"/>
                <a:cs typeface="Calibri" pitchFamily="34" charset="-120"/>
              </a:rPr>
              <a:t>us-east-1a</a:t>
            </a:r>
            <a:endParaRPr lang="en-US" sz="1000" dirty="0"/>
          </a:p>
        </p:txBody>
      </p:sp>
      <p:sp>
        <p:nvSpPr>
          <p:cNvPr id="9" name="Shape 7"/>
          <p:cNvSpPr/>
          <p:nvPr/>
        </p:nvSpPr>
        <p:spPr>
          <a:xfrm>
            <a:off x="612648" y="1627632"/>
            <a:ext cx="3749040" cy="658368"/>
          </a:xfrm>
          <a:prstGeom prst="rect">
            <a:avLst>
              <a:gd name="adj" fmla="val 4167"/>
            </a:avLst>
          </a:prstGeom>
          <a:solidFill>
            <a:srgbClr val="E6F7EC"/>
          </a:solidFill>
          <a:ln w="10160">
            <a:solidFill>
              <a:srgbClr val="22C55E"/>
            </a:solidFill>
            <a:prstDash val="solid"/>
          </a:ln>
        </p:spPr>
      </p:sp>
      <p:sp>
        <p:nvSpPr>
          <p:cNvPr id="10" name="Text 8"/>
          <p:cNvSpPr/>
          <p:nvPr/>
        </p:nvSpPr>
        <p:spPr>
          <a:xfrm>
            <a:off x="685800" y="1673352"/>
            <a:ext cx="2286000" cy="228600"/>
          </a:xfrm>
          <a:prstGeom prst="rect">
            <a:avLst/>
          </a:prstGeom>
          <a:noFill/>
          <a:ln/>
        </p:spPr>
        <p:txBody>
          <a:bodyPr wrap="square" lIns="0" tIns="0" rIns="0" bIns="0" rtlCol="0" anchor="ctr"/>
          <a:lstStyle/>
          <a:p>
            <a:pPr indent="0" marL="0">
              <a:buNone/>
            </a:pPr>
            <a:r>
              <a:rPr lang="en-US" sz="950" b="1" dirty="0">
                <a:solidFill>
                  <a:srgbClr val="16A34A"/>
                </a:solidFill>
                <a:latin typeface="Calibri" pitchFamily="34" charset="0"/>
                <a:ea typeface="Calibri" pitchFamily="34" charset="-122"/>
                <a:cs typeface="Calibri" pitchFamily="34" charset="-120"/>
              </a:rPr>
              <a:t>Public Subnet</a:t>
            </a:r>
            <a:endParaRPr lang="en-US" sz="950" dirty="0"/>
          </a:p>
        </p:txBody>
      </p:sp>
      <p:sp>
        <p:nvSpPr>
          <p:cNvPr id="11" name="Text 9"/>
          <p:cNvSpPr/>
          <p:nvPr/>
        </p:nvSpPr>
        <p:spPr>
          <a:xfrm>
            <a:off x="685800" y="1975104"/>
            <a:ext cx="22860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10.0.1.0/24</a:t>
            </a:r>
            <a:endParaRPr lang="en-US" sz="900" dirty="0"/>
          </a:p>
        </p:txBody>
      </p:sp>
      <p:pic>
        <p:nvPicPr>
          <p:cNvPr id="12" name="Image 0" descr="preencoded.png">    </p:cNvPr>
          <p:cNvPicPr>
            <a:picLocks noChangeAspect="1"/>
          </p:cNvPicPr>
          <p:nvPr/>
        </p:nvPicPr>
        <p:blipFill>
          <a:blip r:embed="rId1"/>
          <a:stretch>
            <a:fillRect/>
          </a:stretch>
        </p:blipFill>
        <p:spPr>
          <a:xfrm>
            <a:off x="3749040" y="1792224"/>
            <a:ext cx="320040" cy="320040"/>
          </a:xfrm>
          <a:prstGeom prst="rect">
            <a:avLst/>
          </a:prstGeom>
        </p:spPr>
      </p:pic>
      <p:sp>
        <p:nvSpPr>
          <p:cNvPr id="13" name="Shape 10"/>
          <p:cNvSpPr/>
          <p:nvPr/>
        </p:nvSpPr>
        <p:spPr>
          <a:xfrm>
            <a:off x="612648" y="2404872"/>
            <a:ext cx="3749040" cy="658368"/>
          </a:xfrm>
          <a:prstGeom prst="rect">
            <a:avLst>
              <a:gd name="adj" fmla="val 4167"/>
            </a:avLst>
          </a:prstGeom>
          <a:solidFill>
            <a:srgbClr val="EFF6FF"/>
          </a:solidFill>
          <a:ln w="10160">
            <a:solidFill>
              <a:srgbClr val="3B82F6"/>
            </a:solidFill>
            <a:prstDash val="solid"/>
          </a:ln>
        </p:spPr>
      </p:sp>
      <p:sp>
        <p:nvSpPr>
          <p:cNvPr id="14" name="Text 11"/>
          <p:cNvSpPr/>
          <p:nvPr/>
        </p:nvSpPr>
        <p:spPr>
          <a:xfrm>
            <a:off x="685800" y="2450592"/>
            <a:ext cx="2286000" cy="228600"/>
          </a:xfrm>
          <a:prstGeom prst="rect">
            <a:avLst/>
          </a:prstGeom>
          <a:noFill/>
          <a:ln/>
        </p:spPr>
        <p:txBody>
          <a:bodyPr wrap="square" lIns="0" tIns="0" rIns="0" bIns="0" rtlCol="0" anchor="ctr"/>
          <a:lstStyle/>
          <a:p>
            <a:pPr indent="0" marL="0">
              <a:buNone/>
            </a:pPr>
            <a:r>
              <a:rPr lang="en-US" sz="950" b="1" dirty="0">
                <a:solidFill>
                  <a:srgbClr val="3B82F6"/>
                </a:solidFill>
                <a:latin typeface="Calibri" pitchFamily="34" charset="0"/>
                <a:ea typeface="Calibri" pitchFamily="34" charset="-122"/>
                <a:cs typeface="Calibri" pitchFamily="34" charset="-120"/>
              </a:rPr>
              <a:t>Frontend Private</a:t>
            </a:r>
            <a:endParaRPr lang="en-US" sz="950" dirty="0"/>
          </a:p>
        </p:txBody>
      </p:sp>
      <p:sp>
        <p:nvSpPr>
          <p:cNvPr id="15" name="Text 12"/>
          <p:cNvSpPr/>
          <p:nvPr/>
        </p:nvSpPr>
        <p:spPr>
          <a:xfrm>
            <a:off x="685800" y="2752344"/>
            <a:ext cx="22860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10.0.11.0/24</a:t>
            </a:r>
            <a:endParaRPr lang="en-US" sz="900" dirty="0"/>
          </a:p>
        </p:txBody>
      </p:sp>
      <p:pic>
        <p:nvPicPr>
          <p:cNvPr id="16" name="Image 1" descr="preencoded.png">    </p:cNvPr>
          <p:cNvPicPr>
            <a:picLocks noChangeAspect="1"/>
          </p:cNvPicPr>
          <p:nvPr/>
        </p:nvPicPr>
        <p:blipFill>
          <a:blip r:embed="rId2"/>
          <a:stretch>
            <a:fillRect/>
          </a:stretch>
        </p:blipFill>
        <p:spPr>
          <a:xfrm>
            <a:off x="3749040" y="2569464"/>
            <a:ext cx="320040" cy="320040"/>
          </a:xfrm>
          <a:prstGeom prst="rect">
            <a:avLst/>
          </a:prstGeom>
        </p:spPr>
      </p:pic>
      <p:sp>
        <p:nvSpPr>
          <p:cNvPr id="17" name="Shape 13"/>
          <p:cNvSpPr/>
          <p:nvPr/>
        </p:nvSpPr>
        <p:spPr>
          <a:xfrm>
            <a:off x="612648" y="3182112"/>
            <a:ext cx="3749040" cy="658368"/>
          </a:xfrm>
          <a:prstGeom prst="rect">
            <a:avLst>
              <a:gd name="adj" fmla="val 4167"/>
            </a:avLst>
          </a:prstGeom>
          <a:solidFill>
            <a:srgbClr val="FFF7ED"/>
          </a:solidFill>
          <a:ln w="10160">
            <a:solidFill>
              <a:srgbClr val="F97316"/>
            </a:solidFill>
            <a:prstDash val="solid"/>
          </a:ln>
        </p:spPr>
      </p:sp>
      <p:sp>
        <p:nvSpPr>
          <p:cNvPr id="18" name="Text 14"/>
          <p:cNvSpPr/>
          <p:nvPr/>
        </p:nvSpPr>
        <p:spPr>
          <a:xfrm>
            <a:off x="685800" y="3227832"/>
            <a:ext cx="2286000" cy="228600"/>
          </a:xfrm>
          <a:prstGeom prst="rect">
            <a:avLst/>
          </a:prstGeom>
          <a:noFill/>
          <a:ln/>
        </p:spPr>
        <p:txBody>
          <a:bodyPr wrap="square" lIns="0" tIns="0" rIns="0" bIns="0" rtlCol="0" anchor="ctr"/>
          <a:lstStyle/>
          <a:p>
            <a:pPr indent="0" marL="0">
              <a:buNone/>
            </a:pPr>
            <a:r>
              <a:rPr lang="en-US" sz="950" b="1" dirty="0">
                <a:solidFill>
                  <a:srgbClr val="F97316"/>
                </a:solidFill>
                <a:latin typeface="Calibri" pitchFamily="34" charset="0"/>
                <a:ea typeface="Calibri" pitchFamily="34" charset="-122"/>
                <a:cs typeface="Calibri" pitchFamily="34" charset="-120"/>
              </a:rPr>
              <a:t>Backend Private</a:t>
            </a:r>
            <a:endParaRPr lang="en-US" sz="950" dirty="0"/>
          </a:p>
        </p:txBody>
      </p:sp>
      <p:sp>
        <p:nvSpPr>
          <p:cNvPr id="19" name="Text 15"/>
          <p:cNvSpPr/>
          <p:nvPr/>
        </p:nvSpPr>
        <p:spPr>
          <a:xfrm>
            <a:off x="685800" y="3529584"/>
            <a:ext cx="22860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10.0.21.0/24</a:t>
            </a:r>
            <a:endParaRPr lang="en-US" sz="900" dirty="0"/>
          </a:p>
        </p:txBody>
      </p:sp>
      <p:pic>
        <p:nvPicPr>
          <p:cNvPr id="20" name="Image 2" descr="preencoded.png">    </p:cNvPr>
          <p:cNvPicPr>
            <a:picLocks noChangeAspect="1"/>
          </p:cNvPicPr>
          <p:nvPr/>
        </p:nvPicPr>
        <p:blipFill>
          <a:blip r:embed="rId3"/>
          <a:stretch>
            <a:fillRect/>
          </a:stretch>
        </p:blipFill>
        <p:spPr>
          <a:xfrm>
            <a:off x="3749040" y="3346704"/>
            <a:ext cx="320040" cy="320040"/>
          </a:xfrm>
          <a:prstGeom prst="rect">
            <a:avLst/>
          </a:prstGeom>
        </p:spPr>
      </p:pic>
      <p:sp>
        <p:nvSpPr>
          <p:cNvPr id="21" name="Shape 16"/>
          <p:cNvSpPr/>
          <p:nvPr/>
        </p:nvSpPr>
        <p:spPr>
          <a:xfrm>
            <a:off x="612648" y="3959352"/>
            <a:ext cx="3749040" cy="658368"/>
          </a:xfrm>
          <a:prstGeom prst="rect">
            <a:avLst>
              <a:gd name="adj" fmla="val 4167"/>
            </a:avLst>
          </a:prstGeom>
          <a:solidFill>
            <a:srgbClr val="F5F3FF"/>
          </a:solidFill>
          <a:ln w="10160">
            <a:solidFill>
              <a:srgbClr val="A855F7"/>
            </a:solidFill>
            <a:prstDash val="solid"/>
          </a:ln>
        </p:spPr>
      </p:sp>
      <p:sp>
        <p:nvSpPr>
          <p:cNvPr id="22" name="Text 17"/>
          <p:cNvSpPr/>
          <p:nvPr/>
        </p:nvSpPr>
        <p:spPr>
          <a:xfrm>
            <a:off x="685800" y="4005072"/>
            <a:ext cx="2286000" cy="228600"/>
          </a:xfrm>
          <a:prstGeom prst="rect">
            <a:avLst/>
          </a:prstGeom>
          <a:noFill/>
          <a:ln/>
        </p:spPr>
        <p:txBody>
          <a:bodyPr wrap="square" lIns="0" tIns="0" rIns="0" bIns="0" rtlCol="0" anchor="ctr"/>
          <a:lstStyle/>
          <a:p>
            <a:pPr indent="0" marL="0">
              <a:buNone/>
            </a:pPr>
            <a:r>
              <a:rPr lang="en-US" sz="950" b="1" dirty="0">
                <a:solidFill>
                  <a:srgbClr val="A855F7"/>
                </a:solidFill>
                <a:latin typeface="Calibri" pitchFamily="34" charset="0"/>
                <a:ea typeface="Calibri" pitchFamily="34" charset="-122"/>
                <a:cs typeface="Calibri" pitchFamily="34" charset="-120"/>
              </a:rPr>
              <a:t>Database Private</a:t>
            </a:r>
            <a:endParaRPr lang="en-US" sz="950" dirty="0"/>
          </a:p>
        </p:txBody>
      </p:sp>
      <p:sp>
        <p:nvSpPr>
          <p:cNvPr id="23" name="Text 18"/>
          <p:cNvSpPr/>
          <p:nvPr/>
        </p:nvSpPr>
        <p:spPr>
          <a:xfrm>
            <a:off x="685800" y="4306824"/>
            <a:ext cx="22860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10.0.31.0/24</a:t>
            </a:r>
            <a:endParaRPr lang="en-US" sz="900" dirty="0"/>
          </a:p>
        </p:txBody>
      </p:sp>
      <p:pic>
        <p:nvPicPr>
          <p:cNvPr id="24" name="Image 3" descr="preencoded.png">    </p:cNvPr>
          <p:cNvPicPr>
            <a:picLocks noChangeAspect="1"/>
          </p:cNvPicPr>
          <p:nvPr/>
        </p:nvPicPr>
        <p:blipFill>
          <a:blip r:embed="rId4"/>
          <a:stretch>
            <a:fillRect/>
          </a:stretch>
        </p:blipFill>
        <p:spPr>
          <a:xfrm>
            <a:off x="3749040" y="4123944"/>
            <a:ext cx="320040" cy="320040"/>
          </a:xfrm>
          <a:prstGeom prst="rect">
            <a:avLst/>
          </a:prstGeom>
        </p:spPr>
      </p:pic>
      <p:sp>
        <p:nvSpPr>
          <p:cNvPr id="25" name="Shape 19"/>
          <p:cNvSpPr/>
          <p:nvPr/>
        </p:nvSpPr>
        <p:spPr>
          <a:xfrm>
            <a:off x="4617720" y="1298448"/>
            <a:ext cx="3977640" cy="3401568"/>
          </a:xfrm>
          <a:prstGeom prst="rect">
            <a:avLst>
              <a:gd name="adj" fmla="val 1075"/>
            </a:avLst>
          </a:prstGeom>
          <a:solidFill>
            <a:srgbClr val="F8FBFF"/>
          </a:solidFill>
          <a:ln w="12700">
            <a:solidFill>
              <a:srgbClr val="BFDBFE"/>
            </a:solidFill>
            <a:prstDash val="solid"/>
          </a:ln>
        </p:spPr>
      </p:sp>
      <p:sp>
        <p:nvSpPr>
          <p:cNvPr id="26" name="Text 20"/>
          <p:cNvSpPr/>
          <p:nvPr/>
        </p:nvSpPr>
        <p:spPr>
          <a:xfrm>
            <a:off x="4709160" y="1316736"/>
            <a:ext cx="3794760" cy="228600"/>
          </a:xfrm>
          <a:prstGeom prst="rect">
            <a:avLst/>
          </a:prstGeom>
          <a:noFill/>
          <a:ln/>
        </p:spPr>
        <p:txBody>
          <a:bodyPr wrap="square" lIns="0" tIns="0" rIns="0" bIns="0" rtlCol="0" anchor="ctr"/>
          <a:lstStyle/>
          <a:p>
            <a:pPr indent="0" marL="0">
              <a:buNone/>
            </a:pPr>
            <a:r>
              <a:rPr lang="en-US" sz="1000" b="1" dirty="0">
                <a:solidFill>
                  <a:srgbClr val="0073BB"/>
                </a:solidFill>
                <a:latin typeface="Calibri" pitchFamily="34" charset="0"/>
                <a:ea typeface="Calibri" pitchFamily="34" charset="-122"/>
                <a:cs typeface="Calibri" pitchFamily="34" charset="-120"/>
              </a:rPr>
              <a:t>us-east-1b</a:t>
            </a:r>
            <a:endParaRPr lang="en-US" sz="1000" dirty="0"/>
          </a:p>
        </p:txBody>
      </p:sp>
      <p:sp>
        <p:nvSpPr>
          <p:cNvPr id="27" name="Shape 21"/>
          <p:cNvSpPr/>
          <p:nvPr/>
        </p:nvSpPr>
        <p:spPr>
          <a:xfrm>
            <a:off x="4727448" y="1627632"/>
            <a:ext cx="3749040" cy="658368"/>
          </a:xfrm>
          <a:prstGeom prst="rect">
            <a:avLst>
              <a:gd name="adj" fmla="val 4167"/>
            </a:avLst>
          </a:prstGeom>
          <a:solidFill>
            <a:srgbClr val="E6F7EC"/>
          </a:solidFill>
          <a:ln w="10160">
            <a:solidFill>
              <a:srgbClr val="22C55E"/>
            </a:solidFill>
            <a:prstDash val="solid"/>
          </a:ln>
        </p:spPr>
      </p:sp>
      <p:sp>
        <p:nvSpPr>
          <p:cNvPr id="28" name="Text 22"/>
          <p:cNvSpPr/>
          <p:nvPr/>
        </p:nvSpPr>
        <p:spPr>
          <a:xfrm>
            <a:off x="4800600" y="1673352"/>
            <a:ext cx="2286000" cy="228600"/>
          </a:xfrm>
          <a:prstGeom prst="rect">
            <a:avLst/>
          </a:prstGeom>
          <a:noFill/>
          <a:ln/>
        </p:spPr>
        <p:txBody>
          <a:bodyPr wrap="square" lIns="0" tIns="0" rIns="0" bIns="0" rtlCol="0" anchor="ctr"/>
          <a:lstStyle/>
          <a:p>
            <a:pPr indent="0" marL="0">
              <a:buNone/>
            </a:pPr>
            <a:r>
              <a:rPr lang="en-US" sz="950" b="1" dirty="0">
                <a:solidFill>
                  <a:srgbClr val="16A34A"/>
                </a:solidFill>
                <a:latin typeface="Calibri" pitchFamily="34" charset="0"/>
                <a:ea typeface="Calibri" pitchFamily="34" charset="-122"/>
                <a:cs typeface="Calibri" pitchFamily="34" charset="-120"/>
              </a:rPr>
              <a:t>Public Subnet</a:t>
            </a:r>
            <a:endParaRPr lang="en-US" sz="950" dirty="0"/>
          </a:p>
        </p:txBody>
      </p:sp>
      <p:sp>
        <p:nvSpPr>
          <p:cNvPr id="29" name="Text 23"/>
          <p:cNvSpPr/>
          <p:nvPr/>
        </p:nvSpPr>
        <p:spPr>
          <a:xfrm>
            <a:off x="4800600" y="1975104"/>
            <a:ext cx="22860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10.0.2.0/24</a:t>
            </a:r>
            <a:endParaRPr lang="en-US" sz="900" dirty="0"/>
          </a:p>
        </p:txBody>
      </p:sp>
      <p:pic>
        <p:nvPicPr>
          <p:cNvPr id="30" name="Image 4" descr="preencoded.png">    </p:cNvPr>
          <p:cNvPicPr>
            <a:picLocks noChangeAspect="1"/>
          </p:cNvPicPr>
          <p:nvPr/>
        </p:nvPicPr>
        <p:blipFill>
          <a:blip r:embed="rId5"/>
          <a:stretch>
            <a:fillRect/>
          </a:stretch>
        </p:blipFill>
        <p:spPr>
          <a:xfrm>
            <a:off x="7863840" y="1792224"/>
            <a:ext cx="320040" cy="320040"/>
          </a:xfrm>
          <a:prstGeom prst="rect">
            <a:avLst/>
          </a:prstGeom>
        </p:spPr>
      </p:pic>
      <p:sp>
        <p:nvSpPr>
          <p:cNvPr id="31" name="Shape 24"/>
          <p:cNvSpPr/>
          <p:nvPr/>
        </p:nvSpPr>
        <p:spPr>
          <a:xfrm>
            <a:off x="4727448" y="2404872"/>
            <a:ext cx="3749040" cy="658368"/>
          </a:xfrm>
          <a:prstGeom prst="rect">
            <a:avLst>
              <a:gd name="adj" fmla="val 4167"/>
            </a:avLst>
          </a:prstGeom>
          <a:solidFill>
            <a:srgbClr val="EFF6FF"/>
          </a:solidFill>
          <a:ln w="10160">
            <a:solidFill>
              <a:srgbClr val="3B82F6"/>
            </a:solidFill>
            <a:prstDash val="solid"/>
          </a:ln>
        </p:spPr>
      </p:sp>
      <p:sp>
        <p:nvSpPr>
          <p:cNvPr id="32" name="Text 25"/>
          <p:cNvSpPr/>
          <p:nvPr/>
        </p:nvSpPr>
        <p:spPr>
          <a:xfrm>
            <a:off x="4800600" y="2450592"/>
            <a:ext cx="2286000" cy="228600"/>
          </a:xfrm>
          <a:prstGeom prst="rect">
            <a:avLst/>
          </a:prstGeom>
          <a:noFill/>
          <a:ln/>
        </p:spPr>
        <p:txBody>
          <a:bodyPr wrap="square" lIns="0" tIns="0" rIns="0" bIns="0" rtlCol="0" anchor="ctr"/>
          <a:lstStyle/>
          <a:p>
            <a:pPr indent="0" marL="0">
              <a:buNone/>
            </a:pPr>
            <a:r>
              <a:rPr lang="en-US" sz="950" b="1" dirty="0">
                <a:solidFill>
                  <a:srgbClr val="3B82F6"/>
                </a:solidFill>
                <a:latin typeface="Calibri" pitchFamily="34" charset="0"/>
                <a:ea typeface="Calibri" pitchFamily="34" charset="-122"/>
                <a:cs typeface="Calibri" pitchFamily="34" charset="-120"/>
              </a:rPr>
              <a:t>Frontend Private</a:t>
            </a:r>
            <a:endParaRPr lang="en-US" sz="950" dirty="0"/>
          </a:p>
        </p:txBody>
      </p:sp>
      <p:sp>
        <p:nvSpPr>
          <p:cNvPr id="33" name="Text 26"/>
          <p:cNvSpPr/>
          <p:nvPr/>
        </p:nvSpPr>
        <p:spPr>
          <a:xfrm>
            <a:off x="4800600" y="2752344"/>
            <a:ext cx="22860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10.0.12.0/24</a:t>
            </a:r>
            <a:endParaRPr lang="en-US" sz="900" dirty="0"/>
          </a:p>
        </p:txBody>
      </p:sp>
      <p:pic>
        <p:nvPicPr>
          <p:cNvPr id="34" name="Image 5" descr="preencoded.png">    </p:cNvPr>
          <p:cNvPicPr>
            <a:picLocks noChangeAspect="1"/>
          </p:cNvPicPr>
          <p:nvPr/>
        </p:nvPicPr>
        <p:blipFill>
          <a:blip r:embed="rId6"/>
          <a:stretch>
            <a:fillRect/>
          </a:stretch>
        </p:blipFill>
        <p:spPr>
          <a:xfrm>
            <a:off x="7863840" y="2569464"/>
            <a:ext cx="320040" cy="320040"/>
          </a:xfrm>
          <a:prstGeom prst="rect">
            <a:avLst/>
          </a:prstGeom>
        </p:spPr>
      </p:pic>
      <p:sp>
        <p:nvSpPr>
          <p:cNvPr id="35" name="Shape 27"/>
          <p:cNvSpPr/>
          <p:nvPr/>
        </p:nvSpPr>
        <p:spPr>
          <a:xfrm>
            <a:off x="4727448" y="3182112"/>
            <a:ext cx="3749040" cy="658368"/>
          </a:xfrm>
          <a:prstGeom prst="rect">
            <a:avLst>
              <a:gd name="adj" fmla="val 4167"/>
            </a:avLst>
          </a:prstGeom>
          <a:solidFill>
            <a:srgbClr val="FFF7ED"/>
          </a:solidFill>
          <a:ln w="10160">
            <a:solidFill>
              <a:srgbClr val="F97316"/>
            </a:solidFill>
            <a:prstDash val="solid"/>
          </a:ln>
        </p:spPr>
      </p:sp>
      <p:sp>
        <p:nvSpPr>
          <p:cNvPr id="36" name="Text 28"/>
          <p:cNvSpPr/>
          <p:nvPr/>
        </p:nvSpPr>
        <p:spPr>
          <a:xfrm>
            <a:off x="4800600" y="3227832"/>
            <a:ext cx="2286000" cy="228600"/>
          </a:xfrm>
          <a:prstGeom prst="rect">
            <a:avLst/>
          </a:prstGeom>
          <a:noFill/>
          <a:ln/>
        </p:spPr>
        <p:txBody>
          <a:bodyPr wrap="square" lIns="0" tIns="0" rIns="0" bIns="0" rtlCol="0" anchor="ctr"/>
          <a:lstStyle/>
          <a:p>
            <a:pPr indent="0" marL="0">
              <a:buNone/>
            </a:pPr>
            <a:r>
              <a:rPr lang="en-US" sz="950" b="1" dirty="0">
                <a:solidFill>
                  <a:srgbClr val="F97316"/>
                </a:solidFill>
                <a:latin typeface="Calibri" pitchFamily="34" charset="0"/>
                <a:ea typeface="Calibri" pitchFamily="34" charset="-122"/>
                <a:cs typeface="Calibri" pitchFamily="34" charset="-120"/>
              </a:rPr>
              <a:t>Backend Private</a:t>
            </a:r>
            <a:endParaRPr lang="en-US" sz="950" dirty="0"/>
          </a:p>
        </p:txBody>
      </p:sp>
      <p:sp>
        <p:nvSpPr>
          <p:cNvPr id="37" name="Text 29"/>
          <p:cNvSpPr/>
          <p:nvPr/>
        </p:nvSpPr>
        <p:spPr>
          <a:xfrm>
            <a:off x="4800600" y="3529584"/>
            <a:ext cx="22860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10.0.22.0/24</a:t>
            </a:r>
            <a:endParaRPr lang="en-US" sz="900" dirty="0"/>
          </a:p>
        </p:txBody>
      </p:sp>
      <p:pic>
        <p:nvPicPr>
          <p:cNvPr id="38" name="Image 6" descr="preencoded.png">    </p:cNvPr>
          <p:cNvPicPr>
            <a:picLocks noChangeAspect="1"/>
          </p:cNvPicPr>
          <p:nvPr/>
        </p:nvPicPr>
        <p:blipFill>
          <a:blip r:embed="rId7"/>
          <a:stretch>
            <a:fillRect/>
          </a:stretch>
        </p:blipFill>
        <p:spPr>
          <a:xfrm>
            <a:off x="7863840" y="3346704"/>
            <a:ext cx="320040" cy="320040"/>
          </a:xfrm>
          <a:prstGeom prst="rect">
            <a:avLst/>
          </a:prstGeom>
        </p:spPr>
      </p:pic>
      <p:sp>
        <p:nvSpPr>
          <p:cNvPr id="39" name="Shape 30"/>
          <p:cNvSpPr/>
          <p:nvPr/>
        </p:nvSpPr>
        <p:spPr>
          <a:xfrm>
            <a:off x="4727448" y="3959352"/>
            <a:ext cx="3749040" cy="658368"/>
          </a:xfrm>
          <a:prstGeom prst="rect">
            <a:avLst>
              <a:gd name="adj" fmla="val 4167"/>
            </a:avLst>
          </a:prstGeom>
          <a:solidFill>
            <a:srgbClr val="F5F3FF"/>
          </a:solidFill>
          <a:ln w="10160">
            <a:solidFill>
              <a:srgbClr val="A855F7"/>
            </a:solidFill>
            <a:prstDash val="solid"/>
          </a:ln>
        </p:spPr>
      </p:sp>
      <p:sp>
        <p:nvSpPr>
          <p:cNvPr id="40" name="Text 31"/>
          <p:cNvSpPr/>
          <p:nvPr/>
        </p:nvSpPr>
        <p:spPr>
          <a:xfrm>
            <a:off x="4800600" y="4005072"/>
            <a:ext cx="2286000" cy="228600"/>
          </a:xfrm>
          <a:prstGeom prst="rect">
            <a:avLst/>
          </a:prstGeom>
          <a:noFill/>
          <a:ln/>
        </p:spPr>
        <p:txBody>
          <a:bodyPr wrap="square" lIns="0" tIns="0" rIns="0" bIns="0" rtlCol="0" anchor="ctr"/>
          <a:lstStyle/>
          <a:p>
            <a:pPr indent="0" marL="0">
              <a:buNone/>
            </a:pPr>
            <a:r>
              <a:rPr lang="en-US" sz="950" b="1" dirty="0">
                <a:solidFill>
                  <a:srgbClr val="A855F7"/>
                </a:solidFill>
                <a:latin typeface="Calibri" pitchFamily="34" charset="0"/>
                <a:ea typeface="Calibri" pitchFamily="34" charset="-122"/>
                <a:cs typeface="Calibri" pitchFamily="34" charset="-120"/>
              </a:rPr>
              <a:t>Database Private</a:t>
            </a:r>
            <a:endParaRPr lang="en-US" sz="950" dirty="0"/>
          </a:p>
        </p:txBody>
      </p:sp>
      <p:sp>
        <p:nvSpPr>
          <p:cNvPr id="41" name="Text 32"/>
          <p:cNvSpPr/>
          <p:nvPr/>
        </p:nvSpPr>
        <p:spPr>
          <a:xfrm>
            <a:off x="4800600" y="4306824"/>
            <a:ext cx="2286000"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10.0.32.0/24</a:t>
            </a:r>
            <a:endParaRPr lang="en-US" sz="900" dirty="0"/>
          </a:p>
        </p:txBody>
      </p:sp>
      <p:pic>
        <p:nvPicPr>
          <p:cNvPr id="42" name="Image 7" descr="preencoded.png">    </p:cNvPr>
          <p:cNvPicPr>
            <a:picLocks noChangeAspect="1"/>
          </p:cNvPicPr>
          <p:nvPr/>
        </p:nvPicPr>
        <p:blipFill>
          <a:blip r:embed="rId8"/>
          <a:stretch>
            <a:fillRect/>
          </a:stretch>
        </p:blipFill>
        <p:spPr>
          <a:xfrm>
            <a:off x="7863840" y="4123944"/>
            <a:ext cx="320040" cy="320040"/>
          </a:xfrm>
          <a:prstGeom prst="rect">
            <a:avLst/>
          </a:prstGeom>
        </p:spPr>
      </p:pic>
      <p:sp>
        <p:nvSpPr>
          <p:cNvPr id="43" name="Text 33"/>
          <p:cNvSpPr/>
          <p:nvPr/>
        </p:nvSpPr>
        <p:spPr>
          <a:xfrm>
            <a:off x="8851392" y="960120"/>
            <a:ext cx="0" cy="0"/>
          </a:xfrm>
          <a:prstGeom prst="rect">
            <a:avLst/>
          </a:prstGeom>
          <a:noFill/>
          <a:ln/>
        </p:spPr>
        <p:txBody>
          <a:bodyPr wrap="square" lIns="0" tIns="0" rIns="0" bIns="0" rtlCol="0" anchor="ctr"/>
          <a:lstStyle/>
          <a:p>
            <a:pPr indent="0" marL="0">
              <a:buNone/>
            </a:pPr>
            <a:r>
              <a:rPr lang="en-US" sz="100" dirty="0">
                <a:solidFill>
                  <a:srgbClr val="FFFFFF"/>
                </a:solidFill>
                <a:latin typeface="Calibri" pitchFamily="34" charset="0"/>
                <a:ea typeface="Calibri" pitchFamily="34" charset="-122"/>
                <a:cs typeface="Calibri" pitchFamily="34" charset="-120"/>
              </a:rPr>
              <a:t>Key Components</a:t>
            </a:r>
            <a:endParaRPr lang="en-US" sz="100" dirty="0"/>
          </a:p>
        </p:txBody>
      </p:sp>
      <p:sp>
        <p:nvSpPr>
          <p:cNvPr id="44" name="Shape 34"/>
          <p:cNvSpPr/>
          <p:nvPr/>
        </p:nvSpPr>
        <p:spPr>
          <a:xfrm>
            <a:off x="411480" y="4800600"/>
            <a:ext cx="137160" cy="137160"/>
          </a:xfrm>
          <a:prstGeom prst="rect">
            <a:avLst/>
          </a:prstGeom>
          <a:solidFill>
            <a:srgbClr val="22C55E"/>
          </a:solidFill>
          <a:ln w="12700">
            <a:solidFill>
              <a:srgbClr val="22C55E"/>
            </a:solidFill>
            <a:prstDash val="solid"/>
          </a:ln>
        </p:spPr>
      </p:sp>
      <p:sp>
        <p:nvSpPr>
          <p:cNvPr id="45" name="Text 35"/>
          <p:cNvSpPr/>
          <p:nvPr/>
        </p:nvSpPr>
        <p:spPr>
          <a:xfrm>
            <a:off x="603504" y="4782312"/>
            <a:ext cx="1920240" cy="18288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Internet Gateway + NAT Gateway</a:t>
            </a:r>
            <a:endParaRPr lang="en-US" sz="800" dirty="0"/>
          </a:p>
        </p:txBody>
      </p:sp>
      <p:sp>
        <p:nvSpPr>
          <p:cNvPr id="46" name="Shape 36"/>
          <p:cNvSpPr/>
          <p:nvPr/>
        </p:nvSpPr>
        <p:spPr>
          <a:xfrm>
            <a:off x="2514600" y="4800600"/>
            <a:ext cx="137160" cy="137160"/>
          </a:xfrm>
          <a:prstGeom prst="rect">
            <a:avLst/>
          </a:prstGeom>
          <a:solidFill>
            <a:srgbClr val="EF4444"/>
          </a:solidFill>
          <a:ln w="12700">
            <a:solidFill>
              <a:srgbClr val="EF4444"/>
            </a:solidFill>
            <a:prstDash val="solid"/>
          </a:ln>
        </p:spPr>
      </p:sp>
      <p:sp>
        <p:nvSpPr>
          <p:cNvPr id="47" name="Text 37"/>
          <p:cNvSpPr/>
          <p:nvPr/>
        </p:nvSpPr>
        <p:spPr>
          <a:xfrm>
            <a:off x="2706624" y="4782312"/>
            <a:ext cx="1920240" cy="18288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Bastion Host (Public)</a:t>
            </a:r>
            <a:endParaRPr lang="en-US" sz="800" dirty="0"/>
          </a:p>
        </p:txBody>
      </p:sp>
      <p:sp>
        <p:nvSpPr>
          <p:cNvPr id="48" name="Shape 38"/>
          <p:cNvSpPr/>
          <p:nvPr/>
        </p:nvSpPr>
        <p:spPr>
          <a:xfrm>
            <a:off x="4617720" y="4800600"/>
            <a:ext cx="137160" cy="137160"/>
          </a:xfrm>
          <a:prstGeom prst="rect">
            <a:avLst/>
          </a:prstGeom>
          <a:solidFill>
            <a:srgbClr val="F97316"/>
          </a:solidFill>
          <a:ln w="12700">
            <a:solidFill>
              <a:srgbClr val="F97316"/>
            </a:solidFill>
            <a:prstDash val="solid"/>
          </a:ln>
        </p:spPr>
      </p:sp>
      <p:sp>
        <p:nvSpPr>
          <p:cNvPr id="49" name="Text 39"/>
          <p:cNvSpPr/>
          <p:nvPr/>
        </p:nvSpPr>
        <p:spPr>
          <a:xfrm>
            <a:off x="4809744" y="4782312"/>
            <a:ext cx="1920240" cy="18288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Frontend + Backend ASG</a:t>
            </a:r>
            <a:endParaRPr lang="en-US" sz="800" dirty="0"/>
          </a:p>
        </p:txBody>
      </p:sp>
      <p:sp>
        <p:nvSpPr>
          <p:cNvPr id="50" name="Shape 40"/>
          <p:cNvSpPr/>
          <p:nvPr/>
        </p:nvSpPr>
        <p:spPr>
          <a:xfrm>
            <a:off x="6720840" y="4800600"/>
            <a:ext cx="137160" cy="137160"/>
          </a:xfrm>
          <a:prstGeom prst="rect">
            <a:avLst/>
          </a:prstGeom>
          <a:solidFill>
            <a:srgbClr val="A855F7"/>
          </a:solidFill>
          <a:ln w="12700">
            <a:solidFill>
              <a:srgbClr val="A855F7"/>
            </a:solidFill>
            <a:prstDash val="solid"/>
          </a:ln>
        </p:spPr>
      </p:sp>
      <p:sp>
        <p:nvSpPr>
          <p:cNvPr id="51" name="Text 41"/>
          <p:cNvSpPr/>
          <p:nvPr/>
        </p:nvSpPr>
        <p:spPr>
          <a:xfrm>
            <a:off x="6912864" y="4782312"/>
            <a:ext cx="1920240" cy="18288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RDS Multi-AZ (Primary + Standby)</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Application Request Flow</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Step-by-step path from user browser to data store</a:t>
            </a:r>
            <a:endParaRPr lang="en-US" sz="1100" dirty="0"/>
          </a:p>
        </p:txBody>
      </p:sp>
      <p:sp>
        <p:nvSpPr>
          <p:cNvPr id="5" name="Shape 3"/>
          <p:cNvSpPr/>
          <p:nvPr/>
        </p:nvSpPr>
        <p:spPr>
          <a:xfrm>
            <a:off x="320040" y="987552"/>
            <a:ext cx="4114800" cy="749808"/>
          </a:xfrm>
          <a:prstGeom prst="rect">
            <a:avLst>
              <a:gd name="adj" fmla="val 4878"/>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6" name="Shape 4"/>
          <p:cNvSpPr/>
          <p:nvPr/>
        </p:nvSpPr>
        <p:spPr>
          <a:xfrm>
            <a:off x="420624" y="1124712"/>
            <a:ext cx="475488" cy="475488"/>
          </a:xfrm>
          <a:prstGeom prst="oval">
            <a:avLst/>
          </a:prstGeom>
          <a:solidFill>
            <a:srgbClr val="64748B"/>
          </a:solidFill>
          <a:ln w="12700">
            <a:solidFill>
              <a:srgbClr val="64748B"/>
            </a:solidFill>
            <a:prstDash val="solid"/>
          </a:ln>
        </p:spPr>
      </p:sp>
      <p:pic>
        <p:nvPicPr>
          <p:cNvPr id="7" name="Image 0" descr="preencoded.png">    </p:cNvPr>
          <p:cNvPicPr>
            <a:picLocks noChangeAspect="1"/>
          </p:cNvPicPr>
          <p:nvPr/>
        </p:nvPicPr>
        <p:blipFill>
          <a:blip r:embed="rId1"/>
          <a:stretch>
            <a:fillRect/>
          </a:stretch>
        </p:blipFill>
        <p:spPr>
          <a:xfrm>
            <a:off x="515722" y="1219810"/>
            <a:ext cx="285293" cy="285293"/>
          </a:xfrm>
          <a:prstGeom prst="rect">
            <a:avLst/>
          </a:prstGeom>
        </p:spPr>
      </p:pic>
      <p:sp>
        <p:nvSpPr>
          <p:cNvPr id="8" name="Text 5"/>
          <p:cNvSpPr/>
          <p:nvPr/>
        </p:nvSpPr>
        <p:spPr>
          <a:xfrm>
            <a:off x="987552" y="1042416"/>
            <a:ext cx="333756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1. User Request</a:t>
            </a:r>
            <a:endParaRPr lang="en-US" sz="1200" dirty="0"/>
          </a:p>
        </p:txBody>
      </p:sp>
      <p:sp>
        <p:nvSpPr>
          <p:cNvPr id="9" name="Text 6"/>
          <p:cNvSpPr/>
          <p:nvPr/>
        </p:nvSpPr>
        <p:spPr>
          <a:xfrm>
            <a:off x="987552" y="1335024"/>
            <a:ext cx="3337560"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Browser sends HTTPS request</a:t>
            </a:r>
            <a:endParaRPr lang="en-US" sz="1000" dirty="0"/>
          </a:p>
        </p:txBody>
      </p:sp>
      <p:sp>
        <p:nvSpPr>
          <p:cNvPr id="10" name="Shape 7"/>
          <p:cNvSpPr/>
          <p:nvPr/>
        </p:nvSpPr>
        <p:spPr>
          <a:xfrm>
            <a:off x="2331720" y="1737360"/>
            <a:ext cx="0" cy="137160"/>
          </a:xfrm>
          <a:prstGeom prst="line">
            <a:avLst/>
          </a:prstGeom>
          <a:noFill/>
          <a:ln w="25400">
            <a:solidFill>
              <a:srgbClr val="FF9900"/>
            </a:solidFill>
            <a:prstDash val="solid"/>
            <a:tailEnd type="arrow"/>
          </a:ln>
        </p:spPr>
      </p:sp>
      <p:sp>
        <p:nvSpPr>
          <p:cNvPr id="11" name="Shape 8"/>
          <p:cNvSpPr/>
          <p:nvPr/>
        </p:nvSpPr>
        <p:spPr>
          <a:xfrm>
            <a:off x="320040" y="1874520"/>
            <a:ext cx="4114800" cy="749808"/>
          </a:xfrm>
          <a:prstGeom prst="rect">
            <a:avLst>
              <a:gd name="adj" fmla="val 4878"/>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2" name="Shape 9"/>
          <p:cNvSpPr/>
          <p:nvPr/>
        </p:nvSpPr>
        <p:spPr>
          <a:xfrm>
            <a:off x="420624" y="2011680"/>
            <a:ext cx="475488" cy="475488"/>
          </a:xfrm>
          <a:prstGeom prst="oval">
            <a:avLst/>
          </a:prstGeom>
          <a:solidFill>
            <a:srgbClr val="EF4444"/>
          </a:solidFill>
          <a:ln w="12700">
            <a:solidFill>
              <a:srgbClr val="EF4444"/>
            </a:solidFill>
            <a:prstDash val="solid"/>
          </a:ln>
        </p:spPr>
      </p:sp>
      <p:pic>
        <p:nvPicPr>
          <p:cNvPr id="13" name="Image 1" descr="preencoded.png">    </p:cNvPr>
          <p:cNvPicPr>
            <a:picLocks noChangeAspect="1"/>
          </p:cNvPicPr>
          <p:nvPr/>
        </p:nvPicPr>
        <p:blipFill>
          <a:blip r:embed="rId2"/>
          <a:stretch>
            <a:fillRect/>
          </a:stretch>
        </p:blipFill>
        <p:spPr>
          <a:xfrm>
            <a:off x="515722" y="2106778"/>
            <a:ext cx="285293" cy="285293"/>
          </a:xfrm>
          <a:prstGeom prst="rect">
            <a:avLst/>
          </a:prstGeom>
        </p:spPr>
      </p:pic>
      <p:sp>
        <p:nvSpPr>
          <p:cNvPr id="14" name="Text 10"/>
          <p:cNvSpPr/>
          <p:nvPr/>
        </p:nvSpPr>
        <p:spPr>
          <a:xfrm>
            <a:off x="987552" y="1929384"/>
            <a:ext cx="333756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2. AWS WAF</a:t>
            </a:r>
            <a:endParaRPr lang="en-US" sz="1200" dirty="0"/>
          </a:p>
        </p:txBody>
      </p:sp>
      <p:sp>
        <p:nvSpPr>
          <p:cNvPr id="15" name="Text 11"/>
          <p:cNvSpPr/>
          <p:nvPr/>
        </p:nvSpPr>
        <p:spPr>
          <a:xfrm>
            <a:off x="987552" y="2221992"/>
            <a:ext cx="3337560"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Filters malicious &amp; rate-limited traffic</a:t>
            </a:r>
            <a:endParaRPr lang="en-US" sz="1000" dirty="0"/>
          </a:p>
        </p:txBody>
      </p:sp>
      <p:sp>
        <p:nvSpPr>
          <p:cNvPr id="16" name="Shape 12"/>
          <p:cNvSpPr/>
          <p:nvPr/>
        </p:nvSpPr>
        <p:spPr>
          <a:xfrm>
            <a:off x="2331720" y="2624328"/>
            <a:ext cx="0" cy="137160"/>
          </a:xfrm>
          <a:prstGeom prst="line">
            <a:avLst/>
          </a:prstGeom>
          <a:noFill/>
          <a:ln w="25400">
            <a:solidFill>
              <a:srgbClr val="FF9900"/>
            </a:solidFill>
            <a:prstDash val="solid"/>
            <a:tailEnd type="arrow"/>
          </a:ln>
        </p:spPr>
      </p:sp>
      <p:sp>
        <p:nvSpPr>
          <p:cNvPr id="17" name="Shape 13"/>
          <p:cNvSpPr/>
          <p:nvPr/>
        </p:nvSpPr>
        <p:spPr>
          <a:xfrm>
            <a:off x="320040" y="2761488"/>
            <a:ext cx="4114800" cy="749808"/>
          </a:xfrm>
          <a:prstGeom prst="rect">
            <a:avLst>
              <a:gd name="adj" fmla="val 4878"/>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8" name="Shape 14"/>
          <p:cNvSpPr/>
          <p:nvPr/>
        </p:nvSpPr>
        <p:spPr>
          <a:xfrm>
            <a:off x="420624" y="2898648"/>
            <a:ext cx="475488" cy="475488"/>
          </a:xfrm>
          <a:prstGeom prst="oval">
            <a:avLst/>
          </a:prstGeom>
          <a:solidFill>
            <a:srgbClr val="3B82F6"/>
          </a:solidFill>
          <a:ln w="12700">
            <a:solidFill>
              <a:srgbClr val="3B82F6"/>
            </a:solidFill>
            <a:prstDash val="solid"/>
          </a:ln>
        </p:spPr>
      </p:sp>
      <p:pic>
        <p:nvPicPr>
          <p:cNvPr id="19" name="Image 2" descr="preencoded.png">    </p:cNvPr>
          <p:cNvPicPr>
            <a:picLocks noChangeAspect="1"/>
          </p:cNvPicPr>
          <p:nvPr/>
        </p:nvPicPr>
        <p:blipFill>
          <a:blip r:embed="rId3"/>
          <a:stretch>
            <a:fillRect/>
          </a:stretch>
        </p:blipFill>
        <p:spPr>
          <a:xfrm>
            <a:off x="515722" y="2993746"/>
            <a:ext cx="285293" cy="285293"/>
          </a:xfrm>
          <a:prstGeom prst="rect">
            <a:avLst/>
          </a:prstGeom>
        </p:spPr>
      </p:pic>
      <p:sp>
        <p:nvSpPr>
          <p:cNvPr id="20" name="Text 15"/>
          <p:cNvSpPr/>
          <p:nvPr/>
        </p:nvSpPr>
        <p:spPr>
          <a:xfrm>
            <a:off x="987552" y="2816352"/>
            <a:ext cx="333756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3. CloudFront</a:t>
            </a:r>
            <a:endParaRPr lang="en-US" sz="1200" dirty="0"/>
          </a:p>
        </p:txBody>
      </p:sp>
      <p:sp>
        <p:nvSpPr>
          <p:cNvPr id="21" name="Text 16"/>
          <p:cNvSpPr/>
          <p:nvPr/>
        </p:nvSpPr>
        <p:spPr>
          <a:xfrm>
            <a:off x="987552" y="3108960"/>
            <a:ext cx="3337560"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Cache HIT → serves frontend; MISS → ALB</a:t>
            </a:r>
            <a:endParaRPr lang="en-US" sz="1000" dirty="0"/>
          </a:p>
        </p:txBody>
      </p:sp>
      <p:sp>
        <p:nvSpPr>
          <p:cNvPr id="22" name="Shape 17"/>
          <p:cNvSpPr/>
          <p:nvPr/>
        </p:nvSpPr>
        <p:spPr>
          <a:xfrm>
            <a:off x="2331720" y="3511296"/>
            <a:ext cx="0" cy="137160"/>
          </a:xfrm>
          <a:prstGeom prst="line">
            <a:avLst/>
          </a:prstGeom>
          <a:noFill/>
          <a:ln w="25400">
            <a:solidFill>
              <a:srgbClr val="FF9900"/>
            </a:solidFill>
            <a:prstDash val="solid"/>
            <a:tailEnd type="arrow"/>
          </a:ln>
        </p:spPr>
      </p:sp>
      <p:sp>
        <p:nvSpPr>
          <p:cNvPr id="23" name="Shape 18"/>
          <p:cNvSpPr/>
          <p:nvPr/>
        </p:nvSpPr>
        <p:spPr>
          <a:xfrm>
            <a:off x="320040" y="3648456"/>
            <a:ext cx="4114800" cy="749808"/>
          </a:xfrm>
          <a:prstGeom prst="rect">
            <a:avLst>
              <a:gd name="adj" fmla="val 4878"/>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4" name="Shape 19"/>
          <p:cNvSpPr/>
          <p:nvPr/>
        </p:nvSpPr>
        <p:spPr>
          <a:xfrm>
            <a:off x="420624" y="3785616"/>
            <a:ext cx="475488" cy="475488"/>
          </a:xfrm>
          <a:prstGeom prst="oval">
            <a:avLst/>
          </a:prstGeom>
          <a:solidFill>
            <a:srgbClr val="F97316"/>
          </a:solidFill>
          <a:ln w="12700">
            <a:solidFill>
              <a:srgbClr val="F97316"/>
            </a:solidFill>
            <a:prstDash val="solid"/>
          </a:ln>
        </p:spPr>
      </p:sp>
      <p:pic>
        <p:nvPicPr>
          <p:cNvPr id="25" name="Image 3" descr="preencoded.png">    </p:cNvPr>
          <p:cNvPicPr>
            <a:picLocks noChangeAspect="1"/>
          </p:cNvPicPr>
          <p:nvPr/>
        </p:nvPicPr>
        <p:blipFill>
          <a:blip r:embed="rId4"/>
          <a:stretch>
            <a:fillRect/>
          </a:stretch>
        </p:blipFill>
        <p:spPr>
          <a:xfrm>
            <a:off x="515722" y="3880714"/>
            <a:ext cx="285293" cy="285293"/>
          </a:xfrm>
          <a:prstGeom prst="rect">
            <a:avLst/>
          </a:prstGeom>
        </p:spPr>
      </p:pic>
      <p:sp>
        <p:nvSpPr>
          <p:cNvPr id="26" name="Text 20"/>
          <p:cNvSpPr/>
          <p:nvPr/>
        </p:nvSpPr>
        <p:spPr>
          <a:xfrm>
            <a:off x="987552" y="3703320"/>
            <a:ext cx="333756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4. ALB</a:t>
            </a:r>
            <a:endParaRPr lang="en-US" sz="1200" dirty="0"/>
          </a:p>
        </p:txBody>
      </p:sp>
      <p:sp>
        <p:nvSpPr>
          <p:cNvPr id="27" name="Text 21"/>
          <p:cNvSpPr/>
          <p:nvPr/>
        </p:nvSpPr>
        <p:spPr>
          <a:xfrm>
            <a:off x="987552" y="3995928"/>
            <a:ext cx="3337560"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Path-based routing to target groups</a:t>
            </a:r>
            <a:endParaRPr lang="en-US" sz="1000" dirty="0"/>
          </a:p>
        </p:txBody>
      </p:sp>
      <p:sp>
        <p:nvSpPr>
          <p:cNvPr id="28" name="Shape 22"/>
          <p:cNvSpPr/>
          <p:nvPr/>
        </p:nvSpPr>
        <p:spPr>
          <a:xfrm>
            <a:off x="4754880" y="987552"/>
            <a:ext cx="4023360" cy="749808"/>
          </a:xfrm>
          <a:prstGeom prst="rect">
            <a:avLst>
              <a:gd name="adj" fmla="val 4878"/>
            </a:avLst>
          </a:prstGeom>
          <a:solidFill>
            <a:srgbClr val="EFF6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9" name="Shape 23"/>
          <p:cNvSpPr/>
          <p:nvPr/>
        </p:nvSpPr>
        <p:spPr>
          <a:xfrm>
            <a:off x="4855464" y="1124712"/>
            <a:ext cx="475488" cy="475488"/>
          </a:xfrm>
          <a:prstGeom prst="oval">
            <a:avLst/>
          </a:prstGeom>
          <a:solidFill>
            <a:srgbClr val="0073BB"/>
          </a:solidFill>
          <a:ln w="12700">
            <a:solidFill>
              <a:srgbClr val="0073BB"/>
            </a:solidFill>
            <a:prstDash val="solid"/>
          </a:ln>
        </p:spPr>
      </p:sp>
      <p:pic>
        <p:nvPicPr>
          <p:cNvPr id="30" name="Image 4" descr="preencoded.png">    </p:cNvPr>
          <p:cNvPicPr>
            <a:picLocks noChangeAspect="1"/>
          </p:cNvPicPr>
          <p:nvPr/>
        </p:nvPicPr>
        <p:blipFill>
          <a:blip r:embed="rId5"/>
          <a:stretch>
            <a:fillRect/>
          </a:stretch>
        </p:blipFill>
        <p:spPr>
          <a:xfrm>
            <a:off x="4950562" y="1219810"/>
            <a:ext cx="285293" cy="285293"/>
          </a:xfrm>
          <a:prstGeom prst="rect">
            <a:avLst/>
          </a:prstGeom>
        </p:spPr>
      </p:pic>
      <p:sp>
        <p:nvSpPr>
          <p:cNvPr id="31" name="Text 24"/>
          <p:cNvSpPr/>
          <p:nvPr/>
        </p:nvSpPr>
        <p:spPr>
          <a:xfrm>
            <a:off x="5422392" y="1042416"/>
            <a:ext cx="320040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5a. Frontend (/*)</a:t>
            </a:r>
            <a:endParaRPr lang="en-US" sz="1200" dirty="0"/>
          </a:p>
        </p:txBody>
      </p:sp>
      <p:sp>
        <p:nvSpPr>
          <p:cNvPr id="32" name="Text 25"/>
          <p:cNvSpPr/>
          <p:nvPr/>
        </p:nvSpPr>
        <p:spPr>
          <a:xfrm>
            <a:off x="5422392" y="1335024"/>
            <a:ext cx="3200400"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React app served via CloudFront cache</a:t>
            </a:r>
            <a:endParaRPr lang="en-US" sz="1000" dirty="0"/>
          </a:p>
        </p:txBody>
      </p:sp>
      <p:sp>
        <p:nvSpPr>
          <p:cNvPr id="33" name="Shape 26"/>
          <p:cNvSpPr/>
          <p:nvPr/>
        </p:nvSpPr>
        <p:spPr>
          <a:xfrm>
            <a:off x="4754880" y="1874520"/>
            <a:ext cx="4023360" cy="749808"/>
          </a:xfrm>
          <a:prstGeom prst="rect">
            <a:avLst>
              <a:gd name="adj" fmla="val 4878"/>
            </a:avLst>
          </a:prstGeom>
          <a:solidFill>
            <a:srgbClr val="F0FDF4"/>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34" name="Shape 27"/>
          <p:cNvSpPr/>
          <p:nvPr/>
        </p:nvSpPr>
        <p:spPr>
          <a:xfrm>
            <a:off x="4855464" y="2011680"/>
            <a:ext cx="475488" cy="475488"/>
          </a:xfrm>
          <a:prstGeom prst="oval">
            <a:avLst/>
          </a:prstGeom>
          <a:solidFill>
            <a:srgbClr val="22C55E"/>
          </a:solidFill>
          <a:ln w="12700">
            <a:solidFill>
              <a:srgbClr val="22C55E"/>
            </a:solidFill>
            <a:prstDash val="solid"/>
          </a:ln>
        </p:spPr>
      </p:sp>
      <p:pic>
        <p:nvPicPr>
          <p:cNvPr id="35" name="Image 5" descr="preencoded.png">    </p:cNvPr>
          <p:cNvPicPr>
            <a:picLocks noChangeAspect="1"/>
          </p:cNvPicPr>
          <p:nvPr/>
        </p:nvPicPr>
        <p:blipFill>
          <a:blip r:embed="rId6"/>
          <a:stretch>
            <a:fillRect/>
          </a:stretch>
        </p:blipFill>
        <p:spPr>
          <a:xfrm>
            <a:off x="4950562" y="2106778"/>
            <a:ext cx="285293" cy="285293"/>
          </a:xfrm>
          <a:prstGeom prst="rect">
            <a:avLst/>
          </a:prstGeom>
        </p:spPr>
      </p:pic>
      <p:sp>
        <p:nvSpPr>
          <p:cNvPr id="36" name="Text 28"/>
          <p:cNvSpPr/>
          <p:nvPr/>
        </p:nvSpPr>
        <p:spPr>
          <a:xfrm>
            <a:off x="5422392" y="1929384"/>
            <a:ext cx="320040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5b. Backend (/api/*)</a:t>
            </a:r>
            <a:endParaRPr lang="en-US" sz="1200" dirty="0"/>
          </a:p>
        </p:txBody>
      </p:sp>
      <p:sp>
        <p:nvSpPr>
          <p:cNvPr id="37" name="Text 29"/>
          <p:cNvSpPr/>
          <p:nvPr/>
        </p:nvSpPr>
        <p:spPr>
          <a:xfrm>
            <a:off x="5422392" y="2221992"/>
            <a:ext cx="3200400"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Express REST API — processes requests</a:t>
            </a:r>
            <a:endParaRPr lang="en-US" sz="1000" dirty="0"/>
          </a:p>
        </p:txBody>
      </p:sp>
      <p:sp>
        <p:nvSpPr>
          <p:cNvPr id="38" name="Shape 30"/>
          <p:cNvSpPr/>
          <p:nvPr/>
        </p:nvSpPr>
        <p:spPr>
          <a:xfrm>
            <a:off x="4754880" y="2788920"/>
            <a:ext cx="4023360" cy="749808"/>
          </a:xfrm>
          <a:prstGeom prst="rect">
            <a:avLst>
              <a:gd name="adj" fmla="val 4878"/>
            </a:avLst>
          </a:prstGeom>
          <a:solidFill>
            <a:srgbClr val="F5F3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39" name="Shape 31"/>
          <p:cNvSpPr/>
          <p:nvPr/>
        </p:nvSpPr>
        <p:spPr>
          <a:xfrm>
            <a:off x="4855464" y="2926080"/>
            <a:ext cx="475488" cy="475488"/>
          </a:xfrm>
          <a:prstGeom prst="oval">
            <a:avLst/>
          </a:prstGeom>
          <a:solidFill>
            <a:srgbClr val="A855F7"/>
          </a:solidFill>
          <a:ln w="12700">
            <a:solidFill>
              <a:srgbClr val="A855F7"/>
            </a:solidFill>
            <a:prstDash val="solid"/>
          </a:ln>
        </p:spPr>
      </p:sp>
      <p:pic>
        <p:nvPicPr>
          <p:cNvPr id="40" name="Image 6" descr="preencoded.png">    </p:cNvPr>
          <p:cNvPicPr>
            <a:picLocks noChangeAspect="1"/>
          </p:cNvPicPr>
          <p:nvPr/>
        </p:nvPicPr>
        <p:blipFill>
          <a:blip r:embed="rId7"/>
          <a:stretch>
            <a:fillRect/>
          </a:stretch>
        </p:blipFill>
        <p:spPr>
          <a:xfrm>
            <a:off x="4950562" y="3021178"/>
            <a:ext cx="285293" cy="285293"/>
          </a:xfrm>
          <a:prstGeom prst="rect">
            <a:avLst/>
          </a:prstGeom>
        </p:spPr>
      </p:pic>
      <p:sp>
        <p:nvSpPr>
          <p:cNvPr id="41" name="Text 32"/>
          <p:cNvSpPr/>
          <p:nvPr/>
        </p:nvSpPr>
        <p:spPr>
          <a:xfrm>
            <a:off x="5422392" y="2843784"/>
            <a:ext cx="3200400" cy="292608"/>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6. RDS PostgreSQL / S3</a:t>
            </a:r>
            <a:endParaRPr lang="en-US" sz="1200" dirty="0"/>
          </a:p>
        </p:txBody>
      </p:sp>
      <p:sp>
        <p:nvSpPr>
          <p:cNvPr id="42" name="Text 33"/>
          <p:cNvSpPr/>
          <p:nvPr/>
        </p:nvSpPr>
        <p:spPr>
          <a:xfrm>
            <a:off x="5422392" y="3136392"/>
            <a:ext cx="3200400"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Persist data or fetch encrypted files</a:t>
            </a:r>
            <a:endParaRPr lang="en-US" sz="1000" dirty="0"/>
          </a:p>
        </p:txBody>
      </p:sp>
      <p:sp>
        <p:nvSpPr>
          <p:cNvPr id="43" name="Shape 34"/>
          <p:cNvSpPr/>
          <p:nvPr/>
        </p:nvSpPr>
        <p:spPr>
          <a:xfrm>
            <a:off x="4434840" y="3017520"/>
            <a:ext cx="320040" cy="-1655064"/>
          </a:xfrm>
          <a:prstGeom prst="line">
            <a:avLst/>
          </a:prstGeom>
          <a:noFill/>
          <a:ln w="19050">
            <a:solidFill>
              <a:srgbClr val="FF9900"/>
            </a:solidFill>
            <a:prstDash val="solid"/>
            <a:tailEnd type="arrow"/>
          </a:ln>
        </p:spPr>
      </p:sp>
      <p:sp>
        <p:nvSpPr>
          <p:cNvPr id="44" name="Shape 35"/>
          <p:cNvSpPr/>
          <p:nvPr/>
        </p:nvSpPr>
        <p:spPr>
          <a:xfrm>
            <a:off x="4434840" y="3200400"/>
            <a:ext cx="320040" cy="-950976"/>
          </a:xfrm>
          <a:prstGeom prst="line">
            <a:avLst/>
          </a:prstGeom>
          <a:noFill/>
          <a:ln w="19050">
            <a:solidFill>
              <a:srgbClr val="FF9900"/>
            </a:solidFill>
            <a:prstDash val="solid"/>
            <a:tailEnd type="arrow"/>
          </a:ln>
        </p:spPr>
      </p:sp>
      <p:sp>
        <p:nvSpPr>
          <p:cNvPr id="45" name="Shape 36"/>
          <p:cNvSpPr/>
          <p:nvPr/>
        </p:nvSpPr>
        <p:spPr>
          <a:xfrm>
            <a:off x="6766560" y="1737360"/>
            <a:ext cx="0" cy="1051560"/>
          </a:xfrm>
          <a:prstGeom prst="line">
            <a:avLst/>
          </a:prstGeom>
          <a:noFill/>
          <a:ln w="19050">
            <a:solidFill>
              <a:srgbClr val="FF9900"/>
            </a:solidFill>
            <a:prstDash val="solid"/>
            <a:tailEnd type="arrow"/>
          </a:ln>
        </p:spPr>
      </p:sp>
      <p:sp>
        <p:nvSpPr>
          <p:cNvPr id="46" name="Shape 37"/>
          <p:cNvSpPr/>
          <p:nvPr/>
        </p:nvSpPr>
        <p:spPr>
          <a:xfrm>
            <a:off x="6766560" y="2624328"/>
            <a:ext cx="0" cy="164592"/>
          </a:xfrm>
          <a:prstGeom prst="line">
            <a:avLst/>
          </a:prstGeom>
          <a:noFill/>
          <a:ln w="19050">
            <a:solidFill>
              <a:srgbClr val="FF9900"/>
            </a:solidFill>
            <a:prstDash val="solid"/>
            <a:tailEnd type="arrow"/>
          </a:ln>
        </p:spPr>
      </p:sp>
      <p:sp>
        <p:nvSpPr>
          <p:cNvPr id="47" name="Text 38"/>
          <p:cNvSpPr/>
          <p:nvPr/>
        </p:nvSpPr>
        <p:spPr>
          <a:xfrm>
            <a:off x="4462272" y="1280160"/>
            <a:ext cx="1097280" cy="182880"/>
          </a:xfrm>
          <a:prstGeom prst="rect">
            <a:avLst/>
          </a:prstGeom>
          <a:noFill/>
          <a:ln/>
        </p:spPr>
        <p:txBody>
          <a:bodyPr wrap="square" lIns="0" tIns="0" rIns="0" bIns="0" rtlCol="0" anchor="ctr"/>
          <a:lstStyle/>
          <a:p>
            <a:pPr indent="0" marL="0">
              <a:buNone/>
            </a:pPr>
            <a:r>
              <a:rPr lang="en-US" sz="800" dirty="0">
                <a:solidFill>
                  <a:srgbClr val="FF9900"/>
                </a:solidFill>
                <a:latin typeface="Calibri" pitchFamily="34" charset="0"/>
                <a:ea typeface="Calibri" pitchFamily="34" charset="-122"/>
                <a:cs typeface="Calibri" pitchFamily="34" charset="-120"/>
              </a:rPr>
              <a:t>Path: /*</a:t>
            </a:r>
            <a:endParaRPr lang="en-US" sz="800" dirty="0"/>
          </a:p>
        </p:txBody>
      </p:sp>
      <p:sp>
        <p:nvSpPr>
          <p:cNvPr id="48" name="Text 39"/>
          <p:cNvSpPr/>
          <p:nvPr/>
        </p:nvSpPr>
        <p:spPr>
          <a:xfrm>
            <a:off x="4462272" y="2176272"/>
            <a:ext cx="1097280" cy="182880"/>
          </a:xfrm>
          <a:prstGeom prst="rect">
            <a:avLst/>
          </a:prstGeom>
          <a:noFill/>
          <a:ln/>
        </p:spPr>
        <p:txBody>
          <a:bodyPr wrap="square" lIns="0" tIns="0" rIns="0" bIns="0" rtlCol="0" anchor="ctr"/>
          <a:lstStyle/>
          <a:p>
            <a:pPr indent="0" marL="0">
              <a:buNone/>
            </a:pPr>
            <a:r>
              <a:rPr lang="en-US" sz="800" dirty="0">
                <a:solidFill>
                  <a:srgbClr val="FF9900"/>
                </a:solidFill>
                <a:latin typeface="Calibri" pitchFamily="34" charset="0"/>
                <a:ea typeface="Calibri" pitchFamily="34" charset="-122"/>
                <a:cs typeface="Calibri" pitchFamily="34" charset="-120"/>
              </a:rPr>
              <a:t>Path: /api/*</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Terraform Infrastructure as Code</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Automated, repeatable, version-controlled provisioning</a:t>
            </a:r>
            <a:endParaRPr lang="en-US" sz="1100" dirty="0"/>
          </a:p>
        </p:txBody>
      </p:sp>
      <p:sp>
        <p:nvSpPr>
          <p:cNvPr id="5" name="Shape 3"/>
          <p:cNvSpPr/>
          <p:nvPr/>
        </p:nvSpPr>
        <p:spPr>
          <a:xfrm>
            <a:off x="320040" y="1005840"/>
            <a:ext cx="4023360" cy="667512"/>
          </a:xfrm>
          <a:prstGeom prst="rect">
            <a:avLst>
              <a:gd name="adj" fmla="val 5479"/>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6" name="Shape 4"/>
          <p:cNvSpPr/>
          <p:nvPr/>
        </p:nvSpPr>
        <p:spPr>
          <a:xfrm>
            <a:off x="429768" y="1101852"/>
            <a:ext cx="475488" cy="475488"/>
          </a:xfrm>
          <a:prstGeom prst="oval">
            <a:avLst/>
          </a:prstGeom>
          <a:solidFill>
            <a:srgbClr val="F97316"/>
          </a:solidFill>
          <a:ln w="12700">
            <a:solidFill>
              <a:srgbClr val="F97316"/>
            </a:solidFill>
            <a:prstDash val="solid"/>
          </a:ln>
        </p:spPr>
      </p:sp>
      <p:pic>
        <p:nvPicPr>
          <p:cNvPr id="7" name="Image 0" descr="preencoded.png">    </p:cNvPr>
          <p:cNvPicPr>
            <a:picLocks noChangeAspect="1"/>
          </p:cNvPicPr>
          <p:nvPr/>
        </p:nvPicPr>
        <p:blipFill>
          <a:blip r:embed="rId1"/>
          <a:stretch>
            <a:fillRect/>
          </a:stretch>
        </p:blipFill>
        <p:spPr>
          <a:xfrm>
            <a:off x="524866" y="1196950"/>
            <a:ext cx="285293" cy="285293"/>
          </a:xfrm>
          <a:prstGeom prst="rect">
            <a:avLst/>
          </a:prstGeom>
        </p:spPr>
      </p:pic>
      <p:sp>
        <p:nvSpPr>
          <p:cNvPr id="8" name="Text 5"/>
          <p:cNvSpPr/>
          <p:nvPr/>
        </p:nvSpPr>
        <p:spPr>
          <a:xfrm>
            <a:off x="1005840" y="1060704"/>
            <a:ext cx="320040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Automation</a:t>
            </a:r>
            <a:endParaRPr lang="en-US" sz="1200" dirty="0"/>
          </a:p>
        </p:txBody>
      </p:sp>
      <p:sp>
        <p:nvSpPr>
          <p:cNvPr id="9" name="Text 6"/>
          <p:cNvSpPr/>
          <p:nvPr/>
        </p:nvSpPr>
        <p:spPr>
          <a:xfrm>
            <a:off x="1005840" y="1325880"/>
            <a:ext cx="32004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Full infrastructure deployed with terraform apply</a:t>
            </a:r>
            <a:endParaRPr lang="en-US" sz="1000" dirty="0"/>
          </a:p>
        </p:txBody>
      </p:sp>
      <p:sp>
        <p:nvSpPr>
          <p:cNvPr id="10" name="Shape 7"/>
          <p:cNvSpPr/>
          <p:nvPr/>
        </p:nvSpPr>
        <p:spPr>
          <a:xfrm>
            <a:off x="320040" y="1764792"/>
            <a:ext cx="4023360" cy="667512"/>
          </a:xfrm>
          <a:prstGeom prst="rect">
            <a:avLst>
              <a:gd name="adj" fmla="val 5479"/>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1" name="Shape 8"/>
          <p:cNvSpPr/>
          <p:nvPr/>
        </p:nvSpPr>
        <p:spPr>
          <a:xfrm>
            <a:off x="429768" y="1860804"/>
            <a:ext cx="475488" cy="475488"/>
          </a:xfrm>
          <a:prstGeom prst="oval">
            <a:avLst/>
          </a:prstGeom>
          <a:solidFill>
            <a:srgbClr val="0073BB"/>
          </a:solidFill>
          <a:ln w="12700">
            <a:solidFill>
              <a:srgbClr val="0073BB"/>
            </a:solidFill>
            <a:prstDash val="solid"/>
          </a:ln>
        </p:spPr>
      </p:sp>
      <p:pic>
        <p:nvPicPr>
          <p:cNvPr id="12" name="Image 1" descr="preencoded.png">    </p:cNvPr>
          <p:cNvPicPr>
            <a:picLocks noChangeAspect="1"/>
          </p:cNvPicPr>
          <p:nvPr/>
        </p:nvPicPr>
        <p:blipFill>
          <a:blip r:embed="rId2"/>
          <a:stretch>
            <a:fillRect/>
          </a:stretch>
        </p:blipFill>
        <p:spPr>
          <a:xfrm>
            <a:off x="524866" y="1955902"/>
            <a:ext cx="285293" cy="285293"/>
          </a:xfrm>
          <a:prstGeom prst="rect">
            <a:avLst/>
          </a:prstGeom>
        </p:spPr>
      </p:pic>
      <p:sp>
        <p:nvSpPr>
          <p:cNvPr id="13" name="Text 9"/>
          <p:cNvSpPr/>
          <p:nvPr/>
        </p:nvSpPr>
        <p:spPr>
          <a:xfrm>
            <a:off x="1005840" y="1819656"/>
            <a:ext cx="320040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Repeatability</a:t>
            </a:r>
            <a:endParaRPr lang="en-US" sz="1200" dirty="0"/>
          </a:p>
        </p:txBody>
      </p:sp>
      <p:sp>
        <p:nvSpPr>
          <p:cNvPr id="14" name="Text 10"/>
          <p:cNvSpPr/>
          <p:nvPr/>
        </p:nvSpPr>
        <p:spPr>
          <a:xfrm>
            <a:off x="1005840" y="2084832"/>
            <a:ext cx="32004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Identical environments every time — dev, staging, prod</a:t>
            </a:r>
            <a:endParaRPr lang="en-US" sz="1000" dirty="0"/>
          </a:p>
        </p:txBody>
      </p:sp>
      <p:sp>
        <p:nvSpPr>
          <p:cNvPr id="15" name="Shape 11"/>
          <p:cNvSpPr/>
          <p:nvPr/>
        </p:nvSpPr>
        <p:spPr>
          <a:xfrm>
            <a:off x="320040" y="2523744"/>
            <a:ext cx="4023360" cy="667512"/>
          </a:xfrm>
          <a:prstGeom prst="rect">
            <a:avLst>
              <a:gd name="adj" fmla="val 5479"/>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6" name="Shape 12"/>
          <p:cNvSpPr/>
          <p:nvPr/>
        </p:nvSpPr>
        <p:spPr>
          <a:xfrm>
            <a:off x="429768" y="2619756"/>
            <a:ext cx="475488" cy="475488"/>
          </a:xfrm>
          <a:prstGeom prst="oval">
            <a:avLst/>
          </a:prstGeom>
          <a:solidFill>
            <a:srgbClr val="7C3AED"/>
          </a:solidFill>
          <a:ln w="12700">
            <a:solidFill>
              <a:srgbClr val="7C3AED"/>
            </a:solidFill>
            <a:prstDash val="solid"/>
          </a:ln>
        </p:spPr>
      </p:sp>
      <p:pic>
        <p:nvPicPr>
          <p:cNvPr id="17" name="Image 2" descr="preencoded.png">    </p:cNvPr>
          <p:cNvPicPr>
            <a:picLocks noChangeAspect="1"/>
          </p:cNvPicPr>
          <p:nvPr/>
        </p:nvPicPr>
        <p:blipFill>
          <a:blip r:embed="rId3"/>
          <a:stretch>
            <a:fillRect/>
          </a:stretch>
        </p:blipFill>
        <p:spPr>
          <a:xfrm>
            <a:off x="524866" y="2714854"/>
            <a:ext cx="285293" cy="285293"/>
          </a:xfrm>
          <a:prstGeom prst="rect">
            <a:avLst/>
          </a:prstGeom>
        </p:spPr>
      </p:pic>
      <p:sp>
        <p:nvSpPr>
          <p:cNvPr id="18" name="Text 13"/>
          <p:cNvSpPr/>
          <p:nvPr/>
        </p:nvSpPr>
        <p:spPr>
          <a:xfrm>
            <a:off x="1005840" y="2578608"/>
            <a:ext cx="320040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Version Control</a:t>
            </a:r>
            <a:endParaRPr lang="en-US" sz="1200" dirty="0"/>
          </a:p>
        </p:txBody>
      </p:sp>
      <p:sp>
        <p:nvSpPr>
          <p:cNvPr id="19" name="Text 14"/>
          <p:cNvSpPr/>
          <p:nvPr/>
        </p:nvSpPr>
        <p:spPr>
          <a:xfrm>
            <a:off x="1005840" y="2843784"/>
            <a:ext cx="32004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Infrastructure changes tracked in Git like application code</a:t>
            </a:r>
            <a:endParaRPr lang="en-US" sz="1000" dirty="0"/>
          </a:p>
        </p:txBody>
      </p:sp>
      <p:sp>
        <p:nvSpPr>
          <p:cNvPr id="20" name="Shape 15"/>
          <p:cNvSpPr/>
          <p:nvPr/>
        </p:nvSpPr>
        <p:spPr>
          <a:xfrm>
            <a:off x="320040" y="3282696"/>
            <a:ext cx="4023360" cy="667512"/>
          </a:xfrm>
          <a:prstGeom prst="rect">
            <a:avLst>
              <a:gd name="adj" fmla="val 5479"/>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1" name="Shape 16"/>
          <p:cNvSpPr/>
          <p:nvPr/>
        </p:nvSpPr>
        <p:spPr>
          <a:xfrm>
            <a:off x="429768" y="3378708"/>
            <a:ext cx="475488" cy="475488"/>
          </a:xfrm>
          <a:prstGeom prst="oval">
            <a:avLst/>
          </a:prstGeom>
          <a:solidFill>
            <a:srgbClr val="22C55E"/>
          </a:solidFill>
          <a:ln w="12700">
            <a:solidFill>
              <a:srgbClr val="22C55E"/>
            </a:solidFill>
            <a:prstDash val="solid"/>
          </a:ln>
        </p:spPr>
      </p:sp>
      <p:pic>
        <p:nvPicPr>
          <p:cNvPr id="22" name="Image 3" descr="preencoded.png">    </p:cNvPr>
          <p:cNvPicPr>
            <a:picLocks noChangeAspect="1"/>
          </p:cNvPicPr>
          <p:nvPr/>
        </p:nvPicPr>
        <p:blipFill>
          <a:blip r:embed="rId4"/>
          <a:stretch>
            <a:fillRect/>
          </a:stretch>
        </p:blipFill>
        <p:spPr>
          <a:xfrm>
            <a:off x="524866" y="3473806"/>
            <a:ext cx="285293" cy="285293"/>
          </a:xfrm>
          <a:prstGeom prst="rect">
            <a:avLst/>
          </a:prstGeom>
        </p:spPr>
      </p:pic>
      <p:sp>
        <p:nvSpPr>
          <p:cNvPr id="23" name="Text 17"/>
          <p:cNvSpPr/>
          <p:nvPr/>
        </p:nvSpPr>
        <p:spPr>
          <a:xfrm>
            <a:off x="1005840" y="3337560"/>
            <a:ext cx="320040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Collaboration</a:t>
            </a:r>
            <a:endParaRPr lang="en-US" sz="1200" dirty="0"/>
          </a:p>
        </p:txBody>
      </p:sp>
      <p:sp>
        <p:nvSpPr>
          <p:cNvPr id="24" name="Text 18"/>
          <p:cNvSpPr/>
          <p:nvPr/>
        </p:nvSpPr>
        <p:spPr>
          <a:xfrm>
            <a:off x="1005840" y="3602736"/>
            <a:ext cx="32004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Remote state enables team-based workflows safely</a:t>
            </a:r>
            <a:endParaRPr lang="en-US" sz="1000" dirty="0"/>
          </a:p>
        </p:txBody>
      </p:sp>
      <p:sp>
        <p:nvSpPr>
          <p:cNvPr id="25" name="Shape 19"/>
          <p:cNvSpPr/>
          <p:nvPr/>
        </p:nvSpPr>
        <p:spPr>
          <a:xfrm>
            <a:off x="320040" y="4041648"/>
            <a:ext cx="4023360" cy="667512"/>
          </a:xfrm>
          <a:prstGeom prst="rect">
            <a:avLst>
              <a:gd name="adj" fmla="val 5479"/>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6" name="Shape 20"/>
          <p:cNvSpPr/>
          <p:nvPr/>
        </p:nvSpPr>
        <p:spPr>
          <a:xfrm>
            <a:off x="429768" y="4137660"/>
            <a:ext cx="475488" cy="475488"/>
          </a:xfrm>
          <a:prstGeom prst="oval">
            <a:avLst/>
          </a:prstGeom>
          <a:solidFill>
            <a:srgbClr val="EF4444"/>
          </a:solidFill>
          <a:ln w="12700">
            <a:solidFill>
              <a:srgbClr val="EF4444"/>
            </a:solidFill>
            <a:prstDash val="solid"/>
          </a:ln>
        </p:spPr>
      </p:sp>
      <p:pic>
        <p:nvPicPr>
          <p:cNvPr id="27" name="Image 4" descr="preencoded.png">    </p:cNvPr>
          <p:cNvPicPr>
            <a:picLocks noChangeAspect="1"/>
          </p:cNvPicPr>
          <p:nvPr/>
        </p:nvPicPr>
        <p:blipFill>
          <a:blip r:embed="rId5"/>
          <a:stretch>
            <a:fillRect/>
          </a:stretch>
        </p:blipFill>
        <p:spPr>
          <a:xfrm>
            <a:off x="524866" y="4232758"/>
            <a:ext cx="285293" cy="285293"/>
          </a:xfrm>
          <a:prstGeom prst="rect">
            <a:avLst/>
          </a:prstGeom>
        </p:spPr>
      </p:pic>
      <p:sp>
        <p:nvSpPr>
          <p:cNvPr id="28" name="Text 21"/>
          <p:cNvSpPr/>
          <p:nvPr/>
        </p:nvSpPr>
        <p:spPr>
          <a:xfrm>
            <a:off x="1005840" y="4096512"/>
            <a:ext cx="320040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Error Reduction</a:t>
            </a:r>
            <a:endParaRPr lang="en-US" sz="1200" dirty="0"/>
          </a:p>
        </p:txBody>
      </p:sp>
      <p:sp>
        <p:nvSpPr>
          <p:cNvPr id="29" name="Text 22"/>
          <p:cNvSpPr/>
          <p:nvPr/>
        </p:nvSpPr>
        <p:spPr>
          <a:xfrm>
            <a:off x="1005840" y="4361688"/>
            <a:ext cx="32004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No manual SSH — eliminates human configuration drift</a:t>
            </a:r>
            <a:endParaRPr lang="en-US" sz="1000" dirty="0"/>
          </a:p>
        </p:txBody>
      </p:sp>
      <p:sp>
        <p:nvSpPr>
          <p:cNvPr id="30" name="Shape 23"/>
          <p:cNvSpPr/>
          <p:nvPr/>
        </p:nvSpPr>
        <p:spPr>
          <a:xfrm>
            <a:off x="4663440" y="1005840"/>
            <a:ext cx="4160520" cy="3794760"/>
          </a:xfrm>
          <a:prstGeom prst="rect">
            <a:avLst>
              <a:gd name="adj" fmla="val 964"/>
            </a:avLst>
          </a:prstGeom>
          <a:solidFill>
            <a:srgbClr val="F5F0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31" name="Text 24"/>
          <p:cNvSpPr/>
          <p:nvPr/>
        </p:nvSpPr>
        <p:spPr>
          <a:xfrm>
            <a:off x="4754880" y="1051560"/>
            <a:ext cx="3977640" cy="320040"/>
          </a:xfrm>
          <a:prstGeom prst="rect">
            <a:avLst/>
          </a:prstGeom>
          <a:noFill/>
          <a:ln/>
        </p:spPr>
        <p:txBody>
          <a:bodyPr wrap="square" lIns="0" tIns="0" rIns="0" bIns="0" rtlCol="0" anchor="ctr"/>
          <a:lstStyle/>
          <a:p>
            <a:pPr algn="ctr" indent="0" marL="0">
              <a:buNone/>
            </a:pPr>
            <a:r>
              <a:rPr lang="en-US" sz="1400" b="1" dirty="0">
                <a:solidFill>
                  <a:srgbClr val="7C3AED"/>
                </a:solidFill>
                <a:latin typeface="Cambria" pitchFamily="34" charset="0"/>
                <a:ea typeface="Cambria" pitchFamily="34" charset="-122"/>
                <a:cs typeface="Cambria" pitchFamily="34" charset="-120"/>
              </a:rPr>
              <a:t>Terraform Workflow</a:t>
            </a:r>
            <a:endParaRPr lang="en-US" sz="1400" dirty="0"/>
          </a:p>
        </p:txBody>
      </p:sp>
      <p:sp>
        <p:nvSpPr>
          <p:cNvPr id="32" name="Shape 25"/>
          <p:cNvSpPr/>
          <p:nvPr/>
        </p:nvSpPr>
        <p:spPr>
          <a:xfrm>
            <a:off x="4754880" y="1508760"/>
            <a:ext cx="868680" cy="594360"/>
          </a:xfrm>
          <a:prstGeom prst="rect">
            <a:avLst>
              <a:gd name="adj" fmla="val 6154"/>
            </a:avLst>
          </a:prstGeom>
          <a:solidFill>
            <a:srgbClr val="7C3AED"/>
          </a:solidFill>
          <a:ln w="12700">
            <a:solidFill>
              <a:srgbClr val="7C3AED"/>
            </a:solidFill>
            <a:prstDash val="solid"/>
          </a:ln>
          <a:effectLst>
            <a:outerShdw sx="100000" sy="100000" kx="0" ky="0" algn="bl" rotWithShape="0" blurRad="101600" dist="25400" dir="2700000">
              <a:srgbClr val="000000">
                <a:alpha val="12000"/>
              </a:srgbClr>
            </a:outerShdw>
          </a:effectLst>
        </p:spPr>
      </p:sp>
      <p:pic>
        <p:nvPicPr>
          <p:cNvPr id="33" name="Image 5" descr="preencoded.png">    </p:cNvPr>
          <p:cNvPicPr>
            <a:picLocks noChangeAspect="1"/>
          </p:cNvPicPr>
          <p:nvPr/>
        </p:nvPicPr>
        <p:blipFill>
          <a:blip r:embed="rId6"/>
          <a:stretch>
            <a:fillRect/>
          </a:stretch>
        </p:blipFill>
        <p:spPr>
          <a:xfrm>
            <a:off x="5056632" y="1554480"/>
            <a:ext cx="256032" cy="256032"/>
          </a:xfrm>
          <a:prstGeom prst="rect">
            <a:avLst/>
          </a:prstGeom>
        </p:spPr>
      </p:pic>
      <p:sp>
        <p:nvSpPr>
          <p:cNvPr id="34" name="Text 26"/>
          <p:cNvSpPr/>
          <p:nvPr/>
        </p:nvSpPr>
        <p:spPr>
          <a:xfrm>
            <a:off x="4754880" y="1828800"/>
            <a:ext cx="86868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Write</a:t>
            </a:r>
            <a:endParaRPr lang="en-US" sz="900" dirty="0"/>
          </a:p>
        </p:txBody>
      </p:sp>
      <p:sp>
        <p:nvSpPr>
          <p:cNvPr id="35" name="Shape 27"/>
          <p:cNvSpPr/>
          <p:nvPr/>
        </p:nvSpPr>
        <p:spPr>
          <a:xfrm>
            <a:off x="5623560" y="1801368"/>
            <a:ext cx="118872" cy="0"/>
          </a:xfrm>
          <a:prstGeom prst="line">
            <a:avLst/>
          </a:prstGeom>
          <a:noFill/>
          <a:ln w="19050">
            <a:solidFill>
              <a:srgbClr val="FF9900"/>
            </a:solidFill>
            <a:prstDash val="solid"/>
            <a:tailEnd type="arrow"/>
          </a:ln>
        </p:spPr>
      </p:sp>
      <p:sp>
        <p:nvSpPr>
          <p:cNvPr id="36" name="Shape 28"/>
          <p:cNvSpPr/>
          <p:nvPr/>
        </p:nvSpPr>
        <p:spPr>
          <a:xfrm>
            <a:off x="5742432" y="1508760"/>
            <a:ext cx="868680" cy="594360"/>
          </a:xfrm>
          <a:prstGeom prst="rect">
            <a:avLst>
              <a:gd name="adj" fmla="val 6154"/>
            </a:avLst>
          </a:prstGeom>
          <a:solidFill>
            <a:srgbClr val="0073BB"/>
          </a:solidFill>
          <a:ln w="12700">
            <a:solidFill>
              <a:srgbClr val="0073BB"/>
            </a:solidFill>
            <a:prstDash val="solid"/>
          </a:ln>
          <a:effectLst>
            <a:outerShdw sx="100000" sy="100000" kx="0" ky="0" algn="bl" rotWithShape="0" blurRad="101600" dist="25400" dir="2700000">
              <a:srgbClr val="000000">
                <a:alpha val="12000"/>
              </a:srgbClr>
            </a:outerShdw>
          </a:effectLst>
        </p:spPr>
      </p:sp>
      <p:pic>
        <p:nvPicPr>
          <p:cNvPr id="37" name="Image 6" descr="preencoded.png">    </p:cNvPr>
          <p:cNvPicPr>
            <a:picLocks noChangeAspect="1"/>
          </p:cNvPicPr>
          <p:nvPr/>
        </p:nvPicPr>
        <p:blipFill>
          <a:blip r:embed="rId7"/>
          <a:stretch>
            <a:fillRect/>
          </a:stretch>
        </p:blipFill>
        <p:spPr>
          <a:xfrm>
            <a:off x="6044184" y="1554480"/>
            <a:ext cx="256032" cy="256032"/>
          </a:xfrm>
          <a:prstGeom prst="rect">
            <a:avLst/>
          </a:prstGeom>
        </p:spPr>
      </p:pic>
      <p:sp>
        <p:nvSpPr>
          <p:cNvPr id="38" name="Text 29"/>
          <p:cNvSpPr/>
          <p:nvPr/>
        </p:nvSpPr>
        <p:spPr>
          <a:xfrm>
            <a:off x="5742432" y="1828800"/>
            <a:ext cx="86868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Init</a:t>
            </a:r>
            <a:endParaRPr lang="en-US" sz="900" dirty="0"/>
          </a:p>
        </p:txBody>
      </p:sp>
      <p:sp>
        <p:nvSpPr>
          <p:cNvPr id="39" name="Shape 30"/>
          <p:cNvSpPr/>
          <p:nvPr/>
        </p:nvSpPr>
        <p:spPr>
          <a:xfrm>
            <a:off x="6611112" y="1801368"/>
            <a:ext cx="118872" cy="0"/>
          </a:xfrm>
          <a:prstGeom prst="line">
            <a:avLst/>
          </a:prstGeom>
          <a:noFill/>
          <a:ln w="19050">
            <a:solidFill>
              <a:srgbClr val="FF9900"/>
            </a:solidFill>
            <a:prstDash val="solid"/>
            <a:tailEnd type="arrow"/>
          </a:ln>
        </p:spPr>
      </p:sp>
      <p:sp>
        <p:nvSpPr>
          <p:cNvPr id="40" name="Shape 31"/>
          <p:cNvSpPr/>
          <p:nvPr/>
        </p:nvSpPr>
        <p:spPr>
          <a:xfrm>
            <a:off x="6729984" y="1508760"/>
            <a:ext cx="868680" cy="594360"/>
          </a:xfrm>
          <a:prstGeom prst="rect">
            <a:avLst>
              <a:gd name="adj" fmla="val 6154"/>
            </a:avLst>
          </a:prstGeom>
          <a:solidFill>
            <a:srgbClr val="EAB308"/>
          </a:solidFill>
          <a:ln w="12700">
            <a:solidFill>
              <a:srgbClr val="EAB308"/>
            </a:solidFill>
            <a:prstDash val="solid"/>
          </a:ln>
          <a:effectLst>
            <a:outerShdw sx="100000" sy="100000" kx="0" ky="0" algn="bl" rotWithShape="0" blurRad="101600" dist="25400" dir="2700000">
              <a:srgbClr val="000000">
                <a:alpha val="12000"/>
              </a:srgbClr>
            </a:outerShdw>
          </a:effectLst>
        </p:spPr>
      </p:sp>
      <p:pic>
        <p:nvPicPr>
          <p:cNvPr id="41" name="Image 7" descr="preencoded.png">    </p:cNvPr>
          <p:cNvPicPr>
            <a:picLocks noChangeAspect="1"/>
          </p:cNvPicPr>
          <p:nvPr/>
        </p:nvPicPr>
        <p:blipFill>
          <a:blip r:embed="rId8"/>
          <a:stretch>
            <a:fillRect/>
          </a:stretch>
        </p:blipFill>
        <p:spPr>
          <a:xfrm>
            <a:off x="7031736" y="1554480"/>
            <a:ext cx="256032" cy="256032"/>
          </a:xfrm>
          <a:prstGeom prst="rect">
            <a:avLst/>
          </a:prstGeom>
        </p:spPr>
      </p:pic>
      <p:sp>
        <p:nvSpPr>
          <p:cNvPr id="42" name="Text 32"/>
          <p:cNvSpPr/>
          <p:nvPr/>
        </p:nvSpPr>
        <p:spPr>
          <a:xfrm>
            <a:off x="6729984" y="1828800"/>
            <a:ext cx="86868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Plan</a:t>
            </a:r>
            <a:endParaRPr lang="en-US" sz="900" dirty="0"/>
          </a:p>
        </p:txBody>
      </p:sp>
      <p:sp>
        <p:nvSpPr>
          <p:cNvPr id="43" name="Shape 33"/>
          <p:cNvSpPr/>
          <p:nvPr/>
        </p:nvSpPr>
        <p:spPr>
          <a:xfrm>
            <a:off x="7598664" y="1801368"/>
            <a:ext cx="118872" cy="0"/>
          </a:xfrm>
          <a:prstGeom prst="line">
            <a:avLst/>
          </a:prstGeom>
          <a:noFill/>
          <a:ln w="19050">
            <a:solidFill>
              <a:srgbClr val="FF9900"/>
            </a:solidFill>
            <a:prstDash val="solid"/>
            <a:tailEnd type="arrow"/>
          </a:ln>
        </p:spPr>
      </p:sp>
      <p:sp>
        <p:nvSpPr>
          <p:cNvPr id="44" name="Shape 34"/>
          <p:cNvSpPr/>
          <p:nvPr/>
        </p:nvSpPr>
        <p:spPr>
          <a:xfrm>
            <a:off x="7717536" y="1508760"/>
            <a:ext cx="868680" cy="594360"/>
          </a:xfrm>
          <a:prstGeom prst="rect">
            <a:avLst>
              <a:gd name="adj" fmla="val 6154"/>
            </a:avLst>
          </a:prstGeom>
          <a:solidFill>
            <a:srgbClr val="22C55E"/>
          </a:solidFill>
          <a:ln w="12700">
            <a:solidFill>
              <a:srgbClr val="22C55E"/>
            </a:solidFill>
            <a:prstDash val="solid"/>
          </a:ln>
          <a:effectLst>
            <a:outerShdw sx="100000" sy="100000" kx="0" ky="0" algn="bl" rotWithShape="0" blurRad="101600" dist="25400" dir="2700000">
              <a:srgbClr val="000000">
                <a:alpha val="12000"/>
              </a:srgbClr>
            </a:outerShdw>
          </a:effectLst>
        </p:spPr>
      </p:sp>
      <p:pic>
        <p:nvPicPr>
          <p:cNvPr id="45" name="Image 8" descr="preencoded.png">    </p:cNvPr>
          <p:cNvPicPr>
            <a:picLocks noChangeAspect="1"/>
          </p:cNvPicPr>
          <p:nvPr/>
        </p:nvPicPr>
        <p:blipFill>
          <a:blip r:embed="rId9"/>
          <a:stretch>
            <a:fillRect/>
          </a:stretch>
        </p:blipFill>
        <p:spPr>
          <a:xfrm>
            <a:off x="8019288" y="1554480"/>
            <a:ext cx="256032" cy="256032"/>
          </a:xfrm>
          <a:prstGeom prst="rect">
            <a:avLst/>
          </a:prstGeom>
        </p:spPr>
      </p:pic>
      <p:sp>
        <p:nvSpPr>
          <p:cNvPr id="46" name="Text 35"/>
          <p:cNvSpPr/>
          <p:nvPr/>
        </p:nvSpPr>
        <p:spPr>
          <a:xfrm>
            <a:off x="7717536" y="1828800"/>
            <a:ext cx="86868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Apply</a:t>
            </a:r>
            <a:endParaRPr lang="en-US" sz="900" dirty="0"/>
          </a:p>
        </p:txBody>
      </p:sp>
      <p:sp>
        <p:nvSpPr>
          <p:cNvPr id="47" name="Text 36"/>
          <p:cNvSpPr/>
          <p:nvPr/>
        </p:nvSpPr>
        <p:spPr>
          <a:xfrm>
            <a:off x="4754880" y="2176272"/>
            <a:ext cx="86868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HCL modules + variables</a:t>
            </a:r>
            <a:endParaRPr lang="en-US" sz="800" dirty="0"/>
          </a:p>
        </p:txBody>
      </p:sp>
      <p:sp>
        <p:nvSpPr>
          <p:cNvPr id="48" name="Text 37"/>
          <p:cNvSpPr/>
          <p:nvPr/>
        </p:nvSpPr>
        <p:spPr>
          <a:xfrm>
            <a:off x="5742432" y="2176272"/>
            <a:ext cx="86868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terraform init</a:t>
            </a:r>
            <a:endParaRPr lang="en-US" sz="800" dirty="0"/>
          </a:p>
        </p:txBody>
      </p:sp>
      <p:sp>
        <p:nvSpPr>
          <p:cNvPr id="49" name="Text 38"/>
          <p:cNvSpPr/>
          <p:nvPr/>
        </p:nvSpPr>
        <p:spPr>
          <a:xfrm>
            <a:off x="6729984" y="2176272"/>
            <a:ext cx="86868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Review change set</a:t>
            </a:r>
            <a:endParaRPr lang="en-US" sz="800" dirty="0"/>
          </a:p>
        </p:txBody>
      </p:sp>
      <p:sp>
        <p:nvSpPr>
          <p:cNvPr id="50" name="Text 39"/>
          <p:cNvSpPr/>
          <p:nvPr/>
        </p:nvSpPr>
        <p:spPr>
          <a:xfrm>
            <a:off x="7717536" y="2176272"/>
            <a:ext cx="86868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Provision AWS resources</a:t>
            </a:r>
            <a:endParaRPr lang="en-US" sz="800" dirty="0"/>
          </a:p>
        </p:txBody>
      </p:sp>
      <p:sp>
        <p:nvSpPr>
          <p:cNvPr id="51" name="Shape 40"/>
          <p:cNvSpPr/>
          <p:nvPr/>
        </p:nvSpPr>
        <p:spPr>
          <a:xfrm>
            <a:off x="4754880" y="2578608"/>
            <a:ext cx="3977640" cy="1993392"/>
          </a:xfrm>
          <a:prstGeom prst="rect">
            <a:avLst>
              <a:gd name="adj" fmla="val 1835"/>
            </a:avLst>
          </a:prstGeom>
          <a:solidFill>
            <a:srgbClr val="1A2C42"/>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52" name="Text 41"/>
          <p:cNvSpPr/>
          <p:nvPr/>
        </p:nvSpPr>
        <p:spPr>
          <a:xfrm>
            <a:off x="4846320" y="2633472"/>
            <a:ext cx="3794760" cy="274320"/>
          </a:xfrm>
          <a:prstGeom prst="rect">
            <a:avLst/>
          </a:prstGeom>
          <a:noFill/>
          <a:ln/>
        </p:spPr>
        <p:txBody>
          <a:bodyPr wrap="square" lIns="0" tIns="0" rIns="0" bIns="0" rtlCol="0" anchor="ctr"/>
          <a:lstStyle/>
          <a:p>
            <a:pPr algn="ctr" indent="0" marL="0">
              <a:buNone/>
            </a:pPr>
            <a:r>
              <a:rPr lang="en-US" sz="1200" b="1" dirty="0">
                <a:solidFill>
                  <a:srgbClr val="FF9900"/>
                </a:solidFill>
                <a:latin typeface="Cambria" pitchFamily="34" charset="0"/>
                <a:ea typeface="Cambria" pitchFamily="34" charset="-122"/>
                <a:cs typeface="Cambria" pitchFamily="34" charset="-120"/>
              </a:rPr>
              <a:t>Remote State Management</a:t>
            </a:r>
            <a:endParaRPr lang="en-US" sz="1200" dirty="0"/>
          </a:p>
        </p:txBody>
      </p:sp>
      <p:sp>
        <p:nvSpPr>
          <p:cNvPr id="53" name="Shape 42"/>
          <p:cNvSpPr/>
          <p:nvPr/>
        </p:nvSpPr>
        <p:spPr>
          <a:xfrm>
            <a:off x="4892040" y="2999232"/>
            <a:ext cx="1143000" cy="530352"/>
          </a:xfrm>
          <a:prstGeom prst="rect">
            <a:avLst>
              <a:gd name="adj" fmla="val 6897"/>
            </a:avLst>
          </a:prstGeom>
          <a:solidFill>
            <a:srgbClr val="7C3AED"/>
          </a:solidFill>
          <a:ln w="12700">
            <a:solidFill>
              <a:srgbClr val="7C3AED"/>
            </a:solidFill>
            <a:prstDash val="solid"/>
          </a:ln>
        </p:spPr>
      </p:sp>
      <p:pic>
        <p:nvPicPr>
          <p:cNvPr id="54" name="Image 9" descr="preencoded.png">    </p:cNvPr>
          <p:cNvPicPr>
            <a:picLocks noChangeAspect="1"/>
          </p:cNvPicPr>
          <p:nvPr/>
        </p:nvPicPr>
        <p:blipFill>
          <a:blip r:embed="rId10"/>
          <a:stretch>
            <a:fillRect/>
          </a:stretch>
        </p:blipFill>
        <p:spPr>
          <a:xfrm>
            <a:off x="4965192" y="3108960"/>
            <a:ext cx="256032" cy="256032"/>
          </a:xfrm>
          <a:prstGeom prst="rect">
            <a:avLst/>
          </a:prstGeom>
        </p:spPr>
      </p:pic>
      <p:sp>
        <p:nvSpPr>
          <p:cNvPr id="55" name="Text 43"/>
          <p:cNvSpPr/>
          <p:nvPr/>
        </p:nvSpPr>
        <p:spPr>
          <a:xfrm>
            <a:off x="5239512" y="3127248"/>
            <a:ext cx="731520"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Terraform CLI</a:t>
            </a:r>
            <a:endParaRPr lang="en-US" sz="900" dirty="0"/>
          </a:p>
        </p:txBody>
      </p:sp>
      <p:sp>
        <p:nvSpPr>
          <p:cNvPr id="56" name="Shape 44"/>
          <p:cNvSpPr/>
          <p:nvPr/>
        </p:nvSpPr>
        <p:spPr>
          <a:xfrm>
            <a:off x="6217920" y="2999232"/>
            <a:ext cx="1143000" cy="530352"/>
          </a:xfrm>
          <a:prstGeom prst="rect">
            <a:avLst>
              <a:gd name="adj" fmla="val 6897"/>
            </a:avLst>
          </a:prstGeom>
          <a:solidFill>
            <a:srgbClr val="14B8A6"/>
          </a:solidFill>
          <a:ln w="12700">
            <a:solidFill>
              <a:srgbClr val="14B8A6"/>
            </a:solidFill>
            <a:prstDash val="solid"/>
          </a:ln>
        </p:spPr>
      </p:sp>
      <p:pic>
        <p:nvPicPr>
          <p:cNvPr id="57" name="Image 10" descr="preencoded.png">    </p:cNvPr>
          <p:cNvPicPr>
            <a:picLocks noChangeAspect="1"/>
          </p:cNvPicPr>
          <p:nvPr/>
        </p:nvPicPr>
        <p:blipFill>
          <a:blip r:embed="rId11"/>
          <a:stretch>
            <a:fillRect/>
          </a:stretch>
        </p:blipFill>
        <p:spPr>
          <a:xfrm>
            <a:off x="6291072" y="3108960"/>
            <a:ext cx="256032" cy="256032"/>
          </a:xfrm>
          <a:prstGeom prst="rect">
            <a:avLst/>
          </a:prstGeom>
        </p:spPr>
      </p:pic>
      <p:sp>
        <p:nvSpPr>
          <p:cNvPr id="58" name="Text 45"/>
          <p:cNvSpPr/>
          <p:nvPr/>
        </p:nvSpPr>
        <p:spPr>
          <a:xfrm>
            <a:off x="6565392" y="3127248"/>
            <a:ext cx="731520"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S3 Bucket</a:t>
            </a:r>
            <a:endParaRPr lang="en-US" sz="900" dirty="0"/>
          </a:p>
        </p:txBody>
      </p:sp>
      <p:sp>
        <p:nvSpPr>
          <p:cNvPr id="59" name="Shape 46"/>
          <p:cNvSpPr/>
          <p:nvPr/>
        </p:nvSpPr>
        <p:spPr>
          <a:xfrm>
            <a:off x="7543800" y="2999232"/>
            <a:ext cx="1143000" cy="530352"/>
          </a:xfrm>
          <a:prstGeom prst="rect">
            <a:avLst>
              <a:gd name="adj" fmla="val 6897"/>
            </a:avLst>
          </a:prstGeom>
          <a:solidFill>
            <a:srgbClr val="A855F7"/>
          </a:solidFill>
          <a:ln w="12700">
            <a:solidFill>
              <a:srgbClr val="A855F7"/>
            </a:solidFill>
            <a:prstDash val="solid"/>
          </a:ln>
        </p:spPr>
      </p:sp>
      <p:pic>
        <p:nvPicPr>
          <p:cNvPr id="60" name="Image 11" descr="preencoded.png">    </p:cNvPr>
          <p:cNvPicPr>
            <a:picLocks noChangeAspect="1"/>
          </p:cNvPicPr>
          <p:nvPr/>
        </p:nvPicPr>
        <p:blipFill>
          <a:blip r:embed="rId12"/>
          <a:stretch>
            <a:fillRect/>
          </a:stretch>
        </p:blipFill>
        <p:spPr>
          <a:xfrm>
            <a:off x="7616952" y="3108960"/>
            <a:ext cx="256032" cy="256032"/>
          </a:xfrm>
          <a:prstGeom prst="rect">
            <a:avLst/>
          </a:prstGeom>
        </p:spPr>
      </p:pic>
      <p:sp>
        <p:nvSpPr>
          <p:cNvPr id="61" name="Text 47"/>
          <p:cNvSpPr/>
          <p:nvPr/>
        </p:nvSpPr>
        <p:spPr>
          <a:xfrm>
            <a:off x="7891272" y="3127248"/>
            <a:ext cx="731520"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DynamoDB</a:t>
            </a:r>
            <a:endParaRPr lang="en-US" sz="900" dirty="0"/>
          </a:p>
        </p:txBody>
      </p:sp>
      <p:sp>
        <p:nvSpPr>
          <p:cNvPr id="62" name="Shape 48"/>
          <p:cNvSpPr/>
          <p:nvPr/>
        </p:nvSpPr>
        <p:spPr>
          <a:xfrm>
            <a:off x="6035040" y="3264408"/>
            <a:ext cx="182880" cy="0"/>
          </a:xfrm>
          <a:prstGeom prst="line">
            <a:avLst/>
          </a:prstGeom>
          <a:noFill/>
          <a:ln w="19050">
            <a:solidFill>
              <a:srgbClr val="FF9900"/>
            </a:solidFill>
            <a:prstDash val="solid"/>
            <a:tailEnd type="arrow"/>
          </a:ln>
        </p:spPr>
      </p:sp>
      <p:sp>
        <p:nvSpPr>
          <p:cNvPr id="63" name="Shape 49"/>
          <p:cNvSpPr/>
          <p:nvPr/>
        </p:nvSpPr>
        <p:spPr>
          <a:xfrm>
            <a:off x="7360920" y="3264408"/>
            <a:ext cx="182880" cy="0"/>
          </a:xfrm>
          <a:prstGeom prst="line">
            <a:avLst/>
          </a:prstGeom>
          <a:noFill/>
          <a:ln w="19050">
            <a:solidFill>
              <a:srgbClr val="FF9900"/>
            </a:solidFill>
            <a:prstDash val="solid"/>
            <a:tailEnd type="arrow"/>
          </a:ln>
        </p:spPr>
      </p:sp>
      <p:sp>
        <p:nvSpPr>
          <p:cNvPr id="64" name="Text 50"/>
          <p:cNvSpPr/>
          <p:nvPr/>
        </p:nvSpPr>
        <p:spPr>
          <a:xfrm>
            <a:off x="6035040" y="3401568"/>
            <a:ext cx="594360" cy="182880"/>
          </a:xfrm>
          <a:prstGeom prst="rect">
            <a:avLst/>
          </a:prstGeom>
          <a:noFill/>
          <a:ln/>
        </p:spPr>
        <p:txBody>
          <a:bodyPr wrap="square" lIns="0" tIns="0" rIns="0" bIns="0" rtlCol="0" anchor="ctr"/>
          <a:lstStyle/>
          <a:p>
            <a:pPr algn="ctr" indent="0" marL="0">
              <a:buNone/>
            </a:pPr>
            <a:r>
              <a:rPr lang="en-US" sz="750" dirty="0">
                <a:solidFill>
                  <a:srgbClr val="A0BDD0"/>
                </a:solidFill>
                <a:latin typeface="Calibri" pitchFamily="34" charset="0"/>
                <a:ea typeface="Calibri" pitchFamily="34" charset="-122"/>
                <a:cs typeface="Calibri" pitchFamily="34" charset="-120"/>
              </a:rPr>
              <a:t>state file</a:t>
            </a:r>
            <a:endParaRPr lang="en-US" sz="750" dirty="0"/>
          </a:p>
        </p:txBody>
      </p:sp>
      <p:sp>
        <p:nvSpPr>
          <p:cNvPr id="65" name="Text 51"/>
          <p:cNvSpPr/>
          <p:nvPr/>
        </p:nvSpPr>
        <p:spPr>
          <a:xfrm>
            <a:off x="7360920" y="3401568"/>
            <a:ext cx="594360" cy="182880"/>
          </a:xfrm>
          <a:prstGeom prst="rect">
            <a:avLst/>
          </a:prstGeom>
          <a:noFill/>
          <a:ln/>
        </p:spPr>
        <p:txBody>
          <a:bodyPr wrap="square" lIns="0" tIns="0" rIns="0" bIns="0" rtlCol="0" anchor="ctr"/>
          <a:lstStyle/>
          <a:p>
            <a:pPr algn="ctr" indent="0" marL="0">
              <a:buNone/>
            </a:pPr>
            <a:r>
              <a:rPr lang="en-US" sz="750" dirty="0">
                <a:solidFill>
                  <a:srgbClr val="A0BDD0"/>
                </a:solidFill>
                <a:latin typeface="Calibri" pitchFamily="34" charset="0"/>
                <a:ea typeface="Calibri" pitchFamily="34" charset="-122"/>
                <a:cs typeface="Calibri" pitchFamily="34" charset="-120"/>
              </a:rPr>
              <a:t>lock</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Terraform Module Structure</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15 purpose-built modules — each follows main.tf / variables.tf / outputs.tf</a:t>
            </a:r>
            <a:endParaRPr lang="en-US" sz="1100" dirty="0"/>
          </a:p>
        </p:txBody>
      </p:sp>
      <p:sp>
        <p:nvSpPr>
          <p:cNvPr id="5" name="Shape 3"/>
          <p:cNvSpPr/>
          <p:nvPr/>
        </p:nvSpPr>
        <p:spPr>
          <a:xfrm>
            <a:off x="320040" y="960120"/>
            <a:ext cx="2011680" cy="566928"/>
          </a:xfrm>
          <a:prstGeom prst="rect">
            <a:avLst>
              <a:gd name="adj" fmla="val 6452"/>
            </a:avLst>
          </a:prstGeom>
          <a:solidFill>
            <a:srgbClr val="F5F0FF"/>
          </a:solidFill>
          <a:ln w="6350">
            <a:solidFill>
              <a:srgbClr val="CBD5E1"/>
            </a:solidFill>
            <a:prstDash val="solid"/>
          </a:ln>
          <a:effectLst>
            <a:outerShdw sx="100000" sy="100000" kx="0" ky="0" algn="bl" rotWithShape="0" blurRad="101600" dist="25400" dir="2700000">
              <a:srgbClr val="000000">
                <a:alpha val="8000"/>
              </a:srgbClr>
            </a:outerShdw>
          </a:effectLst>
        </p:spPr>
      </p:sp>
      <p:pic>
        <p:nvPicPr>
          <p:cNvPr id="6" name="Image 0" descr="preencoded.png">    </p:cNvPr>
          <p:cNvPicPr>
            <a:picLocks noChangeAspect="1"/>
          </p:cNvPicPr>
          <p:nvPr/>
        </p:nvPicPr>
        <p:blipFill>
          <a:blip r:embed="rId1"/>
          <a:stretch>
            <a:fillRect/>
          </a:stretch>
        </p:blipFill>
        <p:spPr>
          <a:xfrm>
            <a:off x="457200" y="1024128"/>
            <a:ext cx="347472" cy="347472"/>
          </a:xfrm>
          <a:prstGeom prst="rect">
            <a:avLst/>
          </a:prstGeom>
        </p:spPr>
      </p:pic>
      <p:sp>
        <p:nvSpPr>
          <p:cNvPr id="7" name="Text 4"/>
          <p:cNvSpPr/>
          <p:nvPr/>
        </p:nvSpPr>
        <p:spPr>
          <a:xfrm>
            <a:off x="877824" y="1024128"/>
            <a:ext cx="1389888" cy="347472"/>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terraform/ (root)</a:t>
            </a:r>
            <a:endParaRPr lang="en-US" sz="1100" dirty="0"/>
          </a:p>
        </p:txBody>
      </p:sp>
      <p:sp>
        <p:nvSpPr>
          <p:cNvPr id="8" name="Shape 5"/>
          <p:cNvSpPr/>
          <p:nvPr/>
        </p:nvSpPr>
        <p:spPr>
          <a:xfrm>
            <a:off x="1325880" y="1527048"/>
            <a:ext cx="0" cy="228600"/>
          </a:xfrm>
          <a:prstGeom prst="line">
            <a:avLst/>
          </a:prstGeom>
          <a:noFill/>
          <a:ln w="19050">
            <a:solidFill>
              <a:srgbClr val="7C3AED"/>
            </a:solidFill>
            <a:prstDash val="solid"/>
          </a:ln>
        </p:spPr>
      </p:sp>
      <p:sp>
        <p:nvSpPr>
          <p:cNvPr id="9" name="Shape 6"/>
          <p:cNvSpPr/>
          <p:nvPr/>
        </p:nvSpPr>
        <p:spPr>
          <a:xfrm>
            <a:off x="320040" y="1874520"/>
            <a:ext cx="2011680" cy="292608"/>
          </a:xfrm>
          <a:prstGeom prst="rect">
            <a:avLst>
              <a:gd name="adj" fmla="val 9375"/>
            </a:avLst>
          </a:prstGeom>
          <a:solidFill>
            <a:srgbClr val="22C55E"/>
          </a:solidFill>
          <a:ln w="12700">
            <a:solidFill>
              <a:srgbClr val="22C55E"/>
            </a:solidFill>
            <a:prstDash val="solid"/>
          </a:ln>
        </p:spPr>
      </p:sp>
      <p:sp>
        <p:nvSpPr>
          <p:cNvPr id="10" name="Text 7"/>
          <p:cNvSpPr/>
          <p:nvPr/>
        </p:nvSpPr>
        <p:spPr>
          <a:xfrm>
            <a:off x="320040" y="187452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Networking</a:t>
            </a:r>
            <a:endParaRPr lang="en-US" sz="900" dirty="0"/>
          </a:p>
        </p:txBody>
      </p:sp>
      <p:sp>
        <p:nvSpPr>
          <p:cNvPr id="11" name="Shape 8"/>
          <p:cNvSpPr/>
          <p:nvPr/>
        </p:nvSpPr>
        <p:spPr>
          <a:xfrm>
            <a:off x="320040" y="2221992"/>
            <a:ext cx="2011680" cy="292608"/>
          </a:xfrm>
          <a:prstGeom prst="rect">
            <a:avLst>
              <a:gd name="adj" fmla="val 6250"/>
            </a:avLst>
          </a:prstGeom>
          <a:solidFill>
            <a:srgbClr val="FFFFFF"/>
          </a:solidFill>
          <a:ln w="6350">
            <a:solidFill>
              <a:srgbClr val="22C55E"/>
            </a:solidFill>
            <a:prstDash val="solid"/>
          </a:ln>
        </p:spPr>
      </p:sp>
      <p:sp>
        <p:nvSpPr>
          <p:cNvPr id="12" name="Text 9"/>
          <p:cNvSpPr/>
          <p:nvPr/>
        </p:nvSpPr>
        <p:spPr>
          <a:xfrm>
            <a:off x="393192" y="2240280"/>
            <a:ext cx="1828800" cy="256032"/>
          </a:xfrm>
          <a:prstGeom prst="rect">
            <a:avLst/>
          </a:prstGeom>
          <a:noFill/>
          <a:ln/>
        </p:spPr>
        <p:txBody>
          <a:bodyPr wrap="square" lIns="0" tIns="0" rIns="0" bIns="0" rtlCol="0" anchor="ctr"/>
          <a:lstStyle/>
          <a:p>
            <a:pPr indent="0" marL="0">
              <a:buNone/>
            </a:pPr>
            <a:r>
              <a:rPr lang="en-US" sz="900" dirty="0">
                <a:solidFill>
                  <a:srgbClr val="1E293B"/>
                </a:solidFill>
                <a:latin typeface="Courier New" pitchFamily="34" charset="0"/>
                <a:ea typeface="Courier New" pitchFamily="34" charset="-122"/>
                <a:cs typeface="Courier New" pitchFamily="34" charset="-120"/>
              </a:rPr>
              <a:t>📁 vpc</a:t>
            </a:r>
            <a:endParaRPr lang="en-US" sz="900" dirty="0"/>
          </a:p>
        </p:txBody>
      </p:sp>
      <p:sp>
        <p:nvSpPr>
          <p:cNvPr id="13" name="Shape 10"/>
          <p:cNvSpPr/>
          <p:nvPr/>
        </p:nvSpPr>
        <p:spPr>
          <a:xfrm>
            <a:off x="320040" y="2569464"/>
            <a:ext cx="2011680" cy="292608"/>
          </a:xfrm>
          <a:prstGeom prst="rect">
            <a:avLst>
              <a:gd name="adj" fmla="val 6250"/>
            </a:avLst>
          </a:prstGeom>
          <a:solidFill>
            <a:srgbClr val="FFFFFF"/>
          </a:solidFill>
          <a:ln w="6350">
            <a:solidFill>
              <a:srgbClr val="22C55E"/>
            </a:solidFill>
            <a:prstDash val="solid"/>
          </a:ln>
        </p:spPr>
      </p:sp>
      <p:sp>
        <p:nvSpPr>
          <p:cNvPr id="14" name="Text 11"/>
          <p:cNvSpPr/>
          <p:nvPr/>
        </p:nvSpPr>
        <p:spPr>
          <a:xfrm>
            <a:off x="393192" y="2587752"/>
            <a:ext cx="1828800" cy="256032"/>
          </a:xfrm>
          <a:prstGeom prst="rect">
            <a:avLst/>
          </a:prstGeom>
          <a:noFill/>
          <a:ln/>
        </p:spPr>
        <p:txBody>
          <a:bodyPr wrap="square" lIns="0" tIns="0" rIns="0" bIns="0" rtlCol="0" anchor="ctr"/>
          <a:lstStyle/>
          <a:p>
            <a:pPr indent="0" marL="0">
              <a:buNone/>
            </a:pPr>
            <a:r>
              <a:rPr lang="en-US" sz="900" dirty="0">
                <a:solidFill>
                  <a:srgbClr val="1E293B"/>
                </a:solidFill>
                <a:latin typeface="Courier New" pitchFamily="34" charset="0"/>
                <a:ea typeface="Courier New" pitchFamily="34" charset="-122"/>
                <a:cs typeface="Courier New" pitchFamily="34" charset="-120"/>
              </a:rPr>
              <a:t>📁 security-groups</a:t>
            </a:r>
            <a:endParaRPr lang="en-US" sz="900" dirty="0"/>
          </a:p>
        </p:txBody>
      </p:sp>
      <p:sp>
        <p:nvSpPr>
          <p:cNvPr id="15" name="Shape 12"/>
          <p:cNvSpPr/>
          <p:nvPr/>
        </p:nvSpPr>
        <p:spPr>
          <a:xfrm>
            <a:off x="2423160" y="1874520"/>
            <a:ext cx="2011680" cy="292608"/>
          </a:xfrm>
          <a:prstGeom prst="rect">
            <a:avLst>
              <a:gd name="adj" fmla="val 9375"/>
            </a:avLst>
          </a:prstGeom>
          <a:solidFill>
            <a:srgbClr val="F97316"/>
          </a:solidFill>
          <a:ln w="12700">
            <a:solidFill>
              <a:srgbClr val="F97316"/>
            </a:solidFill>
            <a:prstDash val="solid"/>
          </a:ln>
        </p:spPr>
      </p:sp>
      <p:sp>
        <p:nvSpPr>
          <p:cNvPr id="16" name="Text 13"/>
          <p:cNvSpPr/>
          <p:nvPr/>
        </p:nvSpPr>
        <p:spPr>
          <a:xfrm>
            <a:off x="2423160" y="187452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Compute</a:t>
            </a:r>
            <a:endParaRPr lang="en-US" sz="900" dirty="0"/>
          </a:p>
        </p:txBody>
      </p:sp>
      <p:sp>
        <p:nvSpPr>
          <p:cNvPr id="17" name="Shape 14"/>
          <p:cNvSpPr/>
          <p:nvPr/>
        </p:nvSpPr>
        <p:spPr>
          <a:xfrm>
            <a:off x="2423160" y="2221992"/>
            <a:ext cx="2011680" cy="292608"/>
          </a:xfrm>
          <a:prstGeom prst="rect">
            <a:avLst>
              <a:gd name="adj" fmla="val 6250"/>
            </a:avLst>
          </a:prstGeom>
          <a:solidFill>
            <a:srgbClr val="FFFFFF"/>
          </a:solidFill>
          <a:ln w="6350">
            <a:solidFill>
              <a:srgbClr val="F97316"/>
            </a:solidFill>
            <a:prstDash val="solid"/>
          </a:ln>
        </p:spPr>
      </p:sp>
      <p:sp>
        <p:nvSpPr>
          <p:cNvPr id="18" name="Text 15"/>
          <p:cNvSpPr/>
          <p:nvPr/>
        </p:nvSpPr>
        <p:spPr>
          <a:xfrm>
            <a:off x="2496312" y="2240280"/>
            <a:ext cx="1828800" cy="256032"/>
          </a:xfrm>
          <a:prstGeom prst="rect">
            <a:avLst/>
          </a:prstGeom>
          <a:noFill/>
          <a:ln/>
        </p:spPr>
        <p:txBody>
          <a:bodyPr wrap="square" lIns="0" tIns="0" rIns="0" bIns="0" rtlCol="0" anchor="ctr"/>
          <a:lstStyle/>
          <a:p>
            <a:pPr indent="0" marL="0">
              <a:buNone/>
            </a:pPr>
            <a:r>
              <a:rPr lang="en-US" sz="900" dirty="0">
                <a:solidFill>
                  <a:srgbClr val="1E293B"/>
                </a:solidFill>
                <a:latin typeface="Courier New" pitchFamily="34" charset="0"/>
                <a:ea typeface="Courier New" pitchFamily="34" charset="-122"/>
                <a:cs typeface="Courier New" pitchFamily="34" charset="-120"/>
              </a:rPr>
              <a:t>📁 alb</a:t>
            </a:r>
            <a:endParaRPr lang="en-US" sz="900" dirty="0"/>
          </a:p>
        </p:txBody>
      </p:sp>
      <p:sp>
        <p:nvSpPr>
          <p:cNvPr id="19" name="Shape 16"/>
          <p:cNvSpPr/>
          <p:nvPr/>
        </p:nvSpPr>
        <p:spPr>
          <a:xfrm>
            <a:off x="2423160" y="2569464"/>
            <a:ext cx="2011680" cy="292608"/>
          </a:xfrm>
          <a:prstGeom prst="rect">
            <a:avLst>
              <a:gd name="adj" fmla="val 6250"/>
            </a:avLst>
          </a:prstGeom>
          <a:solidFill>
            <a:srgbClr val="FFFFFF"/>
          </a:solidFill>
          <a:ln w="6350">
            <a:solidFill>
              <a:srgbClr val="F97316"/>
            </a:solidFill>
            <a:prstDash val="solid"/>
          </a:ln>
        </p:spPr>
      </p:sp>
      <p:sp>
        <p:nvSpPr>
          <p:cNvPr id="20" name="Text 17"/>
          <p:cNvSpPr/>
          <p:nvPr/>
        </p:nvSpPr>
        <p:spPr>
          <a:xfrm>
            <a:off x="2496312" y="2587752"/>
            <a:ext cx="1828800" cy="256032"/>
          </a:xfrm>
          <a:prstGeom prst="rect">
            <a:avLst/>
          </a:prstGeom>
          <a:noFill/>
          <a:ln/>
        </p:spPr>
        <p:txBody>
          <a:bodyPr wrap="square" lIns="0" tIns="0" rIns="0" bIns="0" rtlCol="0" anchor="ctr"/>
          <a:lstStyle/>
          <a:p>
            <a:pPr indent="0" marL="0">
              <a:buNone/>
            </a:pPr>
            <a:r>
              <a:rPr lang="en-US" sz="900" dirty="0">
                <a:solidFill>
                  <a:srgbClr val="1E293B"/>
                </a:solidFill>
                <a:latin typeface="Courier New" pitchFamily="34" charset="0"/>
                <a:ea typeface="Courier New" pitchFamily="34" charset="-122"/>
                <a:cs typeface="Courier New" pitchFamily="34" charset="-120"/>
              </a:rPr>
              <a:t>📁 launch-templates</a:t>
            </a:r>
            <a:endParaRPr lang="en-US" sz="900" dirty="0"/>
          </a:p>
        </p:txBody>
      </p:sp>
      <p:sp>
        <p:nvSpPr>
          <p:cNvPr id="21" name="Shape 18"/>
          <p:cNvSpPr/>
          <p:nvPr/>
        </p:nvSpPr>
        <p:spPr>
          <a:xfrm>
            <a:off x="2423160" y="2916936"/>
            <a:ext cx="2011680" cy="292608"/>
          </a:xfrm>
          <a:prstGeom prst="rect">
            <a:avLst>
              <a:gd name="adj" fmla="val 6250"/>
            </a:avLst>
          </a:prstGeom>
          <a:solidFill>
            <a:srgbClr val="FFFFFF"/>
          </a:solidFill>
          <a:ln w="6350">
            <a:solidFill>
              <a:srgbClr val="F97316"/>
            </a:solidFill>
            <a:prstDash val="solid"/>
          </a:ln>
        </p:spPr>
      </p:sp>
      <p:sp>
        <p:nvSpPr>
          <p:cNvPr id="22" name="Text 19"/>
          <p:cNvSpPr/>
          <p:nvPr/>
        </p:nvSpPr>
        <p:spPr>
          <a:xfrm>
            <a:off x="2496312" y="2935224"/>
            <a:ext cx="1828800" cy="256032"/>
          </a:xfrm>
          <a:prstGeom prst="rect">
            <a:avLst/>
          </a:prstGeom>
          <a:noFill/>
          <a:ln/>
        </p:spPr>
        <p:txBody>
          <a:bodyPr wrap="square" lIns="0" tIns="0" rIns="0" bIns="0" rtlCol="0" anchor="ctr"/>
          <a:lstStyle/>
          <a:p>
            <a:pPr indent="0" marL="0">
              <a:buNone/>
            </a:pPr>
            <a:r>
              <a:rPr lang="en-US" sz="900" dirty="0">
                <a:solidFill>
                  <a:srgbClr val="1E293B"/>
                </a:solidFill>
                <a:latin typeface="Courier New" pitchFamily="34" charset="0"/>
                <a:ea typeface="Courier New" pitchFamily="34" charset="-122"/>
                <a:cs typeface="Courier New" pitchFamily="34" charset="-120"/>
              </a:rPr>
              <a:t>📁 asg</a:t>
            </a:r>
            <a:endParaRPr lang="en-US" sz="900" dirty="0"/>
          </a:p>
        </p:txBody>
      </p:sp>
      <p:sp>
        <p:nvSpPr>
          <p:cNvPr id="23" name="Shape 20"/>
          <p:cNvSpPr/>
          <p:nvPr/>
        </p:nvSpPr>
        <p:spPr>
          <a:xfrm>
            <a:off x="4526280" y="1874520"/>
            <a:ext cx="2011680" cy="292608"/>
          </a:xfrm>
          <a:prstGeom prst="rect">
            <a:avLst>
              <a:gd name="adj" fmla="val 9375"/>
            </a:avLst>
          </a:prstGeom>
          <a:solidFill>
            <a:srgbClr val="A855F7"/>
          </a:solidFill>
          <a:ln w="12700">
            <a:solidFill>
              <a:srgbClr val="A855F7"/>
            </a:solidFill>
            <a:prstDash val="solid"/>
          </a:ln>
        </p:spPr>
      </p:sp>
      <p:sp>
        <p:nvSpPr>
          <p:cNvPr id="24" name="Text 21"/>
          <p:cNvSpPr/>
          <p:nvPr/>
        </p:nvSpPr>
        <p:spPr>
          <a:xfrm>
            <a:off x="4526280" y="187452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Database</a:t>
            </a:r>
            <a:endParaRPr lang="en-US" sz="900" dirty="0"/>
          </a:p>
        </p:txBody>
      </p:sp>
      <p:sp>
        <p:nvSpPr>
          <p:cNvPr id="25" name="Shape 22"/>
          <p:cNvSpPr/>
          <p:nvPr/>
        </p:nvSpPr>
        <p:spPr>
          <a:xfrm>
            <a:off x="4526280" y="2221992"/>
            <a:ext cx="2011680" cy="292608"/>
          </a:xfrm>
          <a:prstGeom prst="rect">
            <a:avLst>
              <a:gd name="adj" fmla="val 6250"/>
            </a:avLst>
          </a:prstGeom>
          <a:solidFill>
            <a:srgbClr val="FFFFFF"/>
          </a:solidFill>
          <a:ln w="6350">
            <a:solidFill>
              <a:srgbClr val="A855F7"/>
            </a:solidFill>
            <a:prstDash val="solid"/>
          </a:ln>
        </p:spPr>
      </p:sp>
      <p:sp>
        <p:nvSpPr>
          <p:cNvPr id="26" name="Text 23"/>
          <p:cNvSpPr/>
          <p:nvPr/>
        </p:nvSpPr>
        <p:spPr>
          <a:xfrm>
            <a:off x="4599432" y="2240280"/>
            <a:ext cx="1828800" cy="256032"/>
          </a:xfrm>
          <a:prstGeom prst="rect">
            <a:avLst/>
          </a:prstGeom>
          <a:noFill/>
          <a:ln/>
        </p:spPr>
        <p:txBody>
          <a:bodyPr wrap="square" lIns="0" tIns="0" rIns="0" bIns="0" rtlCol="0" anchor="ctr"/>
          <a:lstStyle/>
          <a:p>
            <a:pPr indent="0" marL="0">
              <a:buNone/>
            </a:pPr>
            <a:r>
              <a:rPr lang="en-US" sz="900" dirty="0">
                <a:solidFill>
                  <a:srgbClr val="1E293B"/>
                </a:solidFill>
                <a:latin typeface="Courier New" pitchFamily="34" charset="0"/>
                <a:ea typeface="Courier New" pitchFamily="34" charset="-122"/>
                <a:cs typeface="Courier New" pitchFamily="34" charset="-120"/>
              </a:rPr>
              <a:t>📁 rds</a:t>
            </a:r>
            <a:endParaRPr lang="en-US" sz="900" dirty="0"/>
          </a:p>
        </p:txBody>
      </p:sp>
      <p:sp>
        <p:nvSpPr>
          <p:cNvPr id="27" name="Shape 24"/>
          <p:cNvSpPr/>
          <p:nvPr/>
        </p:nvSpPr>
        <p:spPr>
          <a:xfrm>
            <a:off x="6629400" y="1874520"/>
            <a:ext cx="2011680" cy="292608"/>
          </a:xfrm>
          <a:prstGeom prst="rect">
            <a:avLst>
              <a:gd name="adj" fmla="val 9375"/>
            </a:avLst>
          </a:prstGeom>
          <a:solidFill>
            <a:srgbClr val="14B8A6"/>
          </a:solidFill>
          <a:ln w="12700">
            <a:solidFill>
              <a:srgbClr val="14B8A6"/>
            </a:solidFill>
            <a:prstDash val="solid"/>
          </a:ln>
        </p:spPr>
      </p:sp>
      <p:sp>
        <p:nvSpPr>
          <p:cNvPr id="28" name="Text 25"/>
          <p:cNvSpPr/>
          <p:nvPr/>
        </p:nvSpPr>
        <p:spPr>
          <a:xfrm>
            <a:off x="6629400" y="187452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Storage</a:t>
            </a:r>
            <a:endParaRPr lang="en-US" sz="900" dirty="0"/>
          </a:p>
        </p:txBody>
      </p:sp>
      <p:sp>
        <p:nvSpPr>
          <p:cNvPr id="29" name="Shape 26"/>
          <p:cNvSpPr/>
          <p:nvPr/>
        </p:nvSpPr>
        <p:spPr>
          <a:xfrm>
            <a:off x="6629400" y="2221992"/>
            <a:ext cx="2011680" cy="292608"/>
          </a:xfrm>
          <a:prstGeom prst="rect">
            <a:avLst>
              <a:gd name="adj" fmla="val 6250"/>
            </a:avLst>
          </a:prstGeom>
          <a:solidFill>
            <a:srgbClr val="FFFFFF"/>
          </a:solidFill>
          <a:ln w="6350">
            <a:solidFill>
              <a:srgbClr val="14B8A6"/>
            </a:solidFill>
            <a:prstDash val="solid"/>
          </a:ln>
        </p:spPr>
      </p:sp>
      <p:sp>
        <p:nvSpPr>
          <p:cNvPr id="30" name="Text 27"/>
          <p:cNvSpPr/>
          <p:nvPr/>
        </p:nvSpPr>
        <p:spPr>
          <a:xfrm>
            <a:off x="6702552" y="2240280"/>
            <a:ext cx="1828800" cy="256032"/>
          </a:xfrm>
          <a:prstGeom prst="rect">
            <a:avLst/>
          </a:prstGeom>
          <a:noFill/>
          <a:ln/>
        </p:spPr>
        <p:txBody>
          <a:bodyPr wrap="square" lIns="0" tIns="0" rIns="0" bIns="0" rtlCol="0" anchor="ctr"/>
          <a:lstStyle/>
          <a:p>
            <a:pPr indent="0" marL="0">
              <a:buNone/>
            </a:pPr>
            <a:r>
              <a:rPr lang="en-US" sz="900" dirty="0">
                <a:solidFill>
                  <a:srgbClr val="1E293B"/>
                </a:solidFill>
                <a:latin typeface="Courier New" pitchFamily="34" charset="0"/>
                <a:ea typeface="Courier New" pitchFamily="34" charset="-122"/>
                <a:cs typeface="Courier New" pitchFamily="34" charset="-120"/>
              </a:rPr>
              <a:t>📁 s3</a:t>
            </a:r>
            <a:endParaRPr lang="en-US" sz="900" dirty="0"/>
          </a:p>
        </p:txBody>
      </p:sp>
      <p:sp>
        <p:nvSpPr>
          <p:cNvPr id="31" name="Shape 28"/>
          <p:cNvSpPr/>
          <p:nvPr/>
        </p:nvSpPr>
        <p:spPr>
          <a:xfrm>
            <a:off x="320040" y="3383280"/>
            <a:ext cx="2011680" cy="292608"/>
          </a:xfrm>
          <a:prstGeom prst="rect">
            <a:avLst>
              <a:gd name="adj" fmla="val 9375"/>
            </a:avLst>
          </a:prstGeom>
          <a:solidFill>
            <a:srgbClr val="EF4444"/>
          </a:solidFill>
          <a:ln w="12700">
            <a:solidFill>
              <a:srgbClr val="EF4444"/>
            </a:solidFill>
            <a:prstDash val="solid"/>
          </a:ln>
        </p:spPr>
      </p:sp>
      <p:sp>
        <p:nvSpPr>
          <p:cNvPr id="32" name="Text 29"/>
          <p:cNvSpPr/>
          <p:nvPr/>
        </p:nvSpPr>
        <p:spPr>
          <a:xfrm>
            <a:off x="320040" y="338328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Security</a:t>
            </a:r>
            <a:endParaRPr lang="en-US" sz="900" dirty="0"/>
          </a:p>
        </p:txBody>
      </p:sp>
      <p:sp>
        <p:nvSpPr>
          <p:cNvPr id="33" name="Shape 30"/>
          <p:cNvSpPr/>
          <p:nvPr/>
        </p:nvSpPr>
        <p:spPr>
          <a:xfrm>
            <a:off x="320040" y="3730752"/>
            <a:ext cx="2011680" cy="292608"/>
          </a:xfrm>
          <a:prstGeom prst="rect">
            <a:avLst>
              <a:gd name="adj" fmla="val 6250"/>
            </a:avLst>
          </a:prstGeom>
          <a:solidFill>
            <a:srgbClr val="FFFFFF"/>
          </a:solidFill>
          <a:ln w="6350">
            <a:solidFill>
              <a:srgbClr val="EF4444"/>
            </a:solidFill>
            <a:prstDash val="solid"/>
          </a:ln>
        </p:spPr>
      </p:sp>
      <p:sp>
        <p:nvSpPr>
          <p:cNvPr id="34" name="Text 31"/>
          <p:cNvSpPr/>
          <p:nvPr/>
        </p:nvSpPr>
        <p:spPr>
          <a:xfrm>
            <a:off x="393192" y="3749040"/>
            <a:ext cx="1828800" cy="256032"/>
          </a:xfrm>
          <a:prstGeom prst="rect">
            <a:avLst/>
          </a:prstGeom>
          <a:noFill/>
          <a:ln/>
        </p:spPr>
        <p:txBody>
          <a:bodyPr wrap="square" lIns="0" tIns="0" rIns="0" bIns="0" rtlCol="0" anchor="ctr"/>
          <a:lstStyle/>
          <a:p>
            <a:pPr indent="0" marL="0">
              <a:buNone/>
            </a:pPr>
            <a:r>
              <a:rPr lang="en-US" sz="900" dirty="0">
                <a:solidFill>
                  <a:srgbClr val="1E293B"/>
                </a:solidFill>
                <a:latin typeface="Courier New" pitchFamily="34" charset="0"/>
                <a:ea typeface="Courier New" pitchFamily="34" charset="-122"/>
                <a:cs typeface="Courier New" pitchFamily="34" charset="-120"/>
              </a:rPr>
              <a:t>📁 kms</a:t>
            </a:r>
            <a:endParaRPr lang="en-US" sz="900" dirty="0"/>
          </a:p>
        </p:txBody>
      </p:sp>
      <p:sp>
        <p:nvSpPr>
          <p:cNvPr id="35" name="Shape 32"/>
          <p:cNvSpPr/>
          <p:nvPr/>
        </p:nvSpPr>
        <p:spPr>
          <a:xfrm>
            <a:off x="320040" y="4078224"/>
            <a:ext cx="2011680" cy="292608"/>
          </a:xfrm>
          <a:prstGeom prst="rect">
            <a:avLst>
              <a:gd name="adj" fmla="val 6250"/>
            </a:avLst>
          </a:prstGeom>
          <a:solidFill>
            <a:srgbClr val="FFFFFF"/>
          </a:solidFill>
          <a:ln w="6350">
            <a:solidFill>
              <a:srgbClr val="EF4444"/>
            </a:solidFill>
            <a:prstDash val="solid"/>
          </a:ln>
        </p:spPr>
      </p:sp>
      <p:sp>
        <p:nvSpPr>
          <p:cNvPr id="36" name="Text 33"/>
          <p:cNvSpPr/>
          <p:nvPr/>
        </p:nvSpPr>
        <p:spPr>
          <a:xfrm>
            <a:off x="393192" y="4096512"/>
            <a:ext cx="1828800" cy="256032"/>
          </a:xfrm>
          <a:prstGeom prst="rect">
            <a:avLst/>
          </a:prstGeom>
          <a:noFill/>
          <a:ln/>
        </p:spPr>
        <p:txBody>
          <a:bodyPr wrap="square" lIns="0" tIns="0" rIns="0" bIns="0" rtlCol="0" anchor="ctr"/>
          <a:lstStyle/>
          <a:p>
            <a:pPr indent="0" marL="0">
              <a:buNone/>
            </a:pPr>
            <a:r>
              <a:rPr lang="en-US" sz="900" dirty="0">
                <a:solidFill>
                  <a:srgbClr val="1E293B"/>
                </a:solidFill>
                <a:latin typeface="Courier New" pitchFamily="34" charset="0"/>
                <a:ea typeface="Courier New" pitchFamily="34" charset="-122"/>
                <a:cs typeface="Courier New" pitchFamily="34" charset="-120"/>
              </a:rPr>
              <a:t>📁 secrets-manager</a:t>
            </a:r>
            <a:endParaRPr lang="en-US" sz="900" dirty="0"/>
          </a:p>
        </p:txBody>
      </p:sp>
      <p:sp>
        <p:nvSpPr>
          <p:cNvPr id="37" name="Shape 34"/>
          <p:cNvSpPr/>
          <p:nvPr/>
        </p:nvSpPr>
        <p:spPr>
          <a:xfrm>
            <a:off x="320040" y="4425696"/>
            <a:ext cx="2011680" cy="292608"/>
          </a:xfrm>
          <a:prstGeom prst="rect">
            <a:avLst>
              <a:gd name="adj" fmla="val 6250"/>
            </a:avLst>
          </a:prstGeom>
          <a:solidFill>
            <a:srgbClr val="FFFFFF"/>
          </a:solidFill>
          <a:ln w="6350">
            <a:solidFill>
              <a:srgbClr val="EF4444"/>
            </a:solidFill>
            <a:prstDash val="solid"/>
          </a:ln>
        </p:spPr>
      </p:sp>
      <p:sp>
        <p:nvSpPr>
          <p:cNvPr id="38" name="Text 35"/>
          <p:cNvSpPr/>
          <p:nvPr/>
        </p:nvSpPr>
        <p:spPr>
          <a:xfrm>
            <a:off x="393192" y="4443984"/>
            <a:ext cx="1828800" cy="256032"/>
          </a:xfrm>
          <a:prstGeom prst="rect">
            <a:avLst/>
          </a:prstGeom>
          <a:noFill/>
          <a:ln/>
        </p:spPr>
        <p:txBody>
          <a:bodyPr wrap="square" lIns="0" tIns="0" rIns="0" bIns="0" rtlCol="0" anchor="ctr"/>
          <a:lstStyle/>
          <a:p>
            <a:pPr indent="0" marL="0">
              <a:buNone/>
            </a:pPr>
            <a:r>
              <a:rPr lang="en-US" sz="900" dirty="0">
                <a:solidFill>
                  <a:srgbClr val="1E293B"/>
                </a:solidFill>
                <a:latin typeface="Courier New" pitchFamily="34" charset="0"/>
                <a:ea typeface="Courier New" pitchFamily="34" charset="-122"/>
                <a:cs typeface="Courier New" pitchFamily="34" charset="-120"/>
              </a:rPr>
              <a:t>📁 iam</a:t>
            </a:r>
            <a:endParaRPr lang="en-US" sz="900" dirty="0"/>
          </a:p>
        </p:txBody>
      </p:sp>
      <p:sp>
        <p:nvSpPr>
          <p:cNvPr id="39" name="Shape 36"/>
          <p:cNvSpPr/>
          <p:nvPr/>
        </p:nvSpPr>
        <p:spPr>
          <a:xfrm>
            <a:off x="320040" y="4773168"/>
            <a:ext cx="2011680" cy="292608"/>
          </a:xfrm>
          <a:prstGeom prst="rect">
            <a:avLst>
              <a:gd name="adj" fmla="val 6250"/>
            </a:avLst>
          </a:prstGeom>
          <a:solidFill>
            <a:srgbClr val="FFFFFF"/>
          </a:solidFill>
          <a:ln w="6350">
            <a:solidFill>
              <a:srgbClr val="EF4444"/>
            </a:solidFill>
            <a:prstDash val="solid"/>
          </a:ln>
        </p:spPr>
      </p:sp>
      <p:sp>
        <p:nvSpPr>
          <p:cNvPr id="40" name="Text 37"/>
          <p:cNvSpPr/>
          <p:nvPr/>
        </p:nvSpPr>
        <p:spPr>
          <a:xfrm>
            <a:off x="393192" y="4791456"/>
            <a:ext cx="1828800" cy="256032"/>
          </a:xfrm>
          <a:prstGeom prst="rect">
            <a:avLst/>
          </a:prstGeom>
          <a:noFill/>
          <a:ln/>
        </p:spPr>
        <p:txBody>
          <a:bodyPr wrap="square" lIns="0" tIns="0" rIns="0" bIns="0" rtlCol="0" anchor="ctr"/>
          <a:lstStyle/>
          <a:p>
            <a:pPr indent="0" marL="0">
              <a:buNone/>
            </a:pPr>
            <a:r>
              <a:rPr lang="en-US" sz="900" dirty="0">
                <a:solidFill>
                  <a:srgbClr val="1E293B"/>
                </a:solidFill>
                <a:latin typeface="Courier New" pitchFamily="34" charset="0"/>
                <a:ea typeface="Courier New" pitchFamily="34" charset="-122"/>
                <a:cs typeface="Courier New" pitchFamily="34" charset="-120"/>
              </a:rPr>
              <a:t>📁 waf</a:t>
            </a:r>
            <a:endParaRPr lang="en-US" sz="900" dirty="0"/>
          </a:p>
        </p:txBody>
      </p:sp>
      <p:sp>
        <p:nvSpPr>
          <p:cNvPr id="41" name="Shape 38"/>
          <p:cNvSpPr/>
          <p:nvPr/>
        </p:nvSpPr>
        <p:spPr>
          <a:xfrm>
            <a:off x="2423160" y="3383280"/>
            <a:ext cx="2011680" cy="292608"/>
          </a:xfrm>
          <a:prstGeom prst="rect">
            <a:avLst>
              <a:gd name="adj" fmla="val 9375"/>
            </a:avLst>
          </a:prstGeom>
          <a:solidFill>
            <a:srgbClr val="EAB308"/>
          </a:solidFill>
          <a:ln w="12700">
            <a:solidFill>
              <a:srgbClr val="EAB308"/>
            </a:solidFill>
            <a:prstDash val="solid"/>
          </a:ln>
        </p:spPr>
      </p:sp>
      <p:sp>
        <p:nvSpPr>
          <p:cNvPr id="42" name="Text 39"/>
          <p:cNvSpPr/>
          <p:nvPr/>
        </p:nvSpPr>
        <p:spPr>
          <a:xfrm>
            <a:off x="2423160" y="338328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Serverless</a:t>
            </a:r>
            <a:endParaRPr lang="en-US" sz="900" dirty="0"/>
          </a:p>
        </p:txBody>
      </p:sp>
      <p:sp>
        <p:nvSpPr>
          <p:cNvPr id="43" name="Shape 40"/>
          <p:cNvSpPr/>
          <p:nvPr/>
        </p:nvSpPr>
        <p:spPr>
          <a:xfrm>
            <a:off x="2423160" y="3730752"/>
            <a:ext cx="2011680" cy="292608"/>
          </a:xfrm>
          <a:prstGeom prst="rect">
            <a:avLst>
              <a:gd name="adj" fmla="val 6250"/>
            </a:avLst>
          </a:prstGeom>
          <a:solidFill>
            <a:srgbClr val="FFFFFF"/>
          </a:solidFill>
          <a:ln w="6350">
            <a:solidFill>
              <a:srgbClr val="EAB308"/>
            </a:solidFill>
            <a:prstDash val="solid"/>
          </a:ln>
        </p:spPr>
      </p:sp>
      <p:sp>
        <p:nvSpPr>
          <p:cNvPr id="44" name="Text 41"/>
          <p:cNvSpPr/>
          <p:nvPr/>
        </p:nvSpPr>
        <p:spPr>
          <a:xfrm>
            <a:off x="2496312" y="3749040"/>
            <a:ext cx="1828800" cy="256032"/>
          </a:xfrm>
          <a:prstGeom prst="rect">
            <a:avLst/>
          </a:prstGeom>
          <a:noFill/>
          <a:ln/>
        </p:spPr>
        <p:txBody>
          <a:bodyPr wrap="square" lIns="0" tIns="0" rIns="0" bIns="0" rtlCol="0" anchor="ctr"/>
          <a:lstStyle/>
          <a:p>
            <a:pPr indent="0" marL="0">
              <a:buNone/>
            </a:pPr>
            <a:r>
              <a:rPr lang="en-US" sz="900" dirty="0">
                <a:solidFill>
                  <a:srgbClr val="1E293B"/>
                </a:solidFill>
                <a:latin typeface="Courier New" pitchFamily="34" charset="0"/>
                <a:ea typeface="Courier New" pitchFamily="34" charset="-122"/>
                <a:cs typeface="Courier New" pitchFamily="34" charset="-120"/>
              </a:rPr>
              <a:t>📁 lambda</a:t>
            </a:r>
            <a:endParaRPr lang="en-US" sz="900" dirty="0"/>
          </a:p>
        </p:txBody>
      </p:sp>
      <p:sp>
        <p:nvSpPr>
          <p:cNvPr id="45" name="Shape 42"/>
          <p:cNvSpPr/>
          <p:nvPr/>
        </p:nvSpPr>
        <p:spPr>
          <a:xfrm>
            <a:off x="4526280" y="3383280"/>
            <a:ext cx="2011680" cy="292608"/>
          </a:xfrm>
          <a:prstGeom prst="rect">
            <a:avLst>
              <a:gd name="adj" fmla="val 9375"/>
            </a:avLst>
          </a:prstGeom>
          <a:solidFill>
            <a:srgbClr val="EC4899"/>
          </a:solidFill>
          <a:ln w="12700">
            <a:solidFill>
              <a:srgbClr val="EC4899"/>
            </a:solidFill>
            <a:prstDash val="solid"/>
          </a:ln>
        </p:spPr>
      </p:sp>
      <p:sp>
        <p:nvSpPr>
          <p:cNvPr id="46" name="Text 43"/>
          <p:cNvSpPr/>
          <p:nvPr/>
        </p:nvSpPr>
        <p:spPr>
          <a:xfrm>
            <a:off x="4526280" y="338328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Monitoring</a:t>
            </a:r>
            <a:endParaRPr lang="en-US" sz="900" dirty="0"/>
          </a:p>
        </p:txBody>
      </p:sp>
      <p:sp>
        <p:nvSpPr>
          <p:cNvPr id="47" name="Shape 44"/>
          <p:cNvSpPr/>
          <p:nvPr/>
        </p:nvSpPr>
        <p:spPr>
          <a:xfrm>
            <a:off x="4526280" y="3730752"/>
            <a:ext cx="2011680" cy="292608"/>
          </a:xfrm>
          <a:prstGeom prst="rect">
            <a:avLst>
              <a:gd name="adj" fmla="val 6250"/>
            </a:avLst>
          </a:prstGeom>
          <a:solidFill>
            <a:srgbClr val="FFFFFF"/>
          </a:solidFill>
          <a:ln w="6350">
            <a:solidFill>
              <a:srgbClr val="EC4899"/>
            </a:solidFill>
            <a:prstDash val="solid"/>
          </a:ln>
        </p:spPr>
      </p:sp>
      <p:sp>
        <p:nvSpPr>
          <p:cNvPr id="48" name="Text 45"/>
          <p:cNvSpPr/>
          <p:nvPr/>
        </p:nvSpPr>
        <p:spPr>
          <a:xfrm>
            <a:off x="4599432" y="3749040"/>
            <a:ext cx="1828800" cy="256032"/>
          </a:xfrm>
          <a:prstGeom prst="rect">
            <a:avLst/>
          </a:prstGeom>
          <a:noFill/>
          <a:ln/>
        </p:spPr>
        <p:txBody>
          <a:bodyPr wrap="square" lIns="0" tIns="0" rIns="0" bIns="0" rtlCol="0" anchor="ctr"/>
          <a:lstStyle/>
          <a:p>
            <a:pPr indent="0" marL="0">
              <a:buNone/>
            </a:pPr>
            <a:r>
              <a:rPr lang="en-US" sz="900" dirty="0">
                <a:solidFill>
                  <a:srgbClr val="1E293B"/>
                </a:solidFill>
                <a:latin typeface="Courier New" pitchFamily="34" charset="0"/>
                <a:ea typeface="Courier New" pitchFamily="34" charset="-122"/>
                <a:cs typeface="Courier New" pitchFamily="34" charset="-120"/>
              </a:rPr>
              <a:t>📁 sns</a:t>
            </a:r>
            <a:endParaRPr lang="en-US" sz="900" dirty="0"/>
          </a:p>
        </p:txBody>
      </p:sp>
      <p:sp>
        <p:nvSpPr>
          <p:cNvPr id="49" name="Shape 46"/>
          <p:cNvSpPr/>
          <p:nvPr/>
        </p:nvSpPr>
        <p:spPr>
          <a:xfrm>
            <a:off x="4526280" y="4078224"/>
            <a:ext cx="2011680" cy="292608"/>
          </a:xfrm>
          <a:prstGeom prst="rect">
            <a:avLst>
              <a:gd name="adj" fmla="val 6250"/>
            </a:avLst>
          </a:prstGeom>
          <a:solidFill>
            <a:srgbClr val="FFFFFF"/>
          </a:solidFill>
          <a:ln w="6350">
            <a:solidFill>
              <a:srgbClr val="EC4899"/>
            </a:solidFill>
            <a:prstDash val="solid"/>
          </a:ln>
        </p:spPr>
      </p:sp>
      <p:sp>
        <p:nvSpPr>
          <p:cNvPr id="50" name="Text 47"/>
          <p:cNvSpPr/>
          <p:nvPr/>
        </p:nvSpPr>
        <p:spPr>
          <a:xfrm>
            <a:off x="4599432" y="4096512"/>
            <a:ext cx="1828800" cy="256032"/>
          </a:xfrm>
          <a:prstGeom prst="rect">
            <a:avLst/>
          </a:prstGeom>
          <a:noFill/>
          <a:ln/>
        </p:spPr>
        <p:txBody>
          <a:bodyPr wrap="square" lIns="0" tIns="0" rIns="0" bIns="0" rtlCol="0" anchor="ctr"/>
          <a:lstStyle/>
          <a:p>
            <a:pPr indent="0" marL="0">
              <a:buNone/>
            </a:pPr>
            <a:r>
              <a:rPr lang="en-US" sz="900" dirty="0">
                <a:solidFill>
                  <a:srgbClr val="1E293B"/>
                </a:solidFill>
                <a:latin typeface="Courier New" pitchFamily="34" charset="0"/>
                <a:ea typeface="Courier New" pitchFamily="34" charset="-122"/>
                <a:cs typeface="Courier New" pitchFamily="34" charset="-120"/>
              </a:rPr>
              <a:t>📁 cloudwatch</a:t>
            </a:r>
            <a:endParaRPr lang="en-US" sz="900" dirty="0"/>
          </a:p>
        </p:txBody>
      </p:sp>
      <p:sp>
        <p:nvSpPr>
          <p:cNvPr id="51" name="Shape 48"/>
          <p:cNvSpPr/>
          <p:nvPr/>
        </p:nvSpPr>
        <p:spPr>
          <a:xfrm>
            <a:off x="6629400" y="3383280"/>
            <a:ext cx="2011680" cy="292608"/>
          </a:xfrm>
          <a:prstGeom prst="rect">
            <a:avLst>
              <a:gd name="adj" fmla="val 9375"/>
            </a:avLst>
          </a:prstGeom>
          <a:solidFill>
            <a:srgbClr val="3B82F6"/>
          </a:solidFill>
          <a:ln w="12700">
            <a:solidFill>
              <a:srgbClr val="3B82F6"/>
            </a:solidFill>
            <a:prstDash val="solid"/>
          </a:ln>
        </p:spPr>
      </p:sp>
      <p:sp>
        <p:nvSpPr>
          <p:cNvPr id="52" name="Text 49"/>
          <p:cNvSpPr/>
          <p:nvPr/>
        </p:nvSpPr>
        <p:spPr>
          <a:xfrm>
            <a:off x="6629400" y="3383280"/>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Edge</a:t>
            </a:r>
            <a:endParaRPr lang="en-US" sz="900" dirty="0"/>
          </a:p>
        </p:txBody>
      </p:sp>
      <p:sp>
        <p:nvSpPr>
          <p:cNvPr id="53" name="Shape 50"/>
          <p:cNvSpPr/>
          <p:nvPr/>
        </p:nvSpPr>
        <p:spPr>
          <a:xfrm>
            <a:off x="6629400" y="3730752"/>
            <a:ext cx="2011680" cy="292608"/>
          </a:xfrm>
          <a:prstGeom prst="rect">
            <a:avLst>
              <a:gd name="adj" fmla="val 6250"/>
            </a:avLst>
          </a:prstGeom>
          <a:solidFill>
            <a:srgbClr val="FFFFFF"/>
          </a:solidFill>
          <a:ln w="6350">
            <a:solidFill>
              <a:srgbClr val="3B82F6"/>
            </a:solidFill>
            <a:prstDash val="solid"/>
          </a:ln>
        </p:spPr>
      </p:sp>
      <p:sp>
        <p:nvSpPr>
          <p:cNvPr id="54" name="Text 51"/>
          <p:cNvSpPr/>
          <p:nvPr/>
        </p:nvSpPr>
        <p:spPr>
          <a:xfrm>
            <a:off x="6702552" y="3749040"/>
            <a:ext cx="1828800" cy="256032"/>
          </a:xfrm>
          <a:prstGeom prst="rect">
            <a:avLst/>
          </a:prstGeom>
          <a:noFill/>
          <a:ln/>
        </p:spPr>
        <p:txBody>
          <a:bodyPr wrap="square" lIns="0" tIns="0" rIns="0" bIns="0" rtlCol="0" anchor="ctr"/>
          <a:lstStyle/>
          <a:p>
            <a:pPr indent="0" marL="0">
              <a:buNone/>
            </a:pPr>
            <a:r>
              <a:rPr lang="en-US" sz="900" dirty="0">
                <a:solidFill>
                  <a:srgbClr val="1E293B"/>
                </a:solidFill>
                <a:latin typeface="Courier New" pitchFamily="34" charset="0"/>
                <a:ea typeface="Courier New" pitchFamily="34" charset="-122"/>
                <a:cs typeface="Courier New" pitchFamily="34" charset="-120"/>
              </a:rPr>
              <a:t>📁 cloudfront</a:t>
            </a:r>
            <a:endParaRPr lang="en-US" sz="900" dirty="0"/>
          </a:p>
        </p:txBody>
      </p:sp>
      <p:sp>
        <p:nvSpPr>
          <p:cNvPr id="55" name="Text 52"/>
          <p:cNvSpPr/>
          <p:nvPr/>
        </p:nvSpPr>
        <p:spPr>
          <a:xfrm>
            <a:off x="320040" y="4828032"/>
            <a:ext cx="8503920" cy="201168"/>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Each module contains:  main.tf  ·  variables.tf  ·  outputs.tf</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Terraform Remote Backend</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S3 state storage + DynamoDB locking for team-safe deployments</a:t>
            </a:r>
            <a:endParaRPr lang="en-US" sz="1100" dirty="0"/>
          </a:p>
        </p:txBody>
      </p:sp>
      <p:sp>
        <p:nvSpPr>
          <p:cNvPr id="5" name="Shape 3"/>
          <p:cNvSpPr/>
          <p:nvPr/>
        </p:nvSpPr>
        <p:spPr>
          <a:xfrm>
            <a:off x="320040" y="1005840"/>
            <a:ext cx="4023360" cy="777240"/>
          </a:xfrm>
          <a:prstGeom prst="rect">
            <a:avLst>
              <a:gd name="adj" fmla="val 4706"/>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6" name="Shape 4"/>
          <p:cNvSpPr/>
          <p:nvPr/>
        </p:nvSpPr>
        <p:spPr>
          <a:xfrm>
            <a:off x="411480" y="1138428"/>
            <a:ext cx="512064" cy="512064"/>
          </a:xfrm>
          <a:prstGeom prst="oval">
            <a:avLst/>
          </a:prstGeom>
          <a:solidFill>
            <a:srgbClr val="14B8A6"/>
          </a:solidFill>
          <a:ln w="12700">
            <a:solidFill>
              <a:srgbClr val="14B8A6"/>
            </a:solidFill>
            <a:prstDash val="solid"/>
          </a:ln>
        </p:spPr>
      </p:sp>
      <p:pic>
        <p:nvPicPr>
          <p:cNvPr id="7" name="Image 0" descr="preencoded.png">    </p:cNvPr>
          <p:cNvPicPr>
            <a:picLocks noChangeAspect="1"/>
          </p:cNvPicPr>
          <p:nvPr/>
        </p:nvPicPr>
        <p:blipFill>
          <a:blip r:embed="rId1"/>
          <a:stretch>
            <a:fillRect/>
          </a:stretch>
        </p:blipFill>
        <p:spPr>
          <a:xfrm>
            <a:off x="513893" y="1240841"/>
            <a:ext cx="307238" cy="307238"/>
          </a:xfrm>
          <a:prstGeom prst="rect">
            <a:avLst/>
          </a:prstGeom>
        </p:spPr>
      </p:pic>
      <p:sp>
        <p:nvSpPr>
          <p:cNvPr id="8" name="Text 5"/>
          <p:cNvSpPr/>
          <p:nvPr/>
        </p:nvSpPr>
        <p:spPr>
          <a:xfrm>
            <a:off x="1024128" y="1078992"/>
            <a:ext cx="320040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State Storage</a:t>
            </a:r>
            <a:endParaRPr lang="en-US" sz="1300" dirty="0"/>
          </a:p>
        </p:txBody>
      </p:sp>
      <p:sp>
        <p:nvSpPr>
          <p:cNvPr id="9" name="Text 6"/>
          <p:cNvSpPr/>
          <p:nvPr/>
        </p:nvSpPr>
        <p:spPr>
          <a:xfrm>
            <a:off x="1024128" y="1389888"/>
            <a:ext cx="3200400"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terraform.tfstate stored in S3 — encrypted, versioned</a:t>
            </a:r>
            <a:endParaRPr lang="en-US" sz="1000" dirty="0"/>
          </a:p>
        </p:txBody>
      </p:sp>
      <p:sp>
        <p:nvSpPr>
          <p:cNvPr id="10" name="Shape 7"/>
          <p:cNvSpPr/>
          <p:nvPr/>
        </p:nvSpPr>
        <p:spPr>
          <a:xfrm>
            <a:off x="320040" y="1920240"/>
            <a:ext cx="4023360" cy="777240"/>
          </a:xfrm>
          <a:prstGeom prst="rect">
            <a:avLst>
              <a:gd name="adj" fmla="val 4706"/>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1" name="Shape 8"/>
          <p:cNvSpPr/>
          <p:nvPr/>
        </p:nvSpPr>
        <p:spPr>
          <a:xfrm>
            <a:off x="411480" y="2052828"/>
            <a:ext cx="512064" cy="512064"/>
          </a:xfrm>
          <a:prstGeom prst="oval">
            <a:avLst/>
          </a:prstGeom>
          <a:solidFill>
            <a:srgbClr val="0073BB"/>
          </a:solidFill>
          <a:ln w="12700">
            <a:solidFill>
              <a:srgbClr val="0073BB"/>
            </a:solidFill>
            <a:prstDash val="solid"/>
          </a:ln>
        </p:spPr>
      </p:sp>
      <p:pic>
        <p:nvPicPr>
          <p:cNvPr id="12" name="Image 1" descr="preencoded.png">    </p:cNvPr>
          <p:cNvPicPr>
            <a:picLocks noChangeAspect="1"/>
          </p:cNvPicPr>
          <p:nvPr/>
        </p:nvPicPr>
        <p:blipFill>
          <a:blip r:embed="rId2"/>
          <a:stretch>
            <a:fillRect/>
          </a:stretch>
        </p:blipFill>
        <p:spPr>
          <a:xfrm>
            <a:off x="513893" y="2155241"/>
            <a:ext cx="307238" cy="307238"/>
          </a:xfrm>
          <a:prstGeom prst="rect">
            <a:avLst/>
          </a:prstGeom>
        </p:spPr>
      </p:pic>
      <p:sp>
        <p:nvSpPr>
          <p:cNvPr id="13" name="Text 9"/>
          <p:cNvSpPr/>
          <p:nvPr/>
        </p:nvSpPr>
        <p:spPr>
          <a:xfrm>
            <a:off x="1024128" y="1993392"/>
            <a:ext cx="320040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Team Collaboration</a:t>
            </a:r>
            <a:endParaRPr lang="en-US" sz="1300" dirty="0"/>
          </a:p>
        </p:txBody>
      </p:sp>
      <p:sp>
        <p:nvSpPr>
          <p:cNvPr id="14" name="Text 10"/>
          <p:cNvSpPr/>
          <p:nvPr/>
        </p:nvSpPr>
        <p:spPr>
          <a:xfrm>
            <a:off x="1024128" y="2304288"/>
            <a:ext cx="3200400"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Multiple engineers share the same state safely</a:t>
            </a:r>
            <a:endParaRPr lang="en-US" sz="1000" dirty="0"/>
          </a:p>
        </p:txBody>
      </p:sp>
      <p:sp>
        <p:nvSpPr>
          <p:cNvPr id="15" name="Shape 11"/>
          <p:cNvSpPr/>
          <p:nvPr/>
        </p:nvSpPr>
        <p:spPr>
          <a:xfrm>
            <a:off x="320040" y="2834640"/>
            <a:ext cx="4023360" cy="777240"/>
          </a:xfrm>
          <a:prstGeom prst="rect">
            <a:avLst>
              <a:gd name="adj" fmla="val 4706"/>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6" name="Shape 12"/>
          <p:cNvSpPr/>
          <p:nvPr/>
        </p:nvSpPr>
        <p:spPr>
          <a:xfrm>
            <a:off x="411480" y="2967228"/>
            <a:ext cx="512064" cy="512064"/>
          </a:xfrm>
          <a:prstGeom prst="oval">
            <a:avLst/>
          </a:prstGeom>
          <a:solidFill>
            <a:srgbClr val="EF4444"/>
          </a:solidFill>
          <a:ln w="12700">
            <a:solidFill>
              <a:srgbClr val="EF4444"/>
            </a:solidFill>
            <a:prstDash val="solid"/>
          </a:ln>
        </p:spPr>
      </p:sp>
      <p:pic>
        <p:nvPicPr>
          <p:cNvPr id="17" name="Image 2" descr="preencoded.png">    </p:cNvPr>
          <p:cNvPicPr>
            <a:picLocks noChangeAspect="1"/>
          </p:cNvPicPr>
          <p:nvPr/>
        </p:nvPicPr>
        <p:blipFill>
          <a:blip r:embed="rId3"/>
          <a:stretch>
            <a:fillRect/>
          </a:stretch>
        </p:blipFill>
        <p:spPr>
          <a:xfrm>
            <a:off x="513893" y="3069641"/>
            <a:ext cx="307238" cy="307238"/>
          </a:xfrm>
          <a:prstGeom prst="rect">
            <a:avLst/>
          </a:prstGeom>
        </p:spPr>
      </p:pic>
      <p:sp>
        <p:nvSpPr>
          <p:cNvPr id="18" name="Text 13"/>
          <p:cNvSpPr/>
          <p:nvPr/>
        </p:nvSpPr>
        <p:spPr>
          <a:xfrm>
            <a:off x="1024128" y="2907792"/>
            <a:ext cx="320040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State Locking</a:t>
            </a:r>
            <a:endParaRPr lang="en-US" sz="1300" dirty="0"/>
          </a:p>
        </p:txBody>
      </p:sp>
      <p:sp>
        <p:nvSpPr>
          <p:cNvPr id="19" name="Text 14"/>
          <p:cNvSpPr/>
          <p:nvPr/>
        </p:nvSpPr>
        <p:spPr>
          <a:xfrm>
            <a:off x="1024128" y="3218688"/>
            <a:ext cx="3200400"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DynamoDB prevents concurrent apply operations</a:t>
            </a:r>
            <a:endParaRPr lang="en-US" sz="1000" dirty="0"/>
          </a:p>
        </p:txBody>
      </p:sp>
      <p:sp>
        <p:nvSpPr>
          <p:cNvPr id="20" name="Shape 15"/>
          <p:cNvSpPr/>
          <p:nvPr/>
        </p:nvSpPr>
        <p:spPr>
          <a:xfrm>
            <a:off x="320040" y="3749040"/>
            <a:ext cx="4023360" cy="777240"/>
          </a:xfrm>
          <a:prstGeom prst="rect">
            <a:avLst>
              <a:gd name="adj" fmla="val 4706"/>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1" name="Shape 16"/>
          <p:cNvSpPr/>
          <p:nvPr/>
        </p:nvSpPr>
        <p:spPr>
          <a:xfrm>
            <a:off x="411480" y="3881628"/>
            <a:ext cx="512064" cy="512064"/>
          </a:xfrm>
          <a:prstGeom prst="oval">
            <a:avLst/>
          </a:prstGeom>
          <a:solidFill>
            <a:srgbClr val="F97316"/>
          </a:solidFill>
          <a:ln w="12700">
            <a:solidFill>
              <a:srgbClr val="F97316"/>
            </a:solidFill>
            <a:prstDash val="solid"/>
          </a:ln>
        </p:spPr>
      </p:sp>
      <p:pic>
        <p:nvPicPr>
          <p:cNvPr id="22" name="Image 3" descr="preencoded.png">    </p:cNvPr>
          <p:cNvPicPr>
            <a:picLocks noChangeAspect="1"/>
          </p:cNvPicPr>
          <p:nvPr/>
        </p:nvPicPr>
        <p:blipFill>
          <a:blip r:embed="rId4"/>
          <a:stretch>
            <a:fillRect/>
          </a:stretch>
        </p:blipFill>
        <p:spPr>
          <a:xfrm>
            <a:off x="513893" y="3984041"/>
            <a:ext cx="307238" cy="307238"/>
          </a:xfrm>
          <a:prstGeom prst="rect">
            <a:avLst/>
          </a:prstGeom>
        </p:spPr>
      </p:pic>
      <p:sp>
        <p:nvSpPr>
          <p:cNvPr id="23" name="Text 17"/>
          <p:cNvSpPr/>
          <p:nvPr/>
        </p:nvSpPr>
        <p:spPr>
          <a:xfrm>
            <a:off x="1024128" y="3822192"/>
            <a:ext cx="320040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Disaster Recovery</a:t>
            </a:r>
            <a:endParaRPr lang="en-US" sz="1300" dirty="0"/>
          </a:p>
        </p:txBody>
      </p:sp>
      <p:sp>
        <p:nvSpPr>
          <p:cNvPr id="24" name="Text 18"/>
          <p:cNvSpPr/>
          <p:nvPr/>
        </p:nvSpPr>
        <p:spPr>
          <a:xfrm>
            <a:off x="1024128" y="4133088"/>
            <a:ext cx="3200400"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State file versioned — roll back to any past state</a:t>
            </a:r>
            <a:endParaRPr lang="en-US" sz="1000" dirty="0"/>
          </a:p>
        </p:txBody>
      </p:sp>
      <p:sp>
        <p:nvSpPr>
          <p:cNvPr id="25" name="Shape 19"/>
          <p:cNvSpPr/>
          <p:nvPr/>
        </p:nvSpPr>
        <p:spPr>
          <a:xfrm>
            <a:off x="4663440" y="1005840"/>
            <a:ext cx="4160520" cy="3794760"/>
          </a:xfrm>
          <a:prstGeom prst="rect">
            <a:avLst>
              <a:gd name="adj" fmla="val 964"/>
            </a:avLst>
          </a:prstGeom>
          <a:solidFill>
            <a:srgbClr val="1A2C42"/>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6" name="Text 20"/>
          <p:cNvSpPr/>
          <p:nvPr/>
        </p:nvSpPr>
        <p:spPr>
          <a:xfrm>
            <a:off x="4754880" y="1069848"/>
            <a:ext cx="3977640" cy="320040"/>
          </a:xfrm>
          <a:prstGeom prst="rect">
            <a:avLst/>
          </a:prstGeom>
          <a:noFill/>
          <a:ln/>
        </p:spPr>
        <p:txBody>
          <a:bodyPr wrap="square" lIns="0" tIns="0" rIns="0" bIns="0" rtlCol="0" anchor="ctr"/>
          <a:lstStyle/>
          <a:p>
            <a:pPr algn="ctr" indent="0" marL="0">
              <a:buNone/>
            </a:pPr>
            <a:r>
              <a:rPr lang="en-US" sz="1300" b="1" dirty="0">
                <a:solidFill>
                  <a:srgbClr val="FF9900"/>
                </a:solidFill>
                <a:latin typeface="Cambria" pitchFamily="34" charset="0"/>
                <a:ea typeface="Cambria" pitchFamily="34" charset="-122"/>
                <a:cs typeface="Cambria" pitchFamily="34" charset="-120"/>
              </a:rPr>
              <a:t>Remote Backend Architecture</a:t>
            </a:r>
            <a:endParaRPr lang="en-US" sz="1300" dirty="0"/>
          </a:p>
        </p:txBody>
      </p:sp>
      <p:sp>
        <p:nvSpPr>
          <p:cNvPr id="27" name="Shape 21"/>
          <p:cNvSpPr/>
          <p:nvPr/>
        </p:nvSpPr>
        <p:spPr>
          <a:xfrm>
            <a:off x="5760720" y="1508760"/>
            <a:ext cx="1554480" cy="566928"/>
          </a:xfrm>
          <a:prstGeom prst="rect">
            <a:avLst>
              <a:gd name="adj" fmla="val 8065"/>
            </a:avLst>
          </a:prstGeom>
          <a:solidFill>
            <a:srgbClr val="7C3AED"/>
          </a:solidFill>
          <a:ln w="12700">
            <a:solidFill>
              <a:srgbClr val="7C3AED"/>
            </a:solidFill>
            <a:prstDash val="solid"/>
          </a:ln>
          <a:effectLst>
            <a:outerShdw sx="100000" sy="100000" kx="0" ky="0" algn="bl" rotWithShape="0" blurRad="101600" dist="25400" dir="2700000">
              <a:srgbClr val="000000">
                <a:alpha val="12000"/>
              </a:srgbClr>
            </a:outerShdw>
          </a:effectLst>
        </p:spPr>
      </p:sp>
      <p:pic>
        <p:nvPicPr>
          <p:cNvPr id="28" name="Image 4" descr="preencoded.png">    </p:cNvPr>
          <p:cNvPicPr>
            <a:picLocks noChangeAspect="1"/>
          </p:cNvPicPr>
          <p:nvPr/>
        </p:nvPicPr>
        <p:blipFill>
          <a:blip r:embed="rId5"/>
          <a:stretch>
            <a:fillRect/>
          </a:stretch>
        </p:blipFill>
        <p:spPr>
          <a:xfrm>
            <a:off x="5852160" y="1572768"/>
            <a:ext cx="292608" cy="292608"/>
          </a:xfrm>
          <a:prstGeom prst="rect">
            <a:avLst/>
          </a:prstGeom>
        </p:spPr>
      </p:pic>
      <p:sp>
        <p:nvSpPr>
          <p:cNvPr id="29" name="Text 22"/>
          <p:cNvSpPr/>
          <p:nvPr/>
        </p:nvSpPr>
        <p:spPr>
          <a:xfrm>
            <a:off x="6163056" y="1572768"/>
            <a:ext cx="1078992"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Terraform CLI</a:t>
            </a:r>
            <a:endParaRPr lang="en-US" sz="1000" dirty="0"/>
          </a:p>
        </p:txBody>
      </p:sp>
      <p:sp>
        <p:nvSpPr>
          <p:cNvPr id="30" name="Text 23"/>
          <p:cNvSpPr/>
          <p:nvPr/>
        </p:nvSpPr>
        <p:spPr>
          <a:xfrm>
            <a:off x="5760720" y="1828800"/>
            <a:ext cx="1554480" cy="182880"/>
          </a:xfrm>
          <a:prstGeom prst="rect">
            <a:avLst/>
          </a:prstGeom>
          <a:noFill/>
          <a:ln/>
        </p:spPr>
        <p:txBody>
          <a:bodyPr wrap="square" lIns="0" tIns="0" rIns="0" bIns="0" rtlCol="0" anchor="ctr"/>
          <a:lstStyle/>
          <a:p>
            <a:pPr algn="ctr" indent="0" marL="0">
              <a:buNone/>
            </a:pPr>
            <a:r>
              <a:rPr lang="en-US" sz="850" dirty="0">
                <a:solidFill>
                  <a:srgbClr val="D0C4FF"/>
                </a:solidFill>
                <a:latin typeface="Courier New" pitchFamily="34" charset="0"/>
                <a:ea typeface="Courier New" pitchFamily="34" charset="-122"/>
                <a:cs typeface="Courier New" pitchFamily="34" charset="-120"/>
              </a:rPr>
              <a:t>terraform apply</a:t>
            </a:r>
            <a:endParaRPr lang="en-US" sz="850" dirty="0"/>
          </a:p>
        </p:txBody>
      </p:sp>
      <p:sp>
        <p:nvSpPr>
          <p:cNvPr id="31" name="Shape 24"/>
          <p:cNvSpPr/>
          <p:nvPr/>
        </p:nvSpPr>
        <p:spPr>
          <a:xfrm>
            <a:off x="6537960" y="2395728"/>
            <a:ext cx="-301752" cy="393192"/>
          </a:xfrm>
          <a:prstGeom prst="line">
            <a:avLst/>
          </a:prstGeom>
          <a:noFill/>
          <a:ln w="25400">
            <a:solidFill>
              <a:srgbClr val="FF9900"/>
            </a:solidFill>
            <a:prstDash val="solid"/>
            <a:tailEnd type="arrow"/>
          </a:ln>
        </p:spPr>
      </p:sp>
      <p:sp>
        <p:nvSpPr>
          <p:cNvPr id="32" name="Shape 25"/>
          <p:cNvSpPr/>
          <p:nvPr/>
        </p:nvSpPr>
        <p:spPr>
          <a:xfrm>
            <a:off x="4800600" y="2852928"/>
            <a:ext cx="1554480" cy="749808"/>
          </a:xfrm>
          <a:prstGeom prst="rect">
            <a:avLst>
              <a:gd name="adj" fmla="val 6098"/>
            </a:avLst>
          </a:prstGeom>
          <a:solidFill>
            <a:srgbClr val="14B8A6"/>
          </a:solidFill>
          <a:ln w="12700">
            <a:solidFill>
              <a:srgbClr val="14B8A6"/>
            </a:solidFill>
            <a:prstDash val="solid"/>
          </a:ln>
          <a:effectLst>
            <a:outerShdw sx="100000" sy="100000" kx="0" ky="0" algn="bl" rotWithShape="0" blurRad="101600" dist="25400" dir="2700000">
              <a:srgbClr val="000000">
                <a:alpha val="12000"/>
              </a:srgbClr>
            </a:outerShdw>
          </a:effectLst>
        </p:spPr>
      </p:sp>
      <p:pic>
        <p:nvPicPr>
          <p:cNvPr id="33" name="Image 5" descr="preencoded.png">    </p:cNvPr>
          <p:cNvPicPr>
            <a:picLocks noChangeAspect="1"/>
          </p:cNvPicPr>
          <p:nvPr/>
        </p:nvPicPr>
        <p:blipFill>
          <a:blip r:embed="rId6"/>
          <a:stretch>
            <a:fillRect/>
          </a:stretch>
        </p:blipFill>
        <p:spPr>
          <a:xfrm>
            <a:off x="4892040" y="2944368"/>
            <a:ext cx="292608" cy="292608"/>
          </a:xfrm>
          <a:prstGeom prst="rect">
            <a:avLst/>
          </a:prstGeom>
        </p:spPr>
      </p:pic>
      <p:sp>
        <p:nvSpPr>
          <p:cNvPr id="34" name="Text 26"/>
          <p:cNvSpPr/>
          <p:nvPr/>
        </p:nvSpPr>
        <p:spPr>
          <a:xfrm>
            <a:off x="5212080" y="2944368"/>
            <a:ext cx="1051560"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S3 Bucket</a:t>
            </a:r>
            <a:endParaRPr lang="en-US" sz="1000" dirty="0"/>
          </a:p>
        </p:txBody>
      </p:sp>
      <p:sp>
        <p:nvSpPr>
          <p:cNvPr id="35" name="Text 27"/>
          <p:cNvSpPr/>
          <p:nvPr/>
        </p:nvSpPr>
        <p:spPr>
          <a:xfrm>
            <a:off x="4800600" y="3255264"/>
            <a:ext cx="1554480" cy="292608"/>
          </a:xfrm>
          <a:prstGeom prst="rect">
            <a:avLst/>
          </a:prstGeom>
          <a:noFill/>
          <a:ln/>
        </p:spPr>
        <p:txBody>
          <a:bodyPr wrap="square" lIns="0" tIns="0" rIns="0" bIns="0" rtlCol="0" anchor="ctr"/>
          <a:lstStyle/>
          <a:p>
            <a:pPr algn="ctr" indent="0" marL="0">
              <a:buNone/>
            </a:pPr>
            <a:r>
              <a:rPr lang="en-US" sz="800" dirty="0">
                <a:solidFill>
                  <a:srgbClr val="C4EDE8"/>
                </a:solidFill>
                <a:latin typeface="Calibri" pitchFamily="34" charset="0"/>
                <a:ea typeface="Calibri" pitchFamily="34" charset="-122"/>
                <a:cs typeface="Calibri" pitchFamily="34" charset="-120"/>
              </a:rPr>
              <a:t>terraform.tfstate</a:t>
            </a:r>
            <a:endParaRPr lang="en-US" sz="800" dirty="0"/>
          </a:p>
          <a:p>
            <a:pPr algn="ctr" indent="0" marL="0">
              <a:buNone/>
            </a:pPr>
            <a:r>
              <a:rPr lang="en-US" sz="800" dirty="0">
                <a:solidFill>
                  <a:srgbClr val="C4EDE8"/>
                </a:solidFill>
                <a:latin typeface="Calibri" pitchFamily="34" charset="0"/>
                <a:ea typeface="Calibri" pitchFamily="34" charset="-122"/>
                <a:cs typeface="Calibri" pitchFamily="34" charset="-120"/>
              </a:rPr>
              <a:t>KMS encrypted</a:t>
            </a:r>
            <a:endParaRPr lang="en-US" sz="800" dirty="0"/>
          </a:p>
        </p:txBody>
      </p:sp>
      <p:sp>
        <p:nvSpPr>
          <p:cNvPr id="36" name="Text 28"/>
          <p:cNvSpPr/>
          <p:nvPr/>
        </p:nvSpPr>
        <p:spPr>
          <a:xfrm>
            <a:off x="5212080" y="2578608"/>
            <a:ext cx="548640" cy="201168"/>
          </a:xfrm>
          <a:prstGeom prst="rect">
            <a:avLst/>
          </a:prstGeom>
          <a:noFill/>
          <a:ln/>
        </p:spPr>
        <p:txBody>
          <a:bodyPr wrap="square" lIns="0" tIns="0" rIns="0" bIns="0" rtlCol="0" anchor="ctr"/>
          <a:lstStyle/>
          <a:p>
            <a:pPr algn="ctr" indent="0" marL="0">
              <a:buNone/>
            </a:pPr>
            <a:r>
              <a:rPr lang="en-US" sz="800" dirty="0">
                <a:solidFill>
                  <a:srgbClr val="FF9900"/>
                </a:solidFill>
                <a:latin typeface="Calibri" pitchFamily="34" charset="0"/>
                <a:ea typeface="Calibri" pitchFamily="34" charset="-122"/>
                <a:cs typeface="Calibri" pitchFamily="34" charset="-120"/>
              </a:rPr>
              <a:t>STATE</a:t>
            </a:r>
            <a:endParaRPr lang="en-US" sz="800" dirty="0"/>
          </a:p>
        </p:txBody>
      </p:sp>
      <p:sp>
        <p:nvSpPr>
          <p:cNvPr id="37" name="Shape 29"/>
          <p:cNvSpPr/>
          <p:nvPr/>
        </p:nvSpPr>
        <p:spPr>
          <a:xfrm>
            <a:off x="6537960" y="2395728"/>
            <a:ext cx="338328" cy="393192"/>
          </a:xfrm>
          <a:prstGeom prst="line">
            <a:avLst/>
          </a:prstGeom>
          <a:noFill/>
          <a:ln w="25400">
            <a:solidFill>
              <a:srgbClr val="FF9900"/>
            </a:solidFill>
            <a:prstDash val="solid"/>
            <a:tailEnd type="arrow"/>
          </a:ln>
        </p:spPr>
      </p:sp>
      <p:sp>
        <p:nvSpPr>
          <p:cNvPr id="38" name="Shape 30"/>
          <p:cNvSpPr/>
          <p:nvPr/>
        </p:nvSpPr>
        <p:spPr>
          <a:xfrm>
            <a:off x="6720840" y="2852928"/>
            <a:ext cx="1554480" cy="749808"/>
          </a:xfrm>
          <a:prstGeom prst="rect">
            <a:avLst>
              <a:gd name="adj" fmla="val 6098"/>
            </a:avLst>
          </a:prstGeom>
          <a:solidFill>
            <a:srgbClr val="A855F7"/>
          </a:solidFill>
          <a:ln w="12700">
            <a:solidFill>
              <a:srgbClr val="A855F7"/>
            </a:solidFill>
            <a:prstDash val="solid"/>
          </a:ln>
          <a:effectLst>
            <a:outerShdw sx="100000" sy="100000" kx="0" ky="0" algn="bl" rotWithShape="0" blurRad="101600" dist="25400" dir="2700000">
              <a:srgbClr val="000000">
                <a:alpha val="12000"/>
              </a:srgbClr>
            </a:outerShdw>
          </a:effectLst>
        </p:spPr>
      </p:sp>
      <p:pic>
        <p:nvPicPr>
          <p:cNvPr id="39" name="Image 6" descr="preencoded.png">    </p:cNvPr>
          <p:cNvPicPr>
            <a:picLocks noChangeAspect="1"/>
          </p:cNvPicPr>
          <p:nvPr/>
        </p:nvPicPr>
        <p:blipFill>
          <a:blip r:embed="rId7"/>
          <a:stretch>
            <a:fillRect/>
          </a:stretch>
        </p:blipFill>
        <p:spPr>
          <a:xfrm>
            <a:off x="6812280" y="2944368"/>
            <a:ext cx="292608" cy="292608"/>
          </a:xfrm>
          <a:prstGeom prst="rect">
            <a:avLst/>
          </a:prstGeom>
        </p:spPr>
      </p:pic>
      <p:sp>
        <p:nvSpPr>
          <p:cNvPr id="40" name="Text 31"/>
          <p:cNvSpPr/>
          <p:nvPr/>
        </p:nvSpPr>
        <p:spPr>
          <a:xfrm>
            <a:off x="7132320" y="2944368"/>
            <a:ext cx="1051560"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DynamoDB</a:t>
            </a:r>
            <a:endParaRPr lang="en-US" sz="1000" dirty="0"/>
          </a:p>
        </p:txBody>
      </p:sp>
      <p:sp>
        <p:nvSpPr>
          <p:cNvPr id="41" name="Text 32"/>
          <p:cNvSpPr/>
          <p:nvPr/>
        </p:nvSpPr>
        <p:spPr>
          <a:xfrm>
            <a:off x="6720840" y="3255264"/>
            <a:ext cx="1554480" cy="292608"/>
          </a:xfrm>
          <a:prstGeom prst="rect">
            <a:avLst/>
          </a:prstGeom>
          <a:noFill/>
          <a:ln/>
        </p:spPr>
        <p:txBody>
          <a:bodyPr wrap="square" lIns="0" tIns="0" rIns="0" bIns="0" rtlCol="0" anchor="ctr"/>
          <a:lstStyle/>
          <a:p>
            <a:pPr algn="ctr" indent="0" marL="0">
              <a:buNone/>
            </a:pPr>
            <a:r>
              <a:rPr lang="en-US" sz="800" dirty="0">
                <a:solidFill>
                  <a:srgbClr val="D4BAFF"/>
                </a:solidFill>
                <a:latin typeface="Calibri" pitchFamily="34" charset="0"/>
                <a:ea typeface="Calibri" pitchFamily="34" charset="-122"/>
                <a:cs typeface="Calibri" pitchFamily="34" charset="-120"/>
              </a:rPr>
              <a:t>terraform-lock</a:t>
            </a:r>
            <a:endParaRPr lang="en-US" sz="800" dirty="0"/>
          </a:p>
          <a:p>
            <a:pPr algn="ctr" indent="0" marL="0">
              <a:buNone/>
            </a:pPr>
            <a:r>
              <a:rPr lang="en-US" sz="800" dirty="0">
                <a:solidFill>
                  <a:srgbClr val="D4BAFF"/>
                </a:solidFill>
                <a:latin typeface="Calibri" pitchFamily="34" charset="0"/>
                <a:ea typeface="Calibri" pitchFamily="34" charset="-122"/>
                <a:cs typeface="Calibri" pitchFamily="34" charset="-120"/>
              </a:rPr>
              <a:t>State locking</a:t>
            </a:r>
            <a:endParaRPr lang="en-US" sz="800" dirty="0"/>
          </a:p>
        </p:txBody>
      </p:sp>
      <p:sp>
        <p:nvSpPr>
          <p:cNvPr id="42" name="Text 33"/>
          <p:cNvSpPr/>
          <p:nvPr/>
        </p:nvSpPr>
        <p:spPr>
          <a:xfrm>
            <a:off x="7086600" y="2578608"/>
            <a:ext cx="548640" cy="201168"/>
          </a:xfrm>
          <a:prstGeom prst="rect">
            <a:avLst/>
          </a:prstGeom>
          <a:noFill/>
          <a:ln/>
        </p:spPr>
        <p:txBody>
          <a:bodyPr wrap="square" lIns="0" tIns="0" rIns="0" bIns="0" rtlCol="0" anchor="ctr"/>
          <a:lstStyle/>
          <a:p>
            <a:pPr algn="ctr" indent="0" marL="0">
              <a:buNone/>
            </a:pPr>
            <a:r>
              <a:rPr lang="en-US" sz="800" dirty="0">
                <a:solidFill>
                  <a:srgbClr val="FF9900"/>
                </a:solidFill>
                <a:latin typeface="Calibri" pitchFamily="34" charset="0"/>
                <a:ea typeface="Calibri" pitchFamily="34" charset="-122"/>
                <a:cs typeface="Calibri" pitchFamily="34" charset="-120"/>
              </a:rPr>
              <a:t>LOCK</a:t>
            </a:r>
            <a:endParaRPr lang="en-US" sz="800" dirty="0"/>
          </a:p>
        </p:txBody>
      </p:sp>
      <p:pic>
        <p:nvPicPr>
          <p:cNvPr id="43" name="Image 7" descr="preencoded.png">    </p:cNvPr>
          <p:cNvPicPr>
            <a:picLocks noChangeAspect="1"/>
          </p:cNvPicPr>
          <p:nvPr/>
        </p:nvPicPr>
        <p:blipFill>
          <a:blip r:embed="rId8"/>
          <a:stretch>
            <a:fillRect/>
          </a:stretch>
        </p:blipFill>
        <p:spPr>
          <a:xfrm>
            <a:off x="4800600" y="3858768"/>
            <a:ext cx="365760" cy="365760"/>
          </a:xfrm>
          <a:prstGeom prst="rect">
            <a:avLst/>
          </a:prstGeom>
        </p:spPr>
      </p:pic>
      <p:sp>
        <p:nvSpPr>
          <p:cNvPr id="44" name="Text 34"/>
          <p:cNvSpPr/>
          <p:nvPr/>
        </p:nvSpPr>
        <p:spPr>
          <a:xfrm>
            <a:off x="5257800" y="3877056"/>
            <a:ext cx="3474720" cy="320040"/>
          </a:xfrm>
          <a:prstGeom prst="rect">
            <a:avLst/>
          </a:prstGeom>
          <a:noFill/>
          <a:ln/>
        </p:spPr>
        <p:txBody>
          <a:bodyPr wrap="square" lIns="0" tIns="0" rIns="0" bIns="0" rtlCol="0" anchor="ctr"/>
          <a:lstStyle/>
          <a:p>
            <a:pPr indent="0" marL="0">
              <a:buNone/>
            </a:pPr>
            <a:r>
              <a:rPr lang="en-US" sz="900" i="1" dirty="0">
                <a:solidFill>
                  <a:srgbClr val="A0BDD0"/>
                </a:solidFill>
                <a:latin typeface="Calibri" pitchFamily="34" charset="0"/>
                <a:ea typeface="Calibri" pitchFamily="34" charset="-122"/>
                <a:cs typeface="Calibri" pitchFamily="34" charset="-120"/>
              </a:rPr>
              <a:t>Both resources provisioned by Terraform itself during bootstrap</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Security Architecture</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Layered defence: IAM · KMS · Secrets Manager · WAF</a:t>
            </a:r>
            <a:endParaRPr lang="en-US" sz="1100" dirty="0"/>
          </a:p>
        </p:txBody>
      </p:sp>
      <p:sp>
        <p:nvSpPr>
          <p:cNvPr id="5" name="Shape 3"/>
          <p:cNvSpPr/>
          <p:nvPr/>
        </p:nvSpPr>
        <p:spPr>
          <a:xfrm>
            <a:off x="320040" y="987552"/>
            <a:ext cx="4160520" cy="1828800"/>
          </a:xfrm>
          <a:prstGeom prst="rect">
            <a:avLst>
              <a:gd name="adj" fmla="val 2000"/>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6" name="Shape 4"/>
          <p:cNvSpPr/>
          <p:nvPr/>
        </p:nvSpPr>
        <p:spPr>
          <a:xfrm>
            <a:off x="320040" y="987552"/>
            <a:ext cx="4160520" cy="384048"/>
          </a:xfrm>
          <a:prstGeom prst="rect">
            <a:avLst>
              <a:gd name="adj" fmla="val 9524"/>
            </a:avLst>
          </a:prstGeom>
          <a:solidFill>
            <a:srgbClr val="3B82F6"/>
          </a:solidFill>
          <a:ln w="12700">
            <a:solidFill>
              <a:srgbClr val="3B82F6"/>
            </a:solidFill>
            <a:prstDash val="solid"/>
          </a:ln>
        </p:spPr>
      </p:sp>
      <p:pic>
        <p:nvPicPr>
          <p:cNvPr id="7" name="Image 0" descr="preencoded.png">    </p:cNvPr>
          <p:cNvPicPr>
            <a:picLocks noChangeAspect="1"/>
          </p:cNvPicPr>
          <p:nvPr/>
        </p:nvPicPr>
        <p:blipFill>
          <a:blip r:embed="rId1"/>
          <a:stretch>
            <a:fillRect/>
          </a:stretch>
        </p:blipFill>
        <p:spPr>
          <a:xfrm>
            <a:off x="411480" y="1051560"/>
            <a:ext cx="228600" cy="228600"/>
          </a:xfrm>
          <a:prstGeom prst="rect">
            <a:avLst/>
          </a:prstGeom>
        </p:spPr>
      </p:pic>
      <p:sp>
        <p:nvSpPr>
          <p:cNvPr id="8" name="Text 5"/>
          <p:cNvSpPr/>
          <p:nvPr/>
        </p:nvSpPr>
        <p:spPr>
          <a:xfrm>
            <a:off x="704088" y="1051560"/>
            <a:ext cx="368503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Layer 1 — Edge Protection</a:t>
            </a:r>
            <a:endParaRPr lang="en-US" sz="1100" dirty="0"/>
          </a:p>
        </p:txBody>
      </p:sp>
      <p:sp>
        <p:nvSpPr>
          <p:cNvPr id="9" name="Shape 6"/>
          <p:cNvSpPr/>
          <p:nvPr/>
        </p:nvSpPr>
        <p:spPr>
          <a:xfrm>
            <a:off x="521208" y="1536192"/>
            <a:ext cx="64008" cy="64008"/>
          </a:xfrm>
          <a:prstGeom prst="oval">
            <a:avLst/>
          </a:prstGeom>
          <a:solidFill>
            <a:srgbClr val="3B82F6"/>
          </a:solidFill>
          <a:ln w="12700">
            <a:solidFill>
              <a:srgbClr val="3B82F6"/>
            </a:solidFill>
            <a:prstDash val="solid"/>
          </a:ln>
        </p:spPr>
      </p:sp>
      <p:sp>
        <p:nvSpPr>
          <p:cNvPr id="10" name="Text 7"/>
          <p:cNvSpPr/>
          <p:nvPr/>
        </p:nvSpPr>
        <p:spPr>
          <a:xfrm>
            <a:off x="640080" y="1463040"/>
            <a:ext cx="370332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WAF Rate Limiting Rule</a:t>
            </a:r>
            <a:endParaRPr lang="en-US" sz="1050" dirty="0"/>
          </a:p>
        </p:txBody>
      </p:sp>
      <p:sp>
        <p:nvSpPr>
          <p:cNvPr id="11" name="Shape 8"/>
          <p:cNvSpPr/>
          <p:nvPr/>
        </p:nvSpPr>
        <p:spPr>
          <a:xfrm>
            <a:off x="521208" y="1847088"/>
            <a:ext cx="64008" cy="64008"/>
          </a:xfrm>
          <a:prstGeom prst="oval">
            <a:avLst/>
          </a:prstGeom>
          <a:solidFill>
            <a:srgbClr val="3B82F6"/>
          </a:solidFill>
          <a:ln w="12700">
            <a:solidFill>
              <a:srgbClr val="3B82F6"/>
            </a:solidFill>
            <a:prstDash val="solid"/>
          </a:ln>
        </p:spPr>
      </p:sp>
      <p:sp>
        <p:nvSpPr>
          <p:cNvPr id="12" name="Text 9"/>
          <p:cNvSpPr/>
          <p:nvPr/>
        </p:nvSpPr>
        <p:spPr>
          <a:xfrm>
            <a:off x="640080" y="1773936"/>
            <a:ext cx="370332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AWS Managed Common Rule Set</a:t>
            </a:r>
            <a:endParaRPr lang="en-US" sz="1050" dirty="0"/>
          </a:p>
        </p:txBody>
      </p:sp>
      <p:sp>
        <p:nvSpPr>
          <p:cNvPr id="13" name="Shape 10"/>
          <p:cNvSpPr/>
          <p:nvPr/>
        </p:nvSpPr>
        <p:spPr>
          <a:xfrm>
            <a:off x="521208" y="2157984"/>
            <a:ext cx="64008" cy="64008"/>
          </a:xfrm>
          <a:prstGeom prst="oval">
            <a:avLst/>
          </a:prstGeom>
          <a:solidFill>
            <a:srgbClr val="3B82F6"/>
          </a:solidFill>
          <a:ln w="12700">
            <a:solidFill>
              <a:srgbClr val="3B82F6"/>
            </a:solidFill>
            <a:prstDash val="solid"/>
          </a:ln>
        </p:spPr>
      </p:sp>
      <p:sp>
        <p:nvSpPr>
          <p:cNvPr id="14" name="Text 11"/>
          <p:cNvSpPr/>
          <p:nvPr/>
        </p:nvSpPr>
        <p:spPr>
          <a:xfrm>
            <a:off x="640080" y="2084832"/>
            <a:ext cx="370332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SQL Injection Rule Set</a:t>
            </a:r>
            <a:endParaRPr lang="en-US" sz="1050" dirty="0"/>
          </a:p>
        </p:txBody>
      </p:sp>
      <p:sp>
        <p:nvSpPr>
          <p:cNvPr id="15" name="Shape 12"/>
          <p:cNvSpPr/>
          <p:nvPr/>
        </p:nvSpPr>
        <p:spPr>
          <a:xfrm>
            <a:off x="521208" y="2468880"/>
            <a:ext cx="64008" cy="64008"/>
          </a:xfrm>
          <a:prstGeom prst="oval">
            <a:avLst/>
          </a:prstGeom>
          <a:solidFill>
            <a:srgbClr val="3B82F6"/>
          </a:solidFill>
          <a:ln w="12700">
            <a:solidFill>
              <a:srgbClr val="3B82F6"/>
            </a:solidFill>
            <a:prstDash val="solid"/>
          </a:ln>
        </p:spPr>
      </p:sp>
      <p:sp>
        <p:nvSpPr>
          <p:cNvPr id="16" name="Text 13"/>
          <p:cNvSpPr/>
          <p:nvPr/>
        </p:nvSpPr>
        <p:spPr>
          <a:xfrm>
            <a:off x="640080" y="2395728"/>
            <a:ext cx="370332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Known Bad Inputs Rule Set</a:t>
            </a:r>
            <a:endParaRPr lang="en-US" sz="1050" dirty="0"/>
          </a:p>
        </p:txBody>
      </p:sp>
      <p:sp>
        <p:nvSpPr>
          <p:cNvPr id="17" name="Shape 14"/>
          <p:cNvSpPr/>
          <p:nvPr/>
        </p:nvSpPr>
        <p:spPr>
          <a:xfrm>
            <a:off x="4663440" y="987552"/>
            <a:ext cx="4160520" cy="1828800"/>
          </a:xfrm>
          <a:prstGeom prst="rect">
            <a:avLst>
              <a:gd name="adj" fmla="val 2000"/>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8" name="Shape 15"/>
          <p:cNvSpPr/>
          <p:nvPr/>
        </p:nvSpPr>
        <p:spPr>
          <a:xfrm>
            <a:off x="4663440" y="987552"/>
            <a:ext cx="4160520" cy="384048"/>
          </a:xfrm>
          <a:prstGeom prst="rect">
            <a:avLst>
              <a:gd name="adj" fmla="val 9524"/>
            </a:avLst>
          </a:prstGeom>
          <a:solidFill>
            <a:srgbClr val="EF4444"/>
          </a:solidFill>
          <a:ln w="12700">
            <a:solidFill>
              <a:srgbClr val="EF4444"/>
            </a:solidFill>
            <a:prstDash val="solid"/>
          </a:ln>
        </p:spPr>
      </p:sp>
      <p:pic>
        <p:nvPicPr>
          <p:cNvPr id="19" name="Image 1" descr="preencoded.png">    </p:cNvPr>
          <p:cNvPicPr>
            <a:picLocks noChangeAspect="1"/>
          </p:cNvPicPr>
          <p:nvPr/>
        </p:nvPicPr>
        <p:blipFill>
          <a:blip r:embed="rId2"/>
          <a:stretch>
            <a:fillRect/>
          </a:stretch>
        </p:blipFill>
        <p:spPr>
          <a:xfrm>
            <a:off x="4754880" y="1051560"/>
            <a:ext cx="228600" cy="228600"/>
          </a:xfrm>
          <a:prstGeom prst="rect">
            <a:avLst/>
          </a:prstGeom>
        </p:spPr>
      </p:pic>
      <p:sp>
        <p:nvSpPr>
          <p:cNvPr id="20" name="Text 16"/>
          <p:cNvSpPr/>
          <p:nvPr/>
        </p:nvSpPr>
        <p:spPr>
          <a:xfrm>
            <a:off x="5047488" y="1051560"/>
            <a:ext cx="368503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Layer 2 — Identity &amp; Access</a:t>
            </a:r>
            <a:endParaRPr lang="en-US" sz="1100" dirty="0"/>
          </a:p>
        </p:txBody>
      </p:sp>
      <p:sp>
        <p:nvSpPr>
          <p:cNvPr id="21" name="Shape 17"/>
          <p:cNvSpPr/>
          <p:nvPr/>
        </p:nvSpPr>
        <p:spPr>
          <a:xfrm>
            <a:off x="4864608" y="1536192"/>
            <a:ext cx="64008" cy="64008"/>
          </a:xfrm>
          <a:prstGeom prst="oval">
            <a:avLst/>
          </a:prstGeom>
          <a:solidFill>
            <a:srgbClr val="EF4444"/>
          </a:solidFill>
          <a:ln w="12700">
            <a:solidFill>
              <a:srgbClr val="EF4444"/>
            </a:solidFill>
            <a:prstDash val="solid"/>
          </a:ln>
        </p:spPr>
      </p:sp>
      <p:sp>
        <p:nvSpPr>
          <p:cNvPr id="22" name="Text 18"/>
          <p:cNvSpPr/>
          <p:nvPr/>
        </p:nvSpPr>
        <p:spPr>
          <a:xfrm>
            <a:off x="4983480" y="1463040"/>
            <a:ext cx="370332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Least Privilege IAM Roles</a:t>
            </a:r>
            <a:endParaRPr lang="en-US" sz="1050" dirty="0"/>
          </a:p>
        </p:txBody>
      </p:sp>
      <p:sp>
        <p:nvSpPr>
          <p:cNvPr id="23" name="Shape 19"/>
          <p:cNvSpPr/>
          <p:nvPr/>
        </p:nvSpPr>
        <p:spPr>
          <a:xfrm>
            <a:off x="4864608" y="1847088"/>
            <a:ext cx="64008" cy="64008"/>
          </a:xfrm>
          <a:prstGeom prst="oval">
            <a:avLst/>
          </a:prstGeom>
          <a:solidFill>
            <a:srgbClr val="EF4444"/>
          </a:solidFill>
          <a:ln w="12700">
            <a:solidFill>
              <a:srgbClr val="EF4444"/>
            </a:solidFill>
            <a:prstDash val="solid"/>
          </a:ln>
        </p:spPr>
      </p:sp>
      <p:sp>
        <p:nvSpPr>
          <p:cNvPr id="24" name="Text 20"/>
          <p:cNvSpPr/>
          <p:nvPr/>
        </p:nvSpPr>
        <p:spPr>
          <a:xfrm>
            <a:off x="4983480" y="1773936"/>
            <a:ext cx="370332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EC2 Instance Profiles</a:t>
            </a:r>
            <a:endParaRPr lang="en-US" sz="1050" dirty="0"/>
          </a:p>
        </p:txBody>
      </p:sp>
      <p:sp>
        <p:nvSpPr>
          <p:cNvPr id="25" name="Shape 21"/>
          <p:cNvSpPr/>
          <p:nvPr/>
        </p:nvSpPr>
        <p:spPr>
          <a:xfrm>
            <a:off x="4864608" y="2157984"/>
            <a:ext cx="64008" cy="64008"/>
          </a:xfrm>
          <a:prstGeom prst="oval">
            <a:avLst/>
          </a:prstGeom>
          <a:solidFill>
            <a:srgbClr val="EF4444"/>
          </a:solidFill>
          <a:ln w="12700">
            <a:solidFill>
              <a:srgbClr val="EF4444"/>
            </a:solidFill>
            <a:prstDash val="solid"/>
          </a:ln>
        </p:spPr>
      </p:sp>
      <p:sp>
        <p:nvSpPr>
          <p:cNvPr id="26" name="Text 22"/>
          <p:cNvSpPr/>
          <p:nvPr/>
        </p:nvSpPr>
        <p:spPr>
          <a:xfrm>
            <a:off x="4983480" y="2084832"/>
            <a:ext cx="370332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Lambda Execution Roles</a:t>
            </a:r>
            <a:endParaRPr lang="en-US" sz="1050" dirty="0"/>
          </a:p>
        </p:txBody>
      </p:sp>
      <p:sp>
        <p:nvSpPr>
          <p:cNvPr id="27" name="Shape 23"/>
          <p:cNvSpPr/>
          <p:nvPr/>
        </p:nvSpPr>
        <p:spPr>
          <a:xfrm>
            <a:off x="4864608" y="2468880"/>
            <a:ext cx="64008" cy="64008"/>
          </a:xfrm>
          <a:prstGeom prst="oval">
            <a:avLst/>
          </a:prstGeom>
          <a:solidFill>
            <a:srgbClr val="EF4444"/>
          </a:solidFill>
          <a:ln w="12700">
            <a:solidFill>
              <a:srgbClr val="EF4444"/>
            </a:solidFill>
            <a:prstDash val="solid"/>
          </a:ln>
        </p:spPr>
      </p:sp>
      <p:sp>
        <p:nvSpPr>
          <p:cNvPr id="28" name="Text 24"/>
          <p:cNvSpPr/>
          <p:nvPr/>
        </p:nvSpPr>
        <p:spPr>
          <a:xfrm>
            <a:off x="4983480" y="2395728"/>
            <a:ext cx="370332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No static credentials</a:t>
            </a:r>
            <a:endParaRPr lang="en-US" sz="1050" dirty="0"/>
          </a:p>
        </p:txBody>
      </p:sp>
      <p:sp>
        <p:nvSpPr>
          <p:cNvPr id="29" name="Shape 25"/>
          <p:cNvSpPr/>
          <p:nvPr/>
        </p:nvSpPr>
        <p:spPr>
          <a:xfrm>
            <a:off x="320040" y="2971800"/>
            <a:ext cx="4160520" cy="1828800"/>
          </a:xfrm>
          <a:prstGeom prst="rect">
            <a:avLst>
              <a:gd name="adj" fmla="val 2000"/>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30" name="Shape 26"/>
          <p:cNvSpPr/>
          <p:nvPr/>
        </p:nvSpPr>
        <p:spPr>
          <a:xfrm>
            <a:off x="320040" y="2971800"/>
            <a:ext cx="4160520" cy="384048"/>
          </a:xfrm>
          <a:prstGeom prst="rect">
            <a:avLst>
              <a:gd name="adj" fmla="val 9524"/>
            </a:avLst>
          </a:prstGeom>
          <a:solidFill>
            <a:srgbClr val="F97316"/>
          </a:solidFill>
          <a:ln w="12700">
            <a:solidFill>
              <a:srgbClr val="F97316"/>
            </a:solidFill>
            <a:prstDash val="solid"/>
          </a:ln>
        </p:spPr>
      </p:sp>
      <p:pic>
        <p:nvPicPr>
          <p:cNvPr id="31" name="Image 2" descr="preencoded.png">    </p:cNvPr>
          <p:cNvPicPr>
            <a:picLocks noChangeAspect="1"/>
          </p:cNvPicPr>
          <p:nvPr/>
        </p:nvPicPr>
        <p:blipFill>
          <a:blip r:embed="rId3"/>
          <a:stretch>
            <a:fillRect/>
          </a:stretch>
        </p:blipFill>
        <p:spPr>
          <a:xfrm>
            <a:off x="411480" y="3035808"/>
            <a:ext cx="228600" cy="228600"/>
          </a:xfrm>
          <a:prstGeom prst="rect">
            <a:avLst/>
          </a:prstGeom>
        </p:spPr>
      </p:pic>
      <p:sp>
        <p:nvSpPr>
          <p:cNvPr id="32" name="Text 27"/>
          <p:cNvSpPr/>
          <p:nvPr/>
        </p:nvSpPr>
        <p:spPr>
          <a:xfrm>
            <a:off x="704088" y="3035808"/>
            <a:ext cx="368503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Layer 3 — Secret Management</a:t>
            </a:r>
            <a:endParaRPr lang="en-US" sz="1100" dirty="0"/>
          </a:p>
        </p:txBody>
      </p:sp>
      <p:sp>
        <p:nvSpPr>
          <p:cNvPr id="33" name="Shape 28"/>
          <p:cNvSpPr/>
          <p:nvPr/>
        </p:nvSpPr>
        <p:spPr>
          <a:xfrm>
            <a:off x="521208" y="3520440"/>
            <a:ext cx="64008" cy="64008"/>
          </a:xfrm>
          <a:prstGeom prst="oval">
            <a:avLst/>
          </a:prstGeom>
          <a:solidFill>
            <a:srgbClr val="F97316"/>
          </a:solidFill>
          <a:ln w="12700">
            <a:solidFill>
              <a:srgbClr val="F97316"/>
            </a:solidFill>
            <a:prstDash val="solid"/>
          </a:ln>
        </p:spPr>
      </p:sp>
      <p:sp>
        <p:nvSpPr>
          <p:cNvPr id="34" name="Text 29"/>
          <p:cNvSpPr/>
          <p:nvPr/>
        </p:nvSpPr>
        <p:spPr>
          <a:xfrm>
            <a:off x="640080" y="3447288"/>
            <a:ext cx="370332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DB Credentials in Secrets Manager</a:t>
            </a:r>
            <a:endParaRPr lang="en-US" sz="1050" dirty="0"/>
          </a:p>
        </p:txBody>
      </p:sp>
      <p:sp>
        <p:nvSpPr>
          <p:cNvPr id="35" name="Shape 30"/>
          <p:cNvSpPr/>
          <p:nvPr/>
        </p:nvSpPr>
        <p:spPr>
          <a:xfrm>
            <a:off x="521208" y="3831336"/>
            <a:ext cx="64008" cy="64008"/>
          </a:xfrm>
          <a:prstGeom prst="oval">
            <a:avLst/>
          </a:prstGeom>
          <a:solidFill>
            <a:srgbClr val="F97316"/>
          </a:solidFill>
          <a:ln w="12700">
            <a:solidFill>
              <a:srgbClr val="F97316"/>
            </a:solidFill>
            <a:prstDash val="solid"/>
          </a:ln>
        </p:spPr>
      </p:sp>
      <p:sp>
        <p:nvSpPr>
          <p:cNvPr id="36" name="Text 31"/>
          <p:cNvSpPr/>
          <p:nvPr/>
        </p:nvSpPr>
        <p:spPr>
          <a:xfrm>
            <a:off x="640080" y="3758184"/>
            <a:ext cx="370332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SMTP Credentials</a:t>
            </a:r>
            <a:endParaRPr lang="en-US" sz="1050" dirty="0"/>
          </a:p>
        </p:txBody>
      </p:sp>
      <p:sp>
        <p:nvSpPr>
          <p:cNvPr id="37" name="Shape 32"/>
          <p:cNvSpPr/>
          <p:nvPr/>
        </p:nvSpPr>
        <p:spPr>
          <a:xfrm>
            <a:off x="521208" y="4142232"/>
            <a:ext cx="64008" cy="64008"/>
          </a:xfrm>
          <a:prstGeom prst="oval">
            <a:avLst/>
          </a:prstGeom>
          <a:solidFill>
            <a:srgbClr val="F97316"/>
          </a:solidFill>
          <a:ln w="12700">
            <a:solidFill>
              <a:srgbClr val="F97316"/>
            </a:solidFill>
            <a:prstDash val="solid"/>
          </a:ln>
        </p:spPr>
      </p:sp>
      <p:sp>
        <p:nvSpPr>
          <p:cNvPr id="38" name="Text 33"/>
          <p:cNvSpPr/>
          <p:nvPr/>
        </p:nvSpPr>
        <p:spPr>
          <a:xfrm>
            <a:off x="640080" y="4069080"/>
            <a:ext cx="370332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JWT Signing Secret</a:t>
            </a:r>
            <a:endParaRPr lang="en-US" sz="1050" dirty="0"/>
          </a:p>
        </p:txBody>
      </p:sp>
      <p:sp>
        <p:nvSpPr>
          <p:cNvPr id="39" name="Shape 34"/>
          <p:cNvSpPr/>
          <p:nvPr/>
        </p:nvSpPr>
        <p:spPr>
          <a:xfrm>
            <a:off x="521208" y="4453128"/>
            <a:ext cx="64008" cy="64008"/>
          </a:xfrm>
          <a:prstGeom prst="oval">
            <a:avLst/>
          </a:prstGeom>
          <a:solidFill>
            <a:srgbClr val="F97316"/>
          </a:solidFill>
          <a:ln w="12700">
            <a:solidFill>
              <a:srgbClr val="F97316"/>
            </a:solidFill>
            <a:prstDash val="solid"/>
          </a:ln>
        </p:spPr>
      </p:sp>
      <p:sp>
        <p:nvSpPr>
          <p:cNvPr id="40" name="Text 35"/>
          <p:cNvSpPr/>
          <p:nvPr/>
        </p:nvSpPr>
        <p:spPr>
          <a:xfrm>
            <a:off x="640080" y="4379976"/>
            <a:ext cx="370332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Auto-rotation enabled</a:t>
            </a:r>
            <a:endParaRPr lang="en-US" sz="1050" dirty="0"/>
          </a:p>
        </p:txBody>
      </p:sp>
      <p:sp>
        <p:nvSpPr>
          <p:cNvPr id="41" name="Shape 36"/>
          <p:cNvSpPr/>
          <p:nvPr/>
        </p:nvSpPr>
        <p:spPr>
          <a:xfrm>
            <a:off x="4663440" y="2971800"/>
            <a:ext cx="4160520" cy="1828800"/>
          </a:xfrm>
          <a:prstGeom prst="rect">
            <a:avLst>
              <a:gd name="adj" fmla="val 2000"/>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42" name="Shape 37"/>
          <p:cNvSpPr/>
          <p:nvPr/>
        </p:nvSpPr>
        <p:spPr>
          <a:xfrm>
            <a:off x="4663440" y="2971800"/>
            <a:ext cx="4160520" cy="384048"/>
          </a:xfrm>
          <a:prstGeom prst="rect">
            <a:avLst>
              <a:gd name="adj" fmla="val 9524"/>
            </a:avLst>
          </a:prstGeom>
          <a:solidFill>
            <a:srgbClr val="7C3AED"/>
          </a:solidFill>
          <a:ln w="12700">
            <a:solidFill>
              <a:srgbClr val="7C3AED"/>
            </a:solidFill>
            <a:prstDash val="solid"/>
          </a:ln>
        </p:spPr>
      </p:sp>
      <p:pic>
        <p:nvPicPr>
          <p:cNvPr id="43" name="Image 3" descr="preencoded.png">    </p:cNvPr>
          <p:cNvPicPr>
            <a:picLocks noChangeAspect="1"/>
          </p:cNvPicPr>
          <p:nvPr/>
        </p:nvPicPr>
        <p:blipFill>
          <a:blip r:embed="rId4"/>
          <a:stretch>
            <a:fillRect/>
          </a:stretch>
        </p:blipFill>
        <p:spPr>
          <a:xfrm>
            <a:off x="4754880" y="3035808"/>
            <a:ext cx="228600" cy="228600"/>
          </a:xfrm>
          <a:prstGeom prst="rect">
            <a:avLst/>
          </a:prstGeom>
        </p:spPr>
      </p:pic>
      <p:sp>
        <p:nvSpPr>
          <p:cNvPr id="44" name="Text 38"/>
          <p:cNvSpPr/>
          <p:nvPr/>
        </p:nvSpPr>
        <p:spPr>
          <a:xfrm>
            <a:off x="5047488" y="3035808"/>
            <a:ext cx="368503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Layer 4 — Encryption at Rest</a:t>
            </a:r>
            <a:endParaRPr lang="en-US" sz="1100" dirty="0"/>
          </a:p>
        </p:txBody>
      </p:sp>
      <p:sp>
        <p:nvSpPr>
          <p:cNvPr id="45" name="Shape 39"/>
          <p:cNvSpPr/>
          <p:nvPr/>
        </p:nvSpPr>
        <p:spPr>
          <a:xfrm>
            <a:off x="4864608" y="3520440"/>
            <a:ext cx="64008" cy="64008"/>
          </a:xfrm>
          <a:prstGeom prst="oval">
            <a:avLst/>
          </a:prstGeom>
          <a:solidFill>
            <a:srgbClr val="7C3AED"/>
          </a:solidFill>
          <a:ln w="12700">
            <a:solidFill>
              <a:srgbClr val="7C3AED"/>
            </a:solidFill>
            <a:prstDash val="solid"/>
          </a:ln>
        </p:spPr>
      </p:sp>
      <p:sp>
        <p:nvSpPr>
          <p:cNvPr id="46" name="Text 40"/>
          <p:cNvSpPr/>
          <p:nvPr/>
        </p:nvSpPr>
        <p:spPr>
          <a:xfrm>
            <a:off x="4983480" y="3447288"/>
            <a:ext cx="370332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KMS encrypts S3 objects</a:t>
            </a:r>
            <a:endParaRPr lang="en-US" sz="1050" dirty="0"/>
          </a:p>
        </p:txBody>
      </p:sp>
      <p:sp>
        <p:nvSpPr>
          <p:cNvPr id="47" name="Shape 41"/>
          <p:cNvSpPr/>
          <p:nvPr/>
        </p:nvSpPr>
        <p:spPr>
          <a:xfrm>
            <a:off x="4864608" y="3831336"/>
            <a:ext cx="64008" cy="64008"/>
          </a:xfrm>
          <a:prstGeom prst="oval">
            <a:avLst/>
          </a:prstGeom>
          <a:solidFill>
            <a:srgbClr val="7C3AED"/>
          </a:solidFill>
          <a:ln w="12700">
            <a:solidFill>
              <a:srgbClr val="7C3AED"/>
            </a:solidFill>
            <a:prstDash val="solid"/>
          </a:ln>
        </p:spPr>
      </p:sp>
      <p:sp>
        <p:nvSpPr>
          <p:cNvPr id="48" name="Text 42"/>
          <p:cNvSpPr/>
          <p:nvPr/>
        </p:nvSpPr>
        <p:spPr>
          <a:xfrm>
            <a:off x="4983480" y="3758184"/>
            <a:ext cx="370332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KMS encrypts Secrets</a:t>
            </a:r>
            <a:endParaRPr lang="en-US" sz="1050" dirty="0"/>
          </a:p>
        </p:txBody>
      </p:sp>
      <p:sp>
        <p:nvSpPr>
          <p:cNvPr id="49" name="Shape 43"/>
          <p:cNvSpPr/>
          <p:nvPr/>
        </p:nvSpPr>
        <p:spPr>
          <a:xfrm>
            <a:off x="4864608" y="4142232"/>
            <a:ext cx="64008" cy="64008"/>
          </a:xfrm>
          <a:prstGeom prst="oval">
            <a:avLst/>
          </a:prstGeom>
          <a:solidFill>
            <a:srgbClr val="7C3AED"/>
          </a:solidFill>
          <a:ln w="12700">
            <a:solidFill>
              <a:srgbClr val="7C3AED"/>
            </a:solidFill>
            <a:prstDash val="solid"/>
          </a:ln>
        </p:spPr>
      </p:sp>
      <p:sp>
        <p:nvSpPr>
          <p:cNvPr id="50" name="Text 44"/>
          <p:cNvSpPr/>
          <p:nvPr/>
        </p:nvSpPr>
        <p:spPr>
          <a:xfrm>
            <a:off x="4983480" y="4069080"/>
            <a:ext cx="370332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KMS encrypts CloudWatch Logs</a:t>
            </a:r>
            <a:endParaRPr lang="en-US" sz="1050" dirty="0"/>
          </a:p>
        </p:txBody>
      </p:sp>
      <p:sp>
        <p:nvSpPr>
          <p:cNvPr id="51" name="Shape 45"/>
          <p:cNvSpPr/>
          <p:nvPr/>
        </p:nvSpPr>
        <p:spPr>
          <a:xfrm>
            <a:off x="4864608" y="4453128"/>
            <a:ext cx="64008" cy="64008"/>
          </a:xfrm>
          <a:prstGeom prst="oval">
            <a:avLst/>
          </a:prstGeom>
          <a:solidFill>
            <a:srgbClr val="7C3AED"/>
          </a:solidFill>
          <a:ln w="12700">
            <a:solidFill>
              <a:srgbClr val="7C3AED"/>
            </a:solidFill>
            <a:prstDash val="solid"/>
          </a:ln>
        </p:spPr>
      </p:sp>
      <p:sp>
        <p:nvSpPr>
          <p:cNvPr id="52" name="Text 46"/>
          <p:cNvSpPr/>
          <p:nvPr/>
        </p:nvSpPr>
        <p:spPr>
          <a:xfrm>
            <a:off x="4983480" y="4379976"/>
            <a:ext cx="370332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KMS encrypts Lambda env vars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Storage Architecture</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KMS-encrypted private S3 bucket for all patient documents</a:t>
            </a:r>
            <a:endParaRPr lang="en-US" sz="1100" dirty="0"/>
          </a:p>
        </p:txBody>
      </p:sp>
      <p:sp>
        <p:nvSpPr>
          <p:cNvPr id="5" name="Shape 3"/>
          <p:cNvSpPr/>
          <p:nvPr/>
        </p:nvSpPr>
        <p:spPr>
          <a:xfrm>
            <a:off x="320040" y="987552"/>
            <a:ext cx="4023360" cy="3794760"/>
          </a:xfrm>
          <a:prstGeom prst="rect">
            <a:avLst>
              <a:gd name="adj" fmla="val 964"/>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6" name="Text 4"/>
          <p:cNvSpPr/>
          <p:nvPr/>
        </p:nvSpPr>
        <p:spPr>
          <a:xfrm>
            <a:off x="457200" y="1051560"/>
            <a:ext cx="3749040" cy="320040"/>
          </a:xfrm>
          <a:prstGeom prst="rect">
            <a:avLst/>
          </a:prstGeom>
          <a:noFill/>
          <a:ln/>
        </p:spPr>
        <p:txBody>
          <a:bodyPr wrap="square" lIns="0" tIns="0" rIns="0" bIns="0" rtlCol="0" anchor="ctr"/>
          <a:lstStyle/>
          <a:p>
            <a:pPr indent="0" marL="0">
              <a:buNone/>
            </a:pPr>
            <a:r>
              <a:rPr lang="en-US" sz="1400" b="1" dirty="0">
                <a:solidFill>
                  <a:srgbClr val="0073BB"/>
                </a:solidFill>
                <a:latin typeface="Cambria" pitchFamily="34" charset="0"/>
                <a:ea typeface="Cambria" pitchFamily="34" charset="-122"/>
                <a:cs typeface="Cambria" pitchFamily="34" charset="-120"/>
              </a:rPr>
              <a:t>Amazon S3 — Document Store</a:t>
            </a:r>
            <a:endParaRPr lang="en-US" sz="1400" dirty="0"/>
          </a:p>
        </p:txBody>
      </p:sp>
      <p:sp>
        <p:nvSpPr>
          <p:cNvPr id="7" name="Shape 5"/>
          <p:cNvSpPr/>
          <p:nvPr/>
        </p:nvSpPr>
        <p:spPr>
          <a:xfrm>
            <a:off x="457200" y="1481328"/>
            <a:ext cx="3749040" cy="731520"/>
          </a:xfrm>
          <a:prstGeom prst="rect">
            <a:avLst>
              <a:gd name="adj" fmla="val 5000"/>
            </a:avLst>
          </a:prstGeom>
          <a:solidFill>
            <a:srgbClr val="F1F5F9"/>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8" name="Shape 6"/>
          <p:cNvSpPr/>
          <p:nvPr/>
        </p:nvSpPr>
        <p:spPr>
          <a:xfrm>
            <a:off x="576072" y="1618488"/>
            <a:ext cx="457200" cy="457200"/>
          </a:xfrm>
          <a:prstGeom prst="oval">
            <a:avLst/>
          </a:prstGeom>
          <a:solidFill>
            <a:srgbClr val="EF4444"/>
          </a:solidFill>
          <a:ln w="12700">
            <a:solidFill>
              <a:srgbClr val="EF4444"/>
            </a:solidFill>
            <a:prstDash val="solid"/>
          </a:ln>
        </p:spPr>
      </p:sp>
      <p:pic>
        <p:nvPicPr>
          <p:cNvPr id="9" name="Image 0" descr="preencoded.png">    </p:cNvPr>
          <p:cNvPicPr>
            <a:picLocks noChangeAspect="1"/>
          </p:cNvPicPr>
          <p:nvPr/>
        </p:nvPicPr>
        <p:blipFill>
          <a:blip r:embed="rId1"/>
          <a:stretch>
            <a:fillRect/>
          </a:stretch>
        </p:blipFill>
        <p:spPr>
          <a:xfrm>
            <a:off x="667512" y="1709928"/>
            <a:ext cx="274320" cy="274320"/>
          </a:xfrm>
          <a:prstGeom prst="rect">
            <a:avLst/>
          </a:prstGeom>
        </p:spPr>
      </p:pic>
      <p:sp>
        <p:nvSpPr>
          <p:cNvPr id="10" name="Text 7"/>
          <p:cNvSpPr/>
          <p:nvPr/>
        </p:nvSpPr>
        <p:spPr>
          <a:xfrm>
            <a:off x="1115568" y="1572768"/>
            <a:ext cx="297180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Medical Reports</a:t>
            </a:r>
            <a:endParaRPr lang="en-US" sz="1200" dirty="0"/>
          </a:p>
        </p:txBody>
      </p:sp>
      <p:sp>
        <p:nvSpPr>
          <p:cNvPr id="11" name="Text 8"/>
          <p:cNvSpPr/>
          <p:nvPr/>
        </p:nvSpPr>
        <p:spPr>
          <a:xfrm>
            <a:off x="1115568" y="1865376"/>
            <a:ext cx="29718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Uploaded by patients/doctors</a:t>
            </a:r>
            <a:endParaRPr lang="en-US" sz="1000" dirty="0"/>
          </a:p>
        </p:txBody>
      </p:sp>
      <p:sp>
        <p:nvSpPr>
          <p:cNvPr id="12" name="Shape 9"/>
          <p:cNvSpPr/>
          <p:nvPr/>
        </p:nvSpPr>
        <p:spPr>
          <a:xfrm>
            <a:off x="457200" y="2350008"/>
            <a:ext cx="3749040" cy="731520"/>
          </a:xfrm>
          <a:prstGeom prst="rect">
            <a:avLst>
              <a:gd name="adj" fmla="val 5000"/>
            </a:avLst>
          </a:prstGeom>
          <a:solidFill>
            <a:srgbClr val="F1F5F9"/>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3" name="Shape 10"/>
          <p:cNvSpPr/>
          <p:nvPr/>
        </p:nvSpPr>
        <p:spPr>
          <a:xfrm>
            <a:off x="576072" y="2487168"/>
            <a:ext cx="457200" cy="457200"/>
          </a:xfrm>
          <a:prstGeom prst="oval">
            <a:avLst/>
          </a:prstGeom>
          <a:solidFill>
            <a:srgbClr val="A855F7"/>
          </a:solidFill>
          <a:ln w="12700">
            <a:solidFill>
              <a:srgbClr val="A855F7"/>
            </a:solidFill>
            <a:prstDash val="solid"/>
          </a:ln>
        </p:spPr>
      </p:sp>
      <p:pic>
        <p:nvPicPr>
          <p:cNvPr id="14" name="Image 1" descr="preencoded.png">    </p:cNvPr>
          <p:cNvPicPr>
            <a:picLocks noChangeAspect="1"/>
          </p:cNvPicPr>
          <p:nvPr/>
        </p:nvPicPr>
        <p:blipFill>
          <a:blip r:embed="rId2"/>
          <a:stretch>
            <a:fillRect/>
          </a:stretch>
        </p:blipFill>
        <p:spPr>
          <a:xfrm>
            <a:off x="667512" y="2578608"/>
            <a:ext cx="274320" cy="274320"/>
          </a:xfrm>
          <a:prstGeom prst="rect">
            <a:avLst/>
          </a:prstGeom>
        </p:spPr>
      </p:pic>
      <p:sp>
        <p:nvSpPr>
          <p:cNvPr id="15" name="Text 11"/>
          <p:cNvSpPr/>
          <p:nvPr/>
        </p:nvSpPr>
        <p:spPr>
          <a:xfrm>
            <a:off x="1115568" y="2441448"/>
            <a:ext cx="297180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Prescriptions</a:t>
            </a:r>
            <a:endParaRPr lang="en-US" sz="1200" dirty="0"/>
          </a:p>
        </p:txBody>
      </p:sp>
      <p:sp>
        <p:nvSpPr>
          <p:cNvPr id="16" name="Text 12"/>
          <p:cNvSpPr/>
          <p:nvPr/>
        </p:nvSpPr>
        <p:spPr>
          <a:xfrm>
            <a:off x="1115568" y="2734056"/>
            <a:ext cx="29718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Stored after doctor review</a:t>
            </a:r>
            <a:endParaRPr lang="en-US" sz="1000" dirty="0"/>
          </a:p>
        </p:txBody>
      </p:sp>
      <p:sp>
        <p:nvSpPr>
          <p:cNvPr id="17" name="Shape 13"/>
          <p:cNvSpPr/>
          <p:nvPr/>
        </p:nvSpPr>
        <p:spPr>
          <a:xfrm>
            <a:off x="457200" y="3218688"/>
            <a:ext cx="3749040" cy="731520"/>
          </a:xfrm>
          <a:prstGeom prst="rect">
            <a:avLst>
              <a:gd name="adj" fmla="val 5000"/>
            </a:avLst>
          </a:prstGeom>
          <a:solidFill>
            <a:srgbClr val="F1F5F9"/>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8" name="Shape 14"/>
          <p:cNvSpPr/>
          <p:nvPr/>
        </p:nvSpPr>
        <p:spPr>
          <a:xfrm>
            <a:off x="576072" y="3355848"/>
            <a:ext cx="457200" cy="457200"/>
          </a:xfrm>
          <a:prstGeom prst="oval">
            <a:avLst/>
          </a:prstGeom>
          <a:solidFill>
            <a:srgbClr val="F97316"/>
          </a:solidFill>
          <a:ln w="12700">
            <a:solidFill>
              <a:srgbClr val="F97316"/>
            </a:solidFill>
            <a:prstDash val="solid"/>
          </a:ln>
        </p:spPr>
      </p:sp>
      <p:pic>
        <p:nvPicPr>
          <p:cNvPr id="19" name="Image 2" descr="preencoded.png">    </p:cNvPr>
          <p:cNvPicPr>
            <a:picLocks noChangeAspect="1"/>
          </p:cNvPicPr>
          <p:nvPr/>
        </p:nvPicPr>
        <p:blipFill>
          <a:blip r:embed="rId3"/>
          <a:stretch>
            <a:fillRect/>
          </a:stretch>
        </p:blipFill>
        <p:spPr>
          <a:xfrm>
            <a:off x="667512" y="3447288"/>
            <a:ext cx="274320" cy="274320"/>
          </a:xfrm>
          <a:prstGeom prst="rect">
            <a:avLst/>
          </a:prstGeom>
        </p:spPr>
      </p:pic>
      <p:sp>
        <p:nvSpPr>
          <p:cNvPr id="20" name="Text 15"/>
          <p:cNvSpPr/>
          <p:nvPr/>
        </p:nvSpPr>
        <p:spPr>
          <a:xfrm>
            <a:off x="1115568" y="3310128"/>
            <a:ext cx="297180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Patient Uploads</a:t>
            </a:r>
            <a:endParaRPr lang="en-US" sz="1200" dirty="0"/>
          </a:p>
        </p:txBody>
      </p:sp>
      <p:sp>
        <p:nvSpPr>
          <p:cNvPr id="21" name="Text 16"/>
          <p:cNvSpPr/>
          <p:nvPr/>
        </p:nvSpPr>
        <p:spPr>
          <a:xfrm>
            <a:off x="1115568" y="3602736"/>
            <a:ext cx="29718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Diagnostic images, test results</a:t>
            </a:r>
            <a:endParaRPr lang="en-US" sz="1000" dirty="0"/>
          </a:p>
        </p:txBody>
      </p:sp>
      <p:sp>
        <p:nvSpPr>
          <p:cNvPr id="22" name="Shape 17"/>
          <p:cNvSpPr/>
          <p:nvPr/>
        </p:nvSpPr>
        <p:spPr>
          <a:xfrm>
            <a:off x="457200" y="4178808"/>
            <a:ext cx="3749040" cy="530352"/>
          </a:xfrm>
          <a:prstGeom prst="rect">
            <a:avLst>
              <a:gd name="adj" fmla="val 6897"/>
            </a:avLst>
          </a:prstGeom>
          <a:solidFill>
            <a:srgbClr val="FFF0F0"/>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3" name="Text 18"/>
          <p:cNvSpPr/>
          <p:nvPr/>
        </p:nvSpPr>
        <p:spPr>
          <a:xfrm>
            <a:off x="548640" y="4233672"/>
            <a:ext cx="3566160" cy="384048"/>
          </a:xfrm>
          <a:prstGeom prst="rect">
            <a:avLst/>
          </a:prstGeom>
          <a:noFill/>
          <a:ln/>
        </p:spPr>
        <p:txBody>
          <a:bodyPr wrap="square" lIns="0" tIns="0" rIns="0" bIns="0" rtlCol="0" anchor="ctr"/>
          <a:lstStyle/>
          <a:p>
            <a:pPr indent="0" marL="0">
              <a:buNone/>
            </a:pPr>
            <a:r>
              <a:rPr lang="en-US" sz="900" dirty="0">
                <a:solidFill>
                  <a:srgbClr val="EF4444"/>
                </a:solidFill>
                <a:latin typeface="Calibri" pitchFamily="34" charset="0"/>
                <a:ea typeface="Calibri" pitchFamily="34" charset="-122"/>
                <a:cs typeface="Calibri" pitchFamily="34" charset="-120"/>
              </a:rPr>
              <a:t>Private bucket — no public access  ·  KMS encryption at rest  ·  IAM role-based access only</a:t>
            </a:r>
            <a:endParaRPr lang="en-US" sz="900" dirty="0"/>
          </a:p>
        </p:txBody>
      </p:sp>
      <p:sp>
        <p:nvSpPr>
          <p:cNvPr id="24" name="Shape 19"/>
          <p:cNvSpPr/>
          <p:nvPr/>
        </p:nvSpPr>
        <p:spPr>
          <a:xfrm>
            <a:off x="4663440" y="987552"/>
            <a:ext cx="4160520" cy="3794760"/>
          </a:xfrm>
          <a:prstGeom prst="rect">
            <a:avLst>
              <a:gd name="adj" fmla="val 964"/>
            </a:avLst>
          </a:prstGeom>
          <a:solidFill>
            <a:srgbClr val="1A2C42"/>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5" name="Text 20"/>
          <p:cNvSpPr/>
          <p:nvPr/>
        </p:nvSpPr>
        <p:spPr>
          <a:xfrm>
            <a:off x="4754880" y="1051560"/>
            <a:ext cx="3977640" cy="320040"/>
          </a:xfrm>
          <a:prstGeom prst="rect">
            <a:avLst/>
          </a:prstGeom>
          <a:noFill/>
          <a:ln/>
        </p:spPr>
        <p:txBody>
          <a:bodyPr wrap="square" lIns="0" tIns="0" rIns="0" bIns="0" rtlCol="0" anchor="ctr"/>
          <a:lstStyle/>
          <a:p>
            <a:pPr algn="ctr" indent="0" marL="0">
              <a:buNone/>
            </a:pPr>
            <a:r>
              <a:rPr lang="en-US" sz="1300" b="1" dirty="0">
                <a:solidFill>
                  <a:srgbClr val="FF9900"/>
                </a:solidFill>
                <a:latin typeface="Cambria" pitchFamily="34" charset="0"/>
                <a:ea typeface="Cambria" pitchFamily="34" charset="-122"/>
                <a:cs typeface="Cambria" pitchFamily="34" charset="-120"/>
              </a:rPr>
              <a:t>Upload / Retrieval Flow</a:t>
            </a:r>
            <a:endParaRPr lang="en-US" sz="1300" dirty="0"/>
          </a:p>
        </p:txBody>
      </p:sp>
      <p:sp>
        <p:nvSpPr>
          <p:cNvPr id="26" name="Shape 21"/>
          <p:cNvSpPr/>
          <p:nvPr/>
        </p:nvSpPr>
        <p:spPr>
          <a:xfrm>
            <a:off x="5532120" y="1508760"/>
            <a:ext cx="2377440" cy="502920"/>
          </a:xfrm>
          <a:prstGeom prst="rect">
            <a:avLst>
              <a:gd name="adj" fmla="val 7273"/>
            </a:avLst>
          </a:prstGeom>
          <a:solidFill>
            <a:srgbClr val="64748B"/>
          </a:solidFill>
          <a:ln w="12700">
            <a:solidFill>
              <a:srgbClr val="64748B"/>
            </a:solidFill>
            <a:prstDash val="solid"/>
          </a:ln>
          <a:effectLst>
            <a:outerShdw sx="100000" sy="100000" kx="0" ky="0" algn="bl" rotWithShape="0" blurRad="101600" dist="25400" dir="2700000">
              <a:srgbClr val="000000">
                <a:alpha val="12000"/>
              </a:srgbClr>
            </a:outerShdw>
          </a:effectLst>
        </p:spPr>
      </p:sp>
      <p:pic>
        <p:nvPicPr>
          <p:cNvPr id="27" name="Image 3" descr="preencoded.png">    </p:cNvPr>
          <p:cNvPicPr>
            <a:picLocks noChangeAspect="1"/>
          </p:cNvPicPr>
          <p:nvPr/>
        </p:nvPicPr>
        <p:blipFill>
          <a:blip r:embed="rId4"/>
          <a:stretch>
            <a:fillRect/>
          </a:stretch>
        </p:blipFill>
        <p:spPr>
          <a:xfrm>
            <a:off x="5623560" y="1618488"/>
            <a:ext cx="256032" cy="256032"/>
          </a:xfrm>
          <a:prstGeom prst="rect">
            <a:avLst/>
          </a:prstGeom>
        </p:spPr>
      </p:pic>
      <p:sp>
        <p:nvSpPr>
          <p:cNvPr id="28" name="Text 22"/>
          <p:cNvSpPr/>
          <p:nvPr/>
        </p:nvSpPr>
        <p:spPr>
          <a:xfrm>
            <a:off x="5943600" y="1618488"/>
            <a:ext cx="18288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Client Request</a:t>
            </a:r>
            <a:endParaRPr lang="en-US" sz="1000" dirty="0"/>
          </a:p>
        </p:txBody>
      </p:sp>
      <p:sp>
        <p:nvSpPr>
          <p:cNvPr id="29" name="Shape 23"/>
          <p:cNvSpPr/>
          <p:nvPr/>
        </p:nvSpPr>
        <p:spPr>
          <a:xfrm>
            <a:off x="6720840" y="2011680"/>
            <a:ext cx="0" cy="137160"/>
          </a:xfrm>
          <a:prstGeom prst="line">
            <a:avLst/>
          </a:prstGeom>
          <a:noFill/>
          <a:ln w="25400">
            <a:solidFill>
              <a:srgbClr val="FF9900"/>
            </a:solidFill>
            <a:prstDash val="solid"/>
            <a:tailEnd type="arrow"/>
          </a:ln>
        </p:spPr>
      </p:sp>
      <p:sp>
        <p:nvSpPr>
          <p:cNvPr id="30" name="Shape 24"/>
          <p:cNvSpPr/>
          <p:nvPr/>
        </p:nvSpPr>
        <p:spPr>
          <a:xfrm>
            <a:off x="5532120" y="2148840"/>
            <a:ext cx="2377440" cy="502920"/>
          </a:xfrm>
          <a:prstGeom prst="rect">
            <a:avLst>
              <a:gd name="adj" fmla="val 7273"/>
            </a:avLst>
          </a:prstGeom>
          <a:solidFill>
            <a:srgbClr val="22C55E"/>
          </a:solidFill>
          <a:ln w="12700">
            <a:solidFill>
              <a:srgbClr val="22C55E"/>
            </a:solidFill>
            <a:prstDash val="solid"/>
          </a:ln>
          <a:effectLst>
            <a:outerShdw sx="100000" sy="100000" kx="0" ky="0" algn="bl" rotWithShape="0" blurRad="101600" dist="25400" dir="2700000">
              <a:srgbClr val="000000">
                <a:alpha val="12000"/>
              </a:srgbClr>
            </a:outerShdw>
          </a:effectLst>
        </p:spPr>
      </p:sp>
      <p:pic>
        <p:nvPicPr>
          <p:cNvPr id="31" name="Image 4" descr="preencoded.png">    </p:cNvPr>
          <p:cNvPicPr>
            <a:picLocks noChangeAspect="1"/>
          </p:cNvPicPr>
          <p:nvPr/>
        </p:nvPicPr>
        <p:blipFill>
          <a:blip r:embed="rId5"/>
          <a:stretch>
            <a:fillRect/>
          </a:stretch>
        </p:blipFill>
        <p:spPr>
          <a:xfrm>
            <a:off x="5623560" y="2258568"/>
            <a:ext cx="256032" cy="256032"/>
          </a:xfrm>
          <a:prstGeom prst="rect">
            <a:avLst/>
          </a:prstGeom>
        </p:spPr>
      </p:pic>
      <p:sp>
        <p:nvSpPr>
          <p:cNvPr id="32" name="Text 25"/>
          <p:cNvSpPr/>
          <p:nvPr/>
        </p:nvSpPr>
        <p:spPr>
          <a:xfrm>
            <a:off x="5943600" y="2258568"/>
            <a:ext cx="18288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Backend API</a:t>
            </a:r>
            <a:endParaRPr lang="en-US" sz="1000" dirty="0"/>
          </a:p>
        </p:txBody>
      </p:sp>
      <p:sp>
        <p:nvSpPr>
          <p:cNvPr id="33" name="Shape 26"/>
          <p:cNvSpPr/>
          <p:nvPr/>
        </p:nvSpPr>
        <p:spPr>
          <a:xfrm>
            <a:off x="6720840" y="2651760"/>
            <a:ext cx="0" cy="137160"/>
          </a:xfrm>
          <a:prstGeom prst="line">
            <a:avLst/>
          </a:prstGeom>
          <a:noFill/>
          <a:ln w="25400">
            <a:solidFill>
              <a:srgbClr val="FF9900"/>
            </a:solidFill>
            <a:prstDash val="solid"/>
            <a:tailEnd type="arrow"/>
          </a:ln>
        </p:spPr>
      </p:sp>
      <p:sp>
        <p:nvSpPr>
          <p:cNvPr id="34" name="Shape 27"/>
          <p:cNvSpPr/>
          <p:nvPr/>
        </p:nvSpPr>
        <p:spPr>
          <a:xfrm>
            <a:off x="5532120" y="2788920"/>
            <a:ext cx="2377440" cy="502920"/>
          </a:xfrm>
          <a:prstGeom prst="rect">
            <a:avLst>
              <a:gd name="adj" fmla="val 7273"/>
            </a:avLst>
          </a:prstGeom>
          <a:solidFill>
            <a:srgbClr val="EF4444"/>
          </a:solidFill>
          <a:ln w="12700">
            <a:solidFill>
              <a:srgbClr val="EF4444"/>
            </a:solidFill>
            <a:prstDash val="solid"/>
          </a:ln>
          <a:effectLst>
            <a:outerShdw sx="100000" sy="100000" kx="0" ky="0" algn="bl" rotWithShape="0" blurRad="101600" dist="25400" dir="2700000">
              <a:srgbClr val="000000">
                <a:alpha val="12000"/>
              </a:srgbClr>
            </a:outerShdw>
          </a:effectLst>
        </p:spPr>
      </p:sp>
      <p:pic>
        <p:nvPicPr>
          <p:cNvPr id="35" name="Image 5" descr="preencoded.png">    </p:cNvPr>
          <p:cNvPicPr>
            <a:picLocks noChangeAspect="1"/>
          </p:cNvPicPr>
          <p:nvPr/>
        </p:nvPicPr>
        <p:blipFill>
          <a:blip r:embed="rId6"/>
          <a:stretch>
            <a:fillRect/>
          </a:stretch>
        </p:blipFill>
        <p:spPr>
          <a:xfrm>
            <a:off x="5623560" y="2898648"/>
            <a:ext cx="256032" cy="256032"/>
          </a:xfrm>
          <a:prstGeom prst="rect">
            <a:avLst/>
          </a:prstGeom>
        </p:spPr>
      </p:pic>
      <p:sp>
        <p:nvSpPr>
          <p:cNvPr id="36" name="Text 28"/>
          <p:cNvSpPr/>
          <p:nvPr/>
        </p:nvSpPr>
        <p:spPr>
          <a:xfrm>
            <a:off x="5943600" y="2898648"/>
            <a:ext cx="18288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IAM Role Check</a:t>
            </a:r>
            <a:endParaRPr lang="en-US" sz="1000" dirty="0"/>
          </a:p>
        </p:txBody>
      </p:sp>
      <p:sp>
        <p:nvSpPr>
          <p:cNvPr id="37" name="Shape 29"/>
          <p:cNvSpPr/>
          <p:nvPr/>
        </p:nvSpPr>
        <p:spPr>
          <a:xfrm>
            <a:off x="6720840" y="3291840"/>
            <a:ext cx="0" cy="137160"/>
          </a:xfrm>
          <a:prstGeom prst="line">
            <a:avLst/>
          </a:prstGeom>
          <a:noFill/>
          <a:ln w="25400">
            <a:solidFill>
              <a:srgbClr val="FF9900"/>
            </a:solidFill>
            <a:prstDash val="solid"/>
            <a:tailEnd type="arrow"/>
          </a:ln>
        </p:spPr>
      </p:sp>
      <p:sp>
        <p:nvSpPr>
          <p:cNvPr id="38" name="Shape 30"/>
          <p:cNvSpPr/>
          <p:nvPr/>
        </p:nvSpPr>
        <p:spPr>
          <a:xfrm>
            <a:off x="5532120" y="3429000"/>
            <a:ext cx="2377440" cy="502920"/>
          </a:xfrm>
          <a:prstGeom prst="rect">
            <a:avLst>
              <a:gd name="adj" fmla="val 7273"/>
            </a:avLst>
          </a:prstGeom>
          <a:solidFill>
            <a:srgbClr val="7C3AED"/>
          </a:solidFill>
          <a:ln w="12700">
            <a:solidFill>
              <a:srgbClr val="7C3AED"/>
            </a:solidFill>
            <a:prstDash val="solid"/>
          </a:ln>
          <a:effectLst>
            <a:outerShdw sx="100000" sy="100000" kx="0" ky="0" algn="bl" rotWithShape="0" blurRad="101600" dist="25400" dir="2700000">
              <a:srgbClr val="000000">
                <a:alpha val="12000"/>
              </a:srgbClr>
            </a:outerShdw>
          </a:effectLst>
        </p:spPr>
      </p:sp>
      <p:pic>
        <p:nvPicPr>
          <p:cNvPr id="39" name="Image 6" descr="preencoded.png">    </p:cNvPr>
          <p:cNvPicPr>
            <a:picLocks noChangeAspect="1"/>
          </p:cNvPicPr>
          <p:nvPr/>
        </p:nvPicPr>
        <p:blipFill>
          <a:blip r:embed="rId7"/>
          <a:stretch>
            <a:fillRect/>
          </a:stretch>
        </p:blipFill>
        <p:spPr>
          <a:xfrm>
            <a:off x="5623560" y="3538728"/>
            <a:ext cx="256032" cy="256032"/>
          </a:xfrm>
          <a:prstGeom prst="rect">
            <a:avLst/>
          </a:prstGeom>
        </p:spPr>
      </p:pic>
      <p:sp>
        <p:nvSpPr>
          <p:cNvPr id="40" name="Text 31"/>
          <p:cNvSpPr/>
          <p:nvPr/>
        </p:nvSpPr>
        <p:spPr>
          <a:xfrm>
            <a:off x="5943600" y="3538728"/>
            <a:ext cx="18288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KMS Decrypt</a:t>
            </a:r>
            <a:endParaRPr lang="en-US" sz="1000" dirty="0"/>
          </a:p>
        </p:txBody>
      </p:sp>
      <p:sp>
        <p:nvSpPr>
          <p:cNvPr id="41" name="Shape 32"/>
          <p:cNvSpPr/>
          <p:nvPr/>
        </p:nvSpPr>
        <p:spPr>
          <a:xfrm>
            <a:off x="6720840" y="3931920"/>
            <a:ext cx="0" cy="137160"/>
          </a:xfrm>
          <a:prstGeom prst="line">
            <a:avLst/>
          </a:prstGeom>
          <a:noFill/>
          <a:ln w="25400">
            <a:solidFill>
              <a:srgbClr val="FF9900"/>
            </a:solidFill>
            <a:prstDash val="solid"/>
            <a:tailEnd type="arrow"/>
          </a:ln>
        </p:spPr>
      </p:sp>
      <p:sp>
        <p:nvSpPr>
          <p:cNvPr id="42" name="Shape 33"/>
          <p:cNvSpPr/>
          <p:nvPr/>
        </p:nvSpPr>
        <p:spPr>
          <a:xfrm>
            <a:off x="5532120" y="4069080"/>
            <a:ext cx="2377440" cy="502920"/>
          </a:xfrm>
          <a:prstGeom prst="rect">
            <a:avLst>
              <a:gd name="adj" fmla="val 7273"/>
            </a:avLst>
          </a:prstGeom>
          <a:solidFill>
            <a:srgbClr val="14B8A6"/>
          </a:solidFill>
          <a:ln w="12700">
            <a:solidFill>
              <a:srgbClr val="14B8A6"/>
            </a:solidFill>
            <a:prstDash val="solid"/>
          </a:ln>
          <a:effectLst>
            <a:outerShdw sx="100000" sy="100000" kx="0" ky="0" algn="bl" rotWithShape="0" blurRad="101600" dist="25400" dir="2700000">
              <a:srgbClr val="000000">
                <a:alpha val="12000"/>
              </a:srgbClr>
            </a:outerShdw>
          </a:effectLst>
        </p:spPr>
      </p:sp>
      <p:pic>
        <p:nvPicPr>
          <p:cNvPr id="43" name="Image 7" descr="preencoded.png">    </p:cNvPr>
          <p:cNvPicPr>
            <a:picLocks noChangeAspect="1"/>
          </p:cNvPicPr>
          <p:nvPr/>
        </p:nvPicPr>
        <p:blipFill>
          <a:blip r:embed="rId8"/>
          <a:stretch>
            <a:fillRect/>
          </a:stretch>
        </p:blipFill>
        <p:spPr>
          <a:xfrm>
            <a:off x="5623560" y="4178808"/>
            <a:ext cx="256032" cy="256032"/>
          </a:xfrm>
          <a:prstGeom prst="rect">
            <a:avLst/>
          </a:prstGeom>
        </p:spPr>
      </p:pic>
      <p:sp>
        <p:nvSpPr>
          <p:cNvPr id="44" name="Text 34"/>
          <p:cNvSpPr/>
          <p:nvPr/>
        </p:nvSpPr>
        <p:spPr>
          <a:xfrm>
            <a:off x="5943600" y="4178808"/>
            <a:ext cx="18288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S3 Object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Database Architecture</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Amazon RDS PostgreSQL Multi-AZ for high availability and failover</a:t>
            </a:r>
            <a:endParaRPr lang="en-US" sz="1100" dirty="0"/>
          </a:p>
        </p:txBody>
      </p:sp>
      <p:sp>
        <p:nvSpPr>
          <p:cNvPr id="5" name="Shape 3"/>
          <p:cNvSpPr/>
          <p:nvPr/>
        </p:nvSpPr>
        <p:spPr>
          <a:xfrm>
            <a:off x="320040" y="987552"/>
            <a:ext cx="2011680" cy="822960"/>
          </a:xfrm>
          <a:prstGeom prst="rect">
            <a:avLst>
              <a:gd name="adj" fmla="val 4444"/>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6" name="Shape 4"/>
          <p:cNvSpPr/>
          <p:nvPr/>
        </p:nvSpPr>
        <p:spPr>
          <a:xfrm>
            <a:off x="365760" y="1170432"/>
            <a:ext cx="457200" cy="457200"/>
          </a:xfrm>
          <a:prstGeom prst="oval">
            <a:avLst/>
          </a:prstGeom>
          <a:solidFill>
            <a:srgbClr val="A855F7"/>
          </a:solidFill>
          <a:ln w="12700">
            <a:solidFill>
              <a:srgbClr val="A855F7"/>
            </a:solidFill>
            <a:prstDash val="solid"/>
          </a:ln>
        </p:spPr>
      </p:sp>
      <p:pic>
        <p:nvPicPr>
          <p:cNvPr id="7" name="Image 0" descr="preencoded.png">    </p:cNvPr>
          <p:cNvPicPr>
            <a:picLocks noChangeAspect="1"/>
          </p:cNvPicPr>
          <p:nvPr/>
        </p:nvPicPr>
        <p:blipFill>
          <a:blip r:embed="rId1"/>
          <a:stretch>
            <a:fillRect/>
          </a:stretch>
        </p:blipFill>
        <p:spPr>
          <a:xfrm>
            <a:off x="457200" y="1261872"/>
            <a:ext cx="274320" cy="274320"/>
          </a:xfrm>
          <a:prstGeom prst="rect">
            <a:avLst/>
          </a:prstGeom>
        </p:spPr>
      </p:pic>
      <p:sp>
        <p:nvSpPr>
          <p:cNvPr id="8" name="Text 5"/>
          <p:cNvSpPr/>
          <p:nvPr/>
        </p:nvSpPr>
        <p:spPr>
          <a:xfrm>
            <a:off x="914400" y="1060704"/>
            <a:ext cx="1325880" cy="256032"/>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Managed Service</a:t>
            </a:r>
            <a:endParaRPr lang="en-US" sz="1050" dirty="0"/>
          </a:p>
        </p:txBody>
      </p:sp>
      <p:sp>
        <p:nvSpPr>
          <p:cNvPr id="9" name="Text 6"/>
          <p:cNvSpPr/>
          <p:nvPr/>
        </p:nvSpPr>
        <p:spPr>
          <a:xfrm>
            <a:off x="914400" y="1335024"/>
            <a:ext cx="1325880" cy="38404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AWS handles patching, backups, and maintenance</a:t>
            </a:r>
            <a:endParaRPr lang="en-US" sz="900" dirty="0"/>
          </a:p>
        </p:txBody>
      </p:sp>
      <p:sp>
        <p:nvSpPr>
          <p:cNvPr id="10" name="Shape 7"/>
          <p:cNvSpPr/>
          <p:nvPr/>
        </p:nvSpPr>
        <p:spPr>
          <a:xfrm>
            <a:off x="2468880" y="987552"/>
            <a:ext cx="2011680" cy="822960"/>
          </a:xfrm>
          <a:prstGeom prst="rect">
            <a:avLst>
              <a:gd name="adj" fmla="val 4444"/>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1" name="Shape 8"/>
          <p:cNvSpPr/>
          <p:nvPr/>
        </p:nvSpPr>
        <p:spPr>
          <a:xfrm>
            <a:off x="2514600" y="1170432"/>
            <a:ext cx="457200" cy="457200"/>
          </a:xfrm>
          <a:prstGeom prst="oval">
            <a:avLst/>
          </a:prstGeom>
          <a:solidFill>
            <a:srgbClr val="22C55E"/>
          </a:solidFill>
          <a:ln w="12700">
            <a:solidFill>
              <a:srgbClr val="22C55E"/>
            </a:solidFill>
            <a:prstDash val="solid"/>
          </a:ln>
        </p:spPr>
      </p:sp>
      <p:pic>
        <p:nvPicPr>
          <p:cNvPr id="12" name="Image 1" descr="preencoded.png">    </p:cNvPr>
          <p:cNvPicPr>
            <a:picLocks noChangeAspect="1"/>
          </p:cNvPicPr>
          <p:nvPr/>
        </p:nvPicPr>
        <p:blipFill>
          <a:blip r:embed="rId2"/>
          <a:stretch>
            <a:fillRect/>
          </a:stretch>
        </p:blipFill>
        <p:spPr>
          <a:xfrm>
            <a:off x="2606040" y="1261872"/>
            <a:ext cx="274320" cy="274320"/>
          </a:xfrm>
          <a:prstGeom prst="rect">
            <a:avLst/>
          </a:prstGeom>
        </p:spPr>
      </p:pic>
      <p:sp>
        <p:nvSpPr>
          <p:cNvPr id="13" name="Text 9"/>
          <p:cNvSpPr/>
          <p:nvPr/>
        </p:nvSpPr>
        <p:spPr>
          <a:xfrm>
            <a:off x="3063240" y="1060704"/>
            <a:ext cx="1325880" cy="256032"/>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Synchronous Replication</a:t>
            </a:r>
            <a:endParaRPr lang="en-US" sz="1050" dirty="0"/>
          </a:p>
        </p:txBody>
      </p:sp>
      <p:sp>
        <p:nvSpPr>
          <p:cNvPr id="14" name="Text 10"/>
          <p:cNvSpPr/>
          <p:nvPr/>
        </p:nvSpPr>
        <p:spPr>
          <a:xfrm>
            <a:off x="3063240" y="1335024"/>
            <a:ext cx="1325880" cy="38404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Primary → Standby replica kept in sync in real time</a:t>
            </a:r>
            <a:endParaRPr lang="en-US" sz="900" dirty="0"/>
          </a:p>
        </p:txBody>
      </p:sp>
      <p:sp>
        <p:nvSpPr>
          <p:cNvPr id="15" name="Shape 11"/>
          <p:cNvSpPr/>
          <p:nvPr/>
        </p:nvSpPr>
        <p:spPr>
          <a:xfrm>
            <a:off x="320040" y="1947672"/>
            <a:ext cx="2011680" cy="822960"/>
          </a:xfrm>
          <a:prstGeom prst="rect">
            <a:avLst>
              <a:gd name="adj" fmla="val 4444"/>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6" name="Shape 12"/>
          <p:cNvSpPr/>
          <p:nvPr/>
        </p:nvSpPr>
        <p:spPr>
          <a:xfrm>
            <a:off x="365760" y="2130552"/>
            <a:ext cx="457200" cy="457200"/>
          </a:xfrm>
          <a:prstGeom prst="oval">
            <a:avLst/>
          </a:prstGeom>
          <a:solidFill>
            <a:srgbClr val="EAB308"/>
          </a:solidFill>
          <a:ln w="12700">
            <a:solidFill>
              <a:srgbClr val="EAB308"/>
            </a:solidFill>
            <a:prstDash val="solid"/>
          </a:ln>
        </p:spPr>
      </p:sp>
      <p:pic>
        <p:nvPicPr>
          <p:cNvPr id="17" name="Image 2" descr="preencoded.png">    </p:cNvPr>
          <p:cNvPicPr>
            <a:picLocks noChangeAspect="1"/>
          </p:cNvPicPr>
          <p:nvPr/>
        </p:nvPicPr>
        <p:blipFill>
          <a:blip r:embed="rId3"/>
          <a:stretch>
            <a:fillRect/>
          </a:stretch>
        </p:blipFill>
        <p:spPr>
          <a:xfrm>
            <a:off x="457200" y="2221992"/>
            <a:ext cx="274320" cy="274320"/>
          </a:xfrm>
          <a:prstGeom prst="rect">
            <a:avLst/>
          </a:prstGeom>
        </p:spPr>
      </p:pic>
      <p:sp>
        <p:nvSpPr>
          <p:cNvPr id="18" name="Text 13"/>
          <p:cNvSpPr/>
          <p:nvPr/>
        </p:nvSpPr>
        <p:spPr>
          <a:xfrm>
            <a:off x="914400" y="2020824"/>
            <a:ext cx="1325880" cy="256032"/>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Automatic Failover</a:t>
            </a:r>
            <a:endParaRPr lang="en-US" sz="1050" dirty="0"/>
          </a:p>
        </p:txBody>
      </p:sp>
      <p:sp>
        <p:nvSpPr>
          <p:cNvPr id="19" name="Text 14"/>
          <p:cNvSpPr/>
          <p:nvPr/>
        </p:nvSpPr>
        <p:spPr>
          <a:xfrm>
            <a:off x="914400" y="2295144"/>
            <a:ext cx="1325880" cy="38404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&lt; 2 min RTO — standby promoted on primary failure</a:t>
            </a:r>
            <a:endParaRPr lang="en-US" sz="900" dirty="0"/>
          </a:p>
        </p:txBody>
      </p:sp>
      <p:sp>
        <p:nvSpPr>
          <p:cNvPr id="20" name="Shape 15"/>
          <p:cNvSpPr/>
          <p:nvPr/>
        </p:nvSpPr>
        <p:spPr>
          <a:xfrm>
            <a:off x="2468880" y="1947672"/>
            <a:ext cx="2011680" cy="822960"/>
          </a:xfrm>
          <a:prstGeom prst="rect">
            <a:avLst>
              <a:gd name="adj" fmla="val 4444"/>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1" name="Shape 16"/>
          <p:cNvSpPr/>
          <p:nvPr/>
        </p:nvSpPr>
        <p:spPr>
          <a:xfrm>
            <a:off x="2514600" y="2130552"/>
            <a:ext cx="457200" cy="457200"/>
          </a:xfrm>
          <a:prstGeom prst="oval">
            <a:avLst/>
          </a:prstGeom>
          <a:solidFill>
            <a:srgbClr val="14B8A6"/>
          </a:solidFill>
          <a:ln w="12700">
            <a:solidFill>
              <a:srgbClr val="14B8A6"/>
            </a:solidFill>
            <a:prstDash val="solid"/>
          </a:ln>
        </p:spPr>
      </p:sp>
      <p:pic>
        <p:nvPicPr>
          <p:cNvPr id="22" name="Image 3" descr="preencoded.png">    </p:cNvPr>
          <p:cNvPicPr>
            <a:picLocks noChangeAspect="1"/>
          </p:cNvPicPr>
          <p:nvPr/>
        </p:nvPicPr>
        <p:blipFill>
          <a:blip r:embed="rId4"/>
          <a:stretch>
            <a:fillRect/>
          </a:stretch>
        </p:blipFill>
        <p:spPr>
          <a:xfrm>
            <a:off x="2606040" y="2221992"/>
            <a:ext cx="274320" cy="274320"/>
          </a:xfrm>
          <a:prstGeom prst="rect">
            <a:avLst/>
          </a:prstGeom>
        </p:spPr>
      </p:pic>
      <p:sp>
        <p:nvSpPr>
          <p:cNvPr id="23" name="Text 17"/>
          <p:cNvSpPr/>
          <p:nvPr/>
        </p:nvSpPr>
        <p:spPr>
          <a:xfrm>
            <a:off x="3063240" y="2020824"/>
            <a:ext cx="1325880" cy="256032"/>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Automated Backups</a:t>
            </a:r>
            <a:endParaRPr lang="en-US" sz="1050" dirty="0"/>
          </a:p>
        </p:txBody>
      </p:sp>
      <p:sp>
        <p:nvSpPr>
          <p:cNvPr id="24" name="Text 18"/>
          <p:cNvSpPr/>
          <p:nvPr/>
        </p:nvSpPr>
        <p:spPr>
          <a:xfrm>
            <a:off x="3063240" y="2295144"/>
            <a:ext cx="1325880" cy="38404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Daily snapshots retained for configurable retention</a:t>
            </a:r>
            <a:endParaRPr lang="en-US" sz="900" dirty="0"/>
          </a:p>
        </p:txBody>
      </p:sp>
      <p:sp>
        <p:nvSpPr>
          <p:cNvPr id="25" name="Shape 19"/>
          <p:cNvSpPr/>
          <p:nvPr/>
        </p:nvSpPr>
        <p:spPr>
          <a:xfrm>
            <a:off x="4572000" y="987552"/>
            <a:ext cx="4251960" cy="3794760"/>
          </a:xfrm>
          <a:prstGeom prst="rect">
            <a:avLst>
              <a:gd name="adj" fmla="val 964"/>
            </a:avLst>
          </a:prstGeom>
          <a:solidFill>
            <a:srgbClr val="1A2C42"/>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6" name="Text 20"/>
          <p:cNvSpPr/>
          <p:nvPr/>
        </p:nvSpPr>
        <p:spPr>
          <a:xfrm>
            <a:off x="4663440" y="1051560"/>
            <a:ext cx="4069080" cy="320040"/>
          </a:xfrm>
          <a:prstGeom prst="rect">
            <a:avLst/>
          </a:prstGeom>
          <a:noFill/>
          <a:ln/>
        </p:spPr>
        <p:txBody>
          <a:bodyPr wrap="square" lIns="0" tIns="0" rIns="0" bIns="0" rtlCol="0" anchor="ctr"/>
          <a:lstStyle/>
          <a:p>
            <a:pPr algn="ctr" indent="0" marL="0">
              <a:buNone/>
            </a:pPr>
            <a:r>
              <a:rPr lang="en-US" sz="1400" b="1" dirty="0">
                <a:solidFill>
                  <a:srgbClr val="FF9900"/>
                </a:solidFill>
                <a:latin typeface="Cambria" pitchFamily="34" charset="0"/>
                <a:ea typeface="Cambria" pitchFamily="34" charset="-122"/>
                <a:cs typeface="Cambria" pitchFamily="34" charset="-120"/>
              </a:rPr>
              <a:t>Multi-AZ Deployment</a:t>
            </a:r>
            <a:endParaRPr lang="en-US" sz="1400" dirty="0"/>
          </a:p>
        </p:txBody>
      </p:sp>
      <p:sp>
        <p:nvSpPr>
          <p:cNvPr id="27" name="Shape 21"/>
          <p:cNvSpPr/>
          <p:nvPr/>
        </p:nvSpPr>
        <p:spPr>
          <a:xfrm>
            <a:off x="4709160" y="1481328"/>
            <a:ext cx="1737360" cy="2377440"/>
          </a:xfrm>
          <a:prstGeom prst="rect">
            <a:avLst>
              <a:gd name="adj" fmla="val 2105"/>
            </a:avLst>
          </a:prstGeom>
          <a:solidFill>
            <a:srgbClr val="1A3A2A"/>
          </a:solidFill>
          <a:ln w="12700">
            <a:solidFill>
              <a:srgbClr val="22C55E"/>
            </a:solidFill>
            <a:prstDash val="solid"/>
          </a:ln>
        </p:spPr>
      </p:sp>
      <p:sp>
        <p:nvSpPr>
          <p:cNvPr id="28" name="Text 22"/>
          <p:cNvSpPr/>
          <p:nvPr/>
        </p:nvSpPr>
        <p:spPr>
          <a:xfrm>
            <a:off x="4709160" y="1508760"/>
            <a:ext cx="1737360" cy="228600"/>
          </a:xfrm>
          <a:prstGeom prst="rect">
            <a:avLst/>
          </a:prstGeom>
          <a:noFill/>
          <a:ln/>
        </p:spPr>
        <p:txBody>
          <a:bodyPr wrap="square" lIns="0" tIns="0" rIns="0" bIns="0" rtlCol="0" anchor="ctr"/>
          <a:lstStyle/>
          <a:p>
            <a:pPr algn="ctr" indent="0" marL="0">
              <a:buNone/>
            </a:pPr>
            <a:r>
              <a:rPr lang="en-US" sz="900" dirty="0">
                <a:solidFill>
                  <a:srgbClr val="22C55E"/>
                </a:solidFill>
                <a:latin typeface="Calibri" pitchFamily="34" charset="0"/>
                <a:ea typeface="Calibri" pitchFamily="34" charset="-122"/>
                <a:cs typeface="Calibri" pitchFamily="34" charset="-120"/>
              </a:rPr>
              <a:t>us-east-1a</a:t>
            </a:r>
            <a:endParaRPr lang="en-US" sz="900" dirty="0"/>
          </a:p>
        </p:txBody>
      </p:sp>
      <p:sp>
        <p:nvSpPr>
          <p:cNvPr id="29" name="Shape 23"/>
          <p:cNvSpPr/>
          <p:nvPr/>
        </p:nvSpPr>
        <p:spPr>
          <a:xfrm>
            <a:off x="4828032" y="1810512"/>
            <a:ext cx="1508760" cy="1664208"/>
          </a:xfrm>
          <a:prstGeom prst="rect">
            <a:avLst>
              <a:gd name="adj" fmla="val 2424"/>
            </a:avLst>
          </a:prstGeom>
          <a:solidFill>
            <a:srgbClr val="A855F7"/>
          </a:solidFill>
          <a:ln w="12700">
            <a:solidFill>
              <a:srgbClr val="A855F7"/>
            </a:solidFill>
            <a:prstDash val="solid"/>
          </a:ln>
          <a:effectLst>
            <a:outerShdw sx="100000" sy="100000" kx="0" ky="0" algn="bl" rotWithShape="0" blurRad="101600" dist="25400" dir="2700000">
              <a:srgbClr val="000000">
                <a:alpha val="12000"/>
              </a:srgbClr>
            </a:outerShdw>
          </a:effectLst>
        </p:spPr>
      </p:sp>
      <p:pic>
        <p:nvPicPr>
          <p:cNvPr id="30" name="Image 4" descr="preencoded.png">    </p:cNvPr>
          <p:cNvPicPr>
            <a:picLocks noChangeAspect="1"/>
          </p:cNvPicPr>
          <p:nvPr/>
        </p:nvPicPr>
        <p:blipFill>
          <a:blip r:embed="rId5"/>
          <a:stretch>
            <a:fillRect/>
          </a:stretch>
        </p:blipFill>
        <p:spPr>
          <a:xfrm>
            <a:off x="5349240" y="1920240"/>
            <a:ext cx="457200" cy="457200"/>
          </a:xfrm>
          <a:prstGeom prst="rect">
            <a:avLst/>
          </a:prstGeom>
        </p:spPr>
      </p:pic>
      <p:sp>
        <p:nvSpPr>
          <p:cNvPr id="31" name="Text 24"/>
          <p:cNvSpPr/>
          <p:nvPr/>
        </p:nvSpPr>
        <p:spPr>
          <a:xfrm>
            <a:off x="4828032" y="2395728"/>
            <a:ext cx="15087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Primary RDS</a:t>
            </a:r>
            <a:endParaRPr lang="en-US" sz="1000" dirty="0"/>
          </a:p>
        </p:txBody>
      </p:sp>
      <p:sp>
        <p:nvSpPr>
          <p:cNvPr id="32" name="Text 25"/>
          <p:cNvSpPr/>
          <p:nvPr/>
        </p:nvSpPr>
        <p:spPr>
          <a:xfrm>
            <a:off x="4828032" y="2670048"/>
            <a:ext cx="1508760" cy="201168"/>
          </a:xfrm>
          <a:prstGeom prst="rect">
            <a:avLst/>
          </a:prstGeom>
          <a:noFill/>
          <a:ln/>
        </p:spPr>
        <p:txBody>
          <a:bodyPr wrap="square" lIns="0" tIns="0" rIns="0" bIns="0" rtlCol="0" anchor="ctr"/>
          <a:lstStyle/>
          <a:p>
            <a:pPr algn="ctr" indent="0" marL="0">
              <a:buNone/>
            </a:pPr>
            <a:r>
              <a:rPr lang="en-US" sz="850" dirty="0">
                <a:solidFill>
                  <a:srgbClr val="D4BAFF"/>
                </a:solidFill>
                <a:latin typeface="Calibri" pitchFamily="34" charset="0"/>
                <a:ea typeface="Calibri" pitchFamily="34" charset="-122"/>
                <a:cs typeface="Calibri" pitchFamily="34" charset="-120"/>
              </a:rPr>
              <a:t>PostgreSQL 14</a:t>
            </a:r>
            <a:endParaRPr lang="en-US" sz="850" dirty="0"/>
          </a:p>
        </p:txBody>
      </p:sp>
      <p:sp>
        <p:nvSpPr>
          <p:cNvPr id="33" name="Text 26"/>
          <p:cNvSpPr/>
          <p:nvPr/>
        </p:nvSpPr>
        <p:spPr>
          <a:xfrm>
            <a:off x="4828032" y="2889504"/>
            <a:ext cx="1508760" cy="182880"/>
          </a:xfrm>
          <a:prstGeom prst="rect">
            <a:avLst/>
          </a:prstGeom>
          <a:noFill/>
          <a:ln/>
        </p:spPr>
        <p:txBody>
          <a:bodyPr wrap="square" lIns="0" tIns="0" rIns="0" bIns="0" rtlCol="0" anchor="ctr"/>
          <a:lstStyle/>
          <a:p>
            <a:pPr algn="ctr" indent="0" marL="0">
              <a:buNone/>
            </a:pPr>
            <a:r>
              <a:rPr lang="en-US" sz="800" b="1" dirty="0">
                <a:solidFill>
                  <a:srgbClr val="FF9900"/>
                </a:solidFill>
                <a:latin typeface="Calibri" pitchFamily="34" charset="0"/>
                <a:ea typeface="Calibri" pitchFamily="34" charset="-122"/>
                <a:cs typeface="Calibri" pitchFamily="34" charset="-120"/>
              </a:rPr>
              <a:t>READ + WRITE</a:t>
            </a:r>
            <a:endParaRPr lang="en-US" sz="800" dirty="0"/>
          </a:p>
        </p:txBody>
      </p:sp>
      <p:sp>
        <p:nvSpPr>
          <p:cNvPr id="34" name="Text 27"/>
          <p:cNvSpPr/>
          <p:nvPr/>
        </p:nvSpPr>
        <p:spPr>
          <a:xfrm>
            <a:off x="4828032" y="3090672"/>
            <a:ext cx="1508760" cy="201168"/>
          </a:xfrm>
          <a:prstGeom prst="rect">
            <a:avLst/>
          </a:prstGeom>
          <a:noFill/>
          <a:ln/>
        </p:spPr>
        <p:txBody>
          <a:bodyPr wrap="square" lIns="0" tIns="0" rIns="0" bIns="0" rtlCol="0" anchor="ctr"/>
          <a:lstStyle/>
          <a:p>
            <a:pPr algn="ctr" indent="0" marL="0">
              <a:buNone/>
            </a:pPr>
            <a:r>
              <a:rPr lang="en-US" sz="800" b="1" dirty="0">
                <a:solidFill>
                  <a:srgbClr val="EAB308"/>
                </a:solidFill>
                <a:latin typeface="Calibri" pitchFamily="34" charset="0"/>
                <a:ea typeface="Calibri" pitchFamily="34" charset="-122"/>
                <a:cs typeface="Calibri" pitchFamily="34" charset="-120"/>
              </a:rPr>
              <a:t>✦ PRIMARY</a:t>
            </a:r>
            <a:endParaRPr lang="en-US" sz="800" dirty="0"/>
          </a:p>
        </p:txBody>
      </p:sp>
      <p:sp>
        <p:nvSpPr>
          <p:cNvPr id="35" name="Shape 28"/>
          <p:cNvSpPr/>
          <p:nvPr/>
        </p:nvSpPr>
        <p:spPr>
          <a:xfrm>
            <a:off x="6858000" y="1481328"/>
            <a:ext cx="1737360" cy="2377440"/>
          </a:xfrm>
          <a:prstGeom prst="rect">
            <a:avLst>
              <a:gd name="adj" fmla="val 2105"/>
            </a:avLst>
          </a:prstGeom>
          <a:solidFill>
            <a:srgbClr val="1A2A3A"/>
          </a:solidFill>
          <a:ln w="12700">
            <a:solidFill>
              <a:srgbClr val="3B82F6"/>
            </a:solidFill>
            <a:prstDash val="solid"/>
          </a:ln>
        </p:spPr>
      </p:sp>
      <p:sp>
        <p:nvSpPr>
          <p:cNvPr id="36" name="Text 29"/>
          <p:cNvSpPr/>
          <p:nvPr/>
        </p:nvSpPr>
        <p:spPr>
          <a:xfrm>
            <a:off x="6858000" y="1508760"/>
            <a:ext cx="1737360" cy="228600"/>
          </a:xfrm>
          <a:prstGeom prst="rect">
            <a:avLst/>
          </a:prstGeom>
          <a:noFill/>
          <a:ln/>
        </p:spPr>
        <p:txBody>
          <a:bodyPr wrap="square" lIns="0" tIns="0" rIns="0" bIns="0" rtlCol="0" anchor="ctr"/>
          <a:lstStyle/>
          <a:p>
            <a:pPr algn="ctr" indent="0" marL="0">
              <a:buNone/>
            </a:pPr>
            <a:r>
              <a:rPr lang="en-US" sz="900" dirty="0">
                <a:solidFill>
                  <a:srgbClr val="3B82F6"/>
                </a:solidFill>
                <a:latin typeface="Calibri" pitchFamily="34" charset="0"/>
                <a:ea typeface="Calibri" pitchFamily="34" charset="-122"/>
                <a:cs typeface="Calibri" pitchFamily="34" charset="-120"/>
              </a:rPr>
              <a:t>us-east-1b</a:t>
            </a:r>
            <a:endParaRPr lang="en-US" sz="900" dirty="0"/>
          </a:p>
        </p:txBody>
      </p:sp>
      <p:sp>
        <p:nvSpPr>
          <p:cNvPr id="37" name="Shape 30"/>
          <p:cNvSpPr/>
          <p:nvPr/>
        </p:nvSpPr>
        <p:spPr>
          <a:xfrm>
            <a:off x="6976872" y="1810512"/>
            <a:ext cx="1508760" cy="1664208"/>
          </a:xfrm>
          <a:prstGeom prst="rect">
            <a:avLst>
              <a:gd name="adj" fmla="val 2424"/>
            </a:avLst>
          </a:prstGeom>
          <a:solidFill>
            <a:srgbClr val="4A5568"/>
          </a:solidFill>
          <a:ln w="12700">
            <a:solidFill>
              <a:srgbClr val="3B82F6"/>
            </a:solidFill>
            <a:prstDash val="solid"/>
          </a:ln>
          <a:effectLst>
            <a:outerShdw sx="100000" sy="100000" kx="0" ky="0" algn="bl" rotWithShape="0" blurRad="101600" dist="25400" dir="2700000">
              <a:srgbClr val="000000">
                <a:alpha val="12000"/>
              </a:srgbClr>
            </a:outerShdw>
          </a:effectLst>
        </p:spPr>
      </p:sp>
      <p:pic>
        <p:nvPicPr>
          <p:cNvPr id="38" name="Image 5" descr="preencoded.png">    </p:cNvPr>
          <p:cNvPicPr>
            <a:picLocks noChangeAspect="1"/>
          </p:cNvPicPr>
          <p:nvPr/>
        </p:nvPicPr>
        <p:blipFill>
          <a:blip r:embed="rId6"/>
          <a:stretch>
            <a:fillRect/>
          </a:stretch>
        </p:blipFill>
        <p:spPr>
          <a:xfrm>
            <a:off x="7498080" y="1920240"/>
            <a:ext cx="457200" cy="457200"/>
          </a:xfrm>
          <a:prstGeom prst="rect">
            <a:avLst/>
          </a:prstGeom>
        </p:spPr>
      </p:pic>
      <p:sp>
        <p:nvSpPr>
          <p:cNvPr id="39" name="Text 31"/>
          <p:cNvSpPr/>
          <p:nvPr/>
        </p:nvSpPr>
        <p:spPr>
          <a:xfrm>
            <a:off x="6976872" y="2395728"/>
            <a:ext cx="150876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Standby RDS</a:t>
            </a:r>
            <a:endParaRPr lang="en-US" sz="1000" dirty="0"/>
          </a:p>
        </p:txBody>
      </p:sp>
      <p:sp>
        <p:nvSpPr>
          <p:cNvPr id="40" name="Text 32"/>
          <p:cNvSpPr/>
          <p:nvPr/>
        </p:nvSpPr>
        <p:spPr>
          <a:xfrm>
            <a:off x="6976872" y="2670048"/>
            <a:ext cx="1508760" cy="201168"/>
          </a:xfrm>
          <a:prstGeom prst="rect">
            <a:avLst/>
          </a:prstGeom>
          <a:noFill/>
          <a:ln/>
        </p:spPr>
        <p:txBody>
          <a:bodyPr wrap="square" lIns="0" tIns="0" rIns="0" bIns="0" rtlCol="0" anchor="ctr"/>
          <a:lstStyle/>
          <a:p>
            <a:pPr algn="ctr" indent="0" marL="0">
              <a:buNone/>
            </a:pPr>
            <a:r>
              <a:rPr lang="en-US" sz="850" dirty="0">
                <a:solidFill>
                  <a:srgbClr val="A0BDD0"/>
                </a:solidFill>
                <a:latin typeface="Calibri" pitchFamily="34" charset="0"/>
                <a:ea typeface="Calibri" pitchFamily="34" charset="-122"/>
                <a:cs typeface="Calibri" pitchFamily="34" charset="-120"/>
              </a:rPr>
              <a:t>Auto-Replicated</a:t>
            </a:r>
            <a:endParaRPr lang="en-US" sz="850" dirty="0"/>
          </a:p>
        </p:txBody>
      </p:sp>
      <p:sp>
        <p:nvSpPr>
          <p:cNvPr id="41" name="Text 33"/>
          <p:cNvSpPr/>
          <p:nvPr/>
        </p:nvSpPr>
        <p:spPr>
          <a:xfrm>
            <a:off x="6976872" y="2889504"/>
            <a:ext cx="1508760" cy="182880"/>
          </a:xfrm>
          <a:prstGeom prst="rect">
            <a:avLst/>
          </a:prstGeom>
          <a:noFill/>
          <a:ln/>
        </p:spPr>
        <p:txBody>
          <a:bodyPr wrap="square" lIns="0" tIns="0" rIns="0" bIns="0" rtlCol="0" anchor="ctr"/>
          <a:lstStyle/>
          <a:p>
            <a:pPr algn="ctr" indent="0" marL="0">
              <a:buNone/>
            </a:pPr>
            <a:r>
              <a:rPr lang="en-US" sz="800" b="1" dirty="0">
                <a:solidFill>
                  <a:srgbClr val="64748B"/>
                </a:solidFill>
                <a:latin typeface="Calibri" pitchFamily="34" charset="0"/>
                <a:ea typeface="Calibri" pitchFamily="34" charset="-122"/>
                <a:cs typeface="Calibri" pitchFamily="34" charset="-120"/>
              </a:rPr>
              <a:t>READ ONLY</a:t>
            </a:r>
            <a:endParaRPr lang="en-US" sz="800" dirty="0"/>
          </a:p>
        </p:txBody>
      </p:sp>
      <p:sp>
        <p:nvSpPr>
          <p:cNvPr id="42" name="Text 34"/>
          <p:cNvSpPr/>
          <p:nvPr/>
        </p:nvSpPr>
        <p:spPr>
          <a:xfrm>
            <a:off x="6976872" y="3090672"/>
            <a:ext cx="1508760" cy="201168"/>
          </a:xfrm>
          <a:prstGeom prst="rect">
            <a:avLst/>
          </a:prstGeom>
          <a:noFill/>
          <a:ln/>
        </p:spPr>
        <p:txBody>
          <a:bodyPr wrap="square" lIns="0" tIns="0" rIns="0" bIns="0" rtlCol="0" anchor="ctr"/>
          <a:lstStyle/>
          <a:p>
            <a:pPr algn="ctr" indent="0" marL="0">
              <a:buNone/>
            </a:pPr>
            <a:r>
              <a:rPr lang="en-US" sz="800" b="1" dirty="0">
                <a:solidFill>
                  <a:srgbClr val="A0BDD0"/>
                </a:solidFill>
                <a:latin typeface="Calibri" pitchFamily="34" charset="0"/>
                <a:ea typeface="Calibri" pitchFamily="34" charset="-122"/>
                <a:cs typeface="Calibri" pitchFamily="34" charset="-120"/>
              </a:rPr>
              <a:t>◌ STANDBY</a:t>
            </a:r>
            <a:endParaRPr lang="en-US" sz="800" dirty="0"/>
          </a:p>
        </p:txBody>
      </p:sp>
      <p:sp>
        <p:nvSpPr>
          <p:cNvPr id="43" name="Shape 35"/>
          <p:cNvSpPr/>
          <p:nvPr/>
        </p:nvSpPr>
        <p:spPr>
          <a:xfrm>
            <a:off x="6336792" y="2633472"/>
            <a:ext cx="640080" cy="0"/>
          </a:xfrm>
          <a:prstGeom prst="line">
            <a:avLst/>
          </a:prstGeom>
          <a:noFill/>
          <a:ln w="31750">
            <a:solidFill>
              <a:srgbClr val="FF9900"/>
            </a:solidFill>
            <a:prstDash val="solid"/>
            <a:tailEnd type="arrow"/>
          </a:ln>
        </p:spPr>
      </p:sp>
      <p:sp>
        <p:nvSpPr>
          <p:cNvPr id="44" name="Text 36"/>
          <p:cNvSpPr/>
          <p:nvPr/>
        </p:nvSpPr>
        <p:spPr>
          <a:xfrm>
            <a:off x="6263640" y="2743200"/>
            <a:ext cx="822960" cy="320040"/>
          </a:xfrm>
          <a:prstGeom prst="rect">
            <a:avLst/>
          </a:prstGeom>
          <a:noFill/>
          <a:ln/>
        </p:spPr>
        <p:txBody>
          <a:bodyPr wrap="square" lIns="0" tIns="0" rIns="0" bIns="0" rtlCol="0" anchor="ctr"/>
          <a:lstStyle/>
          <a:p>
            <a:pPr algn="ctr" indent="0" marL="0">
              <a:buNone/>
            </a:pPr>
            <a:r>
              <a:rPr lang="en-US" sz="800" dirty="0">
                <a:solidFill>
                  <a:srgbClr val="FF9900"/>
                </a:solidFill>
                <a:latin typeface="Calibri" pitchFamily="34" charset="0"/>
                <a:ea typeface="Calibri" pitchFamily="34" charset="-122"/>
                <a:cs typeface="Calibri" pitchFamily="34" charset="-120"/>
              </a:rPr>
              <a:t>Sync</a:t>
            </a:r>
            <a:endParaRPr lang="en-US" sz="800" dirty="0"/>
          </a:p>
          <a:p>
            <a:pPr algn="ctr" indent="0" marL="0">
              <a:buNone/>
            </a:pPr>
            <a:r>
              <a:rPr lang="en-US" sz="800" dirty="0">
                <a:solidFill>
                  <a:srgbClr val="FF9900"/>
                </a:solidFill>
                <a:latin typeface="Calibri" pitchFamily="34" charset="0"/>
                <a:ea typeface="Calibri" pitchFamily="34" charset="-122"/>
                <a:cs typeface="Calibri" pitchFamily="34" charset="-120"/>
              </a:rPr>
              <a:t>Replication</a:t>
            </a:r>
            <a:endParaRPr lang="en-US" sz="800" dirty="0"/>
          </a:p>
        </p:txBody>
      </p:sp>
      <p:sp>
        <p:nvSpPr>
          <p:cNvPr id="45" name="Shape 37"/>
          <p:cNvSpPr/>
          <p:nvPr/>
        </p:nvSpPr>
        <p:spPr>
          <a:xfrm>
            <a:off x="4709160" y="4023360"/>
            <a:ext cx="3931920" cy="0"/>
          </a:xfrm>
          <a:prstGeom prst="line">
            <a:avLst/>
          </a:prstGeom>
          <a:noFill/>
          <a:ln w="12700">
            <a:solidFill>
              <a:srgbClr val="EAB308"/>
            </a:solidFill>
            <a:prstDash val="dash"/>
          </a:ln>
        </p:spPr>
      </p:sp>
      <p:sp>
        <p:nvSpPr>
          <p:cNvPr id="46" name="Text 38"/>
          <p:cNvSpPr/>
          <p:nvPr/>
        </p:nvSpPr>
        <p:spPr>
          <a:xfrm>
            <a:off x="4663440" y="4078224"/>
            <a:ext cx="4206240" cy="228600"/>
          </a:xfrm>
          <a:prstGeom prst="rect">
            <a:avLst/>
          </a:prstGeom>
          <a:noFill/>
          <a:ln/>
        </p:spPr>
        <p:txBody>
          <a:bodyPr wrap="square" lIns="0" tIns="0" rIns="0" bIns="0" rtlCol="0" anchor="ctr"/>
          <a:lstStyle/>
          <a:p>
            <a:pPr algn="ctr" indent="0" marL="0">
              <a:buNone/>
            </a:pPr>
            <a:r>
              <a:rPr lang="en-US" sz="850" dirty="0">
                <a:solidFill>
                  <a:srgbClr val="EAB308"/>
                </a:solidFill>
                <a:latin typeface="Calibri" pitchFamily="34" charset="0"/>
                <a:ea typeface="Calibri" pitchFamily="34" charset="-122"/>
                <a:cs typeface="Calibri" pitchFamily="34" charset="-120"/>
              </a:rPr>
              <a:t>⚡ Automatic failover — standby promoted in &lt; 2 minutes if primary fails</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Auto Scaling Architecture</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Frontend + Backend Auto Scaling Groups with Launch Templates</a:t>
            </a:r>
            <a:endParaRPr lang="en-US" sz="1100" dirty="0"/>
          </a:p>
        </p:txBody>
      </p:sp>
      <p:sp>
        <p:nvSpPr>
          <p:cNvPr id="5" name="Shape 3"/>
          <p:cNvSpPr/>
          <p:nvPr/>
        </p:nvSpPr>
        <p:spPr>
          <a:xfrm>
            <a:off x="320040" y="987552"/>
            <a:ext cx="4023360" cy="1874520"/>
          </a:xfrm>
          <a:prstGeom prst="rect">
            <a:avLst>
              <a:gd name="adj" fmla="val 1951"/>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6" name="Text 4"/>
          <p:cNvSpPr/>
          <p:nvPr/>
        </p:nvSpPr>
        <p:spPr>
          <a:xfrm>
            <a:off x="457200" y="1033272"/>
            <a:ext cx="3749040" cy="292608"/>
          </a:xfrm>
          <a:prstGeom prst="rect">
            <a:avLst/>
          </a:prstGeom>
          <a:noFill/>
          <a:ln/>
        </p:spPr>
        <p:txBody>
          <a:bodyPr wrap="square" lIns="0" tIns="0" rIns="0" bIns="0" rtlCol="0" anchor="ctr"/>
          <a:lstStyle/>
          <a:p>
            <a:pPr indent="0" marL="0">
              <a:buNone/>
            </a:pPr>
            <a:r>
              <a:rPr lang="en-US" sz="1400" b="1" dirty="0">
                <a:solidFill>
                  <a:srgbClr val="F97316"/>
                </a:solidFill>
                <a:latin typeface="Cambria" pitchFamily="34" charset="0"/>
                <a:ea typeface="Cambria" pitchFamily="34" charset="-122"/>
                <a:cs typeface="Cambria" pitchFamily="34" charset="-120"/>
              </a:rPr>
              <a:t>Launch Template</a:t>
            </a:r>
            <a:endParaRPr lang="en-US" sz="1400" dirty="0"/>
          </a:p>
        </p:txBody>
      </p:sp>
      <p:sp>
        <p:nvSpPr>
          <p:cNvPr id="7" name="Shape 5"/>
          <p:cNvSpPr/>
          <p:nvPr/>
        </p:nvSpPr>
        <p:spPr>
          <a:xfrm>
            <a:off x="475488" y="1417320"/>
            <a:ext cx="73152" cy="73152"/>
          </a:xfrm>
          <a:prstGeom prst="oval">
            <a:avLst/>
          </a:prstGeom>
          <a:solidFill>
            <a:srgbClr val="F97316"/>
          </a:solidFill>
          <a:ln w="12700">
            <a:solidFill>
              <a:srgbClr val="F97316"/>
            </a:solidFill>
            <a:prstDash val="solid"/>
          </a:ln>
        </p:spPr>
      </p:sp>
      <p:sp>
        <p:nvSpPr>
          <p:cNvPr id="8" name="Text 6"/>
          <p:cNvSpPr/>
          <p:nvPr/>
        </p:nvSpPr>
        <p:spPr>
          <a:xfrm>
            <a:off x="621792" y="1371600"/>
            <a:ext cx="3611880" cy="2286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Amazon Machine Image (AMI)</a:t>
            </a:r>
            <a:endParaRPr lang="en-US" sz="1050" dirty="0"/>
          </a:p>
        </p:txBody>
      </p:sp>
      <p:sp>
        <p:nvSpPr>
          <p:cNvPr id="9" name="Shape 7"/>
          <p:cNvSpPr/>
          <p:nvPr/>
        </p:nvSpPr>
        <p:spPr>
          <a:xfrm>
            <a:off x="475488" y="1691640"/>
            <a:ext cx="73152" cy="73152"/>
          </a:xfrm>
          <a:prstGeom prst="oval">
            <a:avLst/>
          </a:prstGeom>
          <a:solidFill>
            <a:srgbClr val="F97316"/>
          </a:solidFill>
          <a:ln w="12700">
            <a:solidFill>
              <a:srgbClr val="F97316"/>
            </a:solidFill>
            <a:prstDash val="solid"/>
          </a:ln>
        </p:spPr>
      </p:sp>
      <p:sp>
        <p:nvSpPr>
          <p:cNvPr id="10" name="Text 8"/>
          <p:cNvSpPr/>
          <p:nvPr/>
        </p:nvSpPr>
        <p:spPr>
          <a:xfrm>
            <a:off x="621792" y="1645920"/>
            <a:ext cx="3611880" cy="2286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Instance Type (t3.micro / t3.small)</a:t>
            </a:r>
            <a:endParaRPr lang="en-US" sz="1050" dirty="0"/>
          </a:p>
        </p:txBody>
      </p:sp>
      <p:sp>
        <p:nvSpPr>
          <p:cNvPr id="11" name="Shape 9"/>
          <p:cNvSpPr/>
          <p:nvPr/>
        </p:nvSpPr>
        <p:spPr>
          <a:xfrm>
            <a:off x="475488" y="1965960"/>
            <a:ext cx="73152" cy="73152"/>
          </a:xfrm>
          <a:prstGeom prst="oval">
            <a:avLst/>
          </a:prstGeom>
          <a:solidFill>
            <a:srgbClr val="F97316"/>
          </a:solidFill>
          <a:ln w="12700">
            <a:solidFill>
              <a:srgbClr val="F97316"/>
            </a:solidFill>
            <a:prstDash val="solid"/>
          </a:ln>
        </p:spPr>
      </p:sp>
      <p:sp>
        <p:nvSpPr>
          <p:cNvPr id="12" name="Text 10"/>
          <p:cNvSpPr/>
          <p:nvPr/>
        </p:nvSpPr>
        <p:spPr>
          <a:xfrm>
            <a:off x="621792" y="1920240"/>
            <a:ext cx="3611880" cy="2286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Security Group assignments</a:t>
            </a:r>
            <a:endParaRPr lang="en-US" sz="1050" dirty="0"/>
          </a:p>
        </p:txBody>
      </p:sp>
      <p:sp>
        <p:nvSpPr>
          <p:cNvPr id="13" name="Shape 11"/>
          <p:cNvSpPr/>
          <p:nvPr/>
        </p:nvSpPr>
        <p:spPr>
          <a:xfrm>
            <a:off x="475488" y="2240280"/>
            <a:ext cx="73152" cy="73152"/>
          </a:xfrm>
          <a:prstGeom prst="oval">
            <a:avLst/>
          </a:prstGeom>
          <a:solidFill>
            <a:srgbClr val="F97316"/>
          </a:solidFill>
          <a:ln w="12700">
            <a:solidFill>
              <a:srgbClr val="F97316"/>
            </a:solidFill>
            <a:prstDash val="solid"/>
          </a:ln>
        </p:spPr>
      </p:sp>
      <p:sp>
        <p:nvSpPr>
          <p:cNvPr id="14" name="Text 12"/>
          <p:cNvSpPr/>
          <p:nvPr/>
        </p:nvSpPr>
        <p:spPr>
          <a:xfrm>
            <a:off x="621792" y="2194560"/>
            <a:ext cx="3611880" cy="2286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IAM Instance Profile</a:t>
            </a:r>
            <a:endParaRPr lang="en-US" sz="1050" dirty="0"/>
          </a:p>
        </p:txBody>
      </p:sp>
      <p:sp>
        <p:nvSpPr>
          <p:cNvPr id="15" name="Shape 13"/>
          <p:cNvSpPr/>
          <p:nvPr/>
        </p:nvSpPr>
        <p:spPr>
          <a:xfrm>
            <a:off x="475488" y="2514600"/>
            <a:ext cx="73152" cy="73152"/>
          </a:xfrm>
          <a:prstGeom prst="oval">
            <a:avLst/>
          </a:prstGeom>
          <a:solidFill>
            <a:srgbClr val="F97316"/>
          </a:solidFill>
          <a:ln w="12700">
            <a:solidFill>
              <a:srgbClr val="F97316"/>
            </a:solidFill>
            <a:prstDash val="solid"/>
          </a:ln>
        </p:spPr>
      </p:sp>
      <p:sp>
        <p:nvSpPr>
          <p:cNvPr id="16" name="Text 14"/>
          <p:cNvSpPr/>
          <p:nvPr/>
        </p:nvSpPr>
        <p:spPr>
          <a:xfrm>
            <a:off x="621792" y="2468880"/>
            <a:ext cx="3611880" cy="228600"/>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User Data — bootstrap script</a:t>
            </a:r>
            <a:endParaRPr lang="en-US" sz="1050" dirty="0"/>
          </a:p>
        </p:txBody>
      </p:sp>
      <p:sp>
        <p:nvSpPr>
          <p:cNvPr id="17" name="Shape 15"/>
          <p:cNvSpPr/>
          <p:nvPr/>
        </p:nvSpPr>
        <p:spPr>
          <a:xfrm>
            <a:off x="320040" y="2999232"/>
            <a:ext cx="4023360" cy="1783080"/>
          </a:xfrm>
          <a:prstGeom prst="rect">
            <a:avLst>
              <a:gd name="adj" fmla="val 2051"/>
            </a:avLst>
          </a:prstGeom>
          <a:solidFill>
            <a:srgbClr val="FFF7ED"/>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8" name="Text 16"/>
          <p:cNvSpPr/>
          <p:nvPr/>
        </p:nvSpPr>
        <p:spPr>
          <a:xfrm>
            <a:off x="457200" y="3044952"/>
            <a:ext cx="3749040" cy="292608"/>
          </a:xfrm>
          <a:prstGeom prst="rect">
            <a:avLst/>
          </a:prstGeom>
          <a:noFill/>
          <a:ln/>
        </p:spPr>
        <p:txBody>
          <a:bodyPr wrap="square" lIns="0" tIns="0" rIns="0" bIns="0" rtlCol="0" anchor="ctr"/>
          <a:lstStyle/>
          <a:p>
            <a:pPr indent="0" marL="0">
              <a:buNone/>
            </a:pPr>
            <a:r>
              <a:rPr lang="en-US" sz="1300" b="1" dirty="0">
                <a:solidFill>
                  <a:srgbClr val="F97316"/>
                </a:solidFill>
                <a:latin typeface="Cambria" pitchFamily="34" charset="0"/>
                <a:ea typeface="Cambria" pitchFamily="34" charset="-122"/>
                <a:cs typeface="Cambria" pitchFamily="34" charset="-120"/>
              </a:rPr>
              <a:t>Benefits</a:t>
            </a:r>
            <a:endParaRPr lang="en-US" sz="1300" dirty="0"/>
          </a:p>
        </p:txBody>
      </p:sp>
      <p:sp>
        <p:nvSpPr>
          <p:cNvPr id="19" name="Shape 17"/>
          <p:cNvSpPr/>
          <p:nvPr/>
        </p:nvSpPr>
        <p:spPr>
          <a:xfrm>
            <a:off x="438912" y="3273552"/>
            <a:ext cx="365760" cy="365760"/>
          </a:xfrm>
          <a:prstGeom prst="oval">
            <a:avLst/>
          </a:prstGeom>
          <a:solidFill>
            <a:srgbClr val="EF4444"/>
          </a:solidFill>
          <a:ln w="12700">
            <a:solidFill>
              <a:srgbClr val="EF4444"/>
            </a:solidFill>
            <a:prstDash val="solid"/>
          </a:ln>
        </p:spPr>
      </p:sp>
      <p:pic>
        <p:nvPicPr>
          <p:cNvPr id="20" name="Image 0" descr="preencoded.png">    </p:cNvPr>
          <p:cNvPicPr>
            <a:picLocks noChangeAspect="1"/>
          </p:cNvPicPr>
          <p:nvPr/>
        </p:nvPicPr>
        <p:blipFill>
          <a:blip r:embed="rId1"/>
          <a:stretch>
            <a:fillRect/>
          </a:stretch>
        </p:blipFill>
        <p:spPr>
          <a:xfrm>
            <a:off x="512064" y="3346704"/>
            <a:ext cx="219456" cy="219456"/>
          </a:xfrm>
          <a:prstGeom prst="rect">
            <a:avLst/>
          </a:prstGeom>
        </p:spPr>
      </p:pic>
      <p:sp>
        <p:nvSpPr>
          <p:cNvPr id="21" name="Text 18"/>
          <p:cNvSpPr/>
          <p:nvPr/>
        </p:nvSpPr>
        <p:spPr>
          <a:xfrm>
            <a:off x="877824" y="3337560"/>
            <a:ext cx="3337560" cy="32004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Fault Tolerance — failed instances replaced automatically</a:t>
            </a:r>
            <a:endParaRPr lang="en-US" sz="1000" dirty="0"/>
          </a:p>
        </p:txBody>
      </p:sp>
      <p:sp>
        <p:nvSpPr>
          <p:cNvPr id="22" name="Shape 19"/>
          <p:cNvSpPr/>
          <p:nvPr/>
        </p:nvSpPr>
        <p:spPr>
          <a:xfrm>
            <a:off x="438912" y="3657600"/>
            <a:ext cx="365760" cy="365760"/>
          </a:xfrm>
          <a:prstGeom prst="oval">
            <a:avLst/>
          </a:prstGeom>
          <a:solidFill>
            <a:srgbClr val="EC4899"/>
          </a:solidFill>
          <a:ln w="12700">
            <a:solidFill>
              <a:srgbClr val="EC4899"/>
            </a:solidFill>
            <a:prstDash val="solid"/>
          </a:ln>
        </p:spPr>
      </p:sp>
      <p:pic>
        <p:nvPicPr>
          <p:cNvPr id="23" name="Image 1" descr="preencoded.png">    </p:cNvPr>
          <p:cNvPicPr>
            <a:picLocks noChangeAspect="1"/>
          </p:cNvPicPr>
          <p:nvPr/>
        </p:nvPicPr>
        <p:blipFill>
          <a:blip r:embed="rId2"/>
          <a:stretch>
            <a:fillRect/>
          </a:stretch>
        </p:blipFill>
        <p:spPr>
          <a:xfrm>
            <a:off x="512064" y="3730752"/>
            <a:ext cx="219456" cy="219456"/>
          </a:xfrm>
          <a:prstGeom prst="rect">
            <a:avLst/>
          </a:prstGeom>
        </p:spPr>
      </p:pic>
      <p:sp>
        <p:nvSpPr>
          <p:cNvPr id="24" name="Text 20"/>
          <p:cNvSpPr/>
          <p:nvPr/>
        </p:nvSpPr>
        <p:spPr>
          <a:xfrm>
            <a:off x="877824" y="3721608"/>
            <a:ext cx="3337560" cy="32004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Scalability — scales out under load, in during quiet periods</a:t>
            </a:r>
            <a:endParaRPr lang="en-US" sz="1000" dirty="0"/>
          </a:p>
        </p:txBody>
      </p:sp>
      <p:sp>
        <p:nvSpPr>
          <p:cNvPr id="25" name="Shape 21"/>
          <p:cNvSpPr/>
          <p:nvPr/>
        </p:nvSpPr>
        <p:spPr>
          <a:xfrm>
            <a:off x="438912" y="4041648"/>
            <a:ext cx="365760" cy="365760"/>
          </a:xfrm>
          <a:prstGeom prst="oval">
            <a:avLst/>
          </a:prstGeom>
          <a:solidFill>
            <a:srgbClr val="F97316"/>
          </a:solidFill>
          <a:ln w="12700">
            <a:solidFill>
              <a:srgbClr val="F97316"/>
            </a:solidFill>
            <a:prstDash val="solid"/>
          </a:ln>
        </p:spPr>
      </p:sp>
      <p:pic>
        <p:nvPicPr>
          <p:cNvPr id="26" name="Image 2" descr="preencoded.png">    </p:cNvPr>
          <p:cNvPicPr>
            <a:picLocks noChangeAspect="1"/>
          </p:cNvPicPr>
          <p:nvPr/>
        </p:nvPicPr>
        <p:blipFill>
          <a:blip r:embed="rId3"/>
          <a:stretch>
            <a:fillRect/>
          </a:stretch>
        </p:blipFill>
        <p:spPr>
          <a:xfrm>
            <a:off x="512064" y="4114800"/>
            <a:ext cx="219456" cy="219456"/>
          </a:xfrm>
          <a:prstGeom prst="rect">
            <a:avLst/>
          </a:prstGeom>
        </p:spPr>
      </p:pic>
      <p:sp>
        <p:nvSpPr>
          <p:cNvPr id="27" name="Text 22"/>
          <p:cNvSpPr/>
          <p:nvPr/>
        </p:nvSpPr>
        <p:spPr>
          <a:xfrm>
            <a:off x="877824" y="4105656"/>
            <a:ext cx="3337560" cy="32004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High Availability — instances spread across 2 AZs</a:t>
            </a:r>
            <a:endParaRPr lang="en-US" sz="1000" dirty="0"/>
          </a:p>
        </p:txBody>
      </p:sp>
      <p:sp>
        <p:nvSpPr>
          <p:cNvPr id="28" name="Shape 23"/>
          <p:cNvSpPr/>
          <p:nvPr/>
        </p:nvSpPr>
        <p:spPr>
          <a:xfrm>
            <a:off x="4663440" y="987552"/>
            <a:ext cx="4160520" cy="3794760"/>
          </a:xfrm>
          <a:prstGeom prst="rect">
            <a:avLst>
              <a:gd name="adj" fmla="val 964"/>
            </a:avLst>
          </a:prstGeom>
          <a:solidFill>
            <a:srgbClr val="1A2C42"/>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9" name="Text 24"/>
          <p:cNvSpPr/>
          <p:nvPr/>
        </p:nvSpPr>
        <p:spPr>
          <a:xfrm>
            <a:off x="4754880" y="1051560"/>
            <a:ext cx="3977640" cy="320040"/>
          </a:xfrm>
          <a:prstGeom prst="rect">
            <a:avLst/>
          </a:prstGeom>
          <a:noFill/>
          <a:ln/>
        </p:spPr>
        <p:txBody>
          <a:bodyPr wrap="square" lIns="0" tIns="0" rIns="0" bIns="0" rtlCol="0" anchor="ctr"/>
          <a:lstStyle/>
          <a:p>
            <a:pPr algn="ctr" indent="0" marL="0">
              <a:buNone/>
            </a:pPr>
            <a:r>
              <a:rPr lang="en-US" sz="1400" b="1" dirty="0">
                <a:solidFill>
                  <a:srgbClr val="FF9900"/>
                </a:solidFill>
                <a:latin typeface="Cambria" pitchFamily="34" charset="0"/>
                <a:ea typeface="Cambria" pitchFamily="34" charset="-122"/>
                <a:cs typeface="Cambria" pitchFamily="34" charset="-120"/>
              </a:rPr>
              <a:t>Auto Scaling Groups</a:t>
            </a:r>
            <a:endParaRPr lang="en-US" sz="1400" dirty="0"/>
          </a:p>
        </p:txBody>
      </p:sp>
      <p:sp>
        <p:nvSpPr>
          <p:cNvPr id="30" name="Shape 25"/>
          <p:cNvSpPr/>
          <p:nvPr/>
        </p:nvSpPr>
        <p:spPr>
          <a:xfrm>
            <a:off x="4800600" y="1508760"/>
            <a:ext cx="3886200" cy="1481328"/>
          </a:xfrm>
          <a:prstGeom prst="rect">
            <a:avLst>
              <a:gd name="adj" fmla="val 2469"/>
            </a:avLst>
          </a:prstGeom>
          <a:solidFill>
            <a:srgbClr val="112244"/>
          </a:solidFill>
          <a:ln w="12700">
            <a:solidFill>
              <a:srgbClr val="3B82F6"/>
            </a:solidFill>
            <a:prstDash val="solid"/>
          </a:ln>
        </p:spPr>
      </p:sp>
      <p:sp>
        <p:nvSpPr>
          <p:cNvPr id="31" name="Text 26"/>
          <p:cNvSpPr/>
          <p:nvPr/>
        </p:nvSpPr>
        <p:spPr>
          <a:xfrm>
            <a:off x="4892040" y="1554480"/>
            <a:ext cx="3703320" cy="256032"/>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Frontend ASG — React + Vite</a:t>
            </a:r>
            <a:endParaRPr lang="en-US" sz="1000" dirty="0"/>
          </a:p>
        </p:txBody>
      </p:sp>
      <p:sp>
        <p:nvSpPr>
          <p:cNvPr id="32" name="Text 27"/>
          <p:cNvSpPr/>
          <p:nvPr/>
        </p:nvSpPr>
        <p:spPr>
          <a:xfrm>
            <a:off x="4892040" y="1792224"/>
            <a:ext cx="3703320" cy="201168"/>
          </a:xfrm>
          <a:prstGeom prst="rect">
            <a:avLst/>
          </a:prstGeom>
          <a:noFill/>
          <a:ln/>
        </p:spPr>
        <p:txBody>
          <a:bodyPr wrap="square" lIns="0" tIns="0" rIns="0" bIns="0" rtlCol="0" anchor="ctr"/>
          <a:lstStyle/>
          <a:p>
            <a:pPr indent="0" marL="0">
              <a:buNone/>
            </a:pPr>
            <a:r>
              <a:rPr lang="en-US" sz="850" dirty="0">
                <a:solidFill>
                  <a:srgbClr val="7AADCC"/>
                </a:solidFill>
                <a:latin typeface="Calibri" pitchFamily="34" charset="0"/>
                <a:ea typeface="Calibri" pitchFamily="34" charset="-122"/>
                <a:cs typeface="Calibri" pitchFamily="34" charset="-120"/>
              </a:rPr>
              <a:t>Private Subnets: 10.0.11.0/24, 10.0.12.0/24</a:t>
            </a:r>
            <a:endParaRPr lang="en-US" sz="850" dirty="0"/>
          </a:p>
        </p:txBody>
      </p:sp>
      <p:sp>
        <p:nvSpPr>
          <p:cNvPr id="33" name="Shape 28"/>
          <p:cNvSpPr/>
          <p:nvPr/>
        </p:nvSpPr>
        <p:spPr>
          <a:xfrm>
            <a:off x="4937760" y="2057400"/>
            <a:ext cx="1097280" cy="749808"/>
          </a:xfrm>
          <a:prstGeom prst="rect">
            <a:avLst>
              <a:gd name="adj" fmla="val 4878"/>
            </a:avLst>
          </a:prstGeom>
          <a:solidFill>
            <a:srgbClr val="3B82F6"/>
          </a:solidFill>
          <a:ln w="12700">
            <a:solidFill>
              <a:srgbClr val="3B82F6"/>
            </a:solidFill>
            <a:prstDash val="solid"/>
          </a:ln>
          <a:effectLst>
            <a:outerShdw sx="100000" sy="100000" kx="0" ky="0" algn="bl" rotWithShape="0" blurRad="101600" dist="25400" dir="2700000">
              <a:srgbClr val="000000">
                <a:alpha val="12000"/>
              </a:srgbClr>
            </a:outerShdw>
          </a:effectLst>
        </p:spPr>
      </p:sp>
      <p:pic>
        <p:nvPicPr>
          <p:cNvPr id="34" name="Image 3" descr="preencoded.png">    </p:cNvPr>
          <p:cNvPicPr>
            <a:picLocks noChangeAspect="1"/>
          </p:cNvPicPr>
          <p:nvPr/>
        </p:nvPicPr>
        <p:blipFill>
          <a:blip r:embed="rId4"/>
          <a:stretch>
            <a:fillRect/>
          </a:stretch>
        </p:blipFill>
        <p:spPr>
          <a:xfrm>
            <a:off x="5193792" y="2121408"/>
            <a:ext cx="256032" cy="256032"/>
          </a:xfrm>
          <a:prstGeom prst="rect">
            <a:avLst/>
          </a:prstGeom>
        </p:spPr>
      </p:pic>
      <p:sp>
        <p:nvSpPr>
          <p:cNvPr id="35" name="Text 29"/>
          <p:cNvSpPr/>
          <p:nvPr/>
        </p:nvSpPr>
        <p:spPr>
          <a:xfrm>
            <a:off x="4937760" y="2404872"/>
            <a:ext cx="1097280"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EC2-FE-1</a:t>
            </a:r>
            <a:endParaRPr lang="en-US" sz="900" dirty="0"/>
          </a:p>
        </p:txBody>
      </p:sp>
      <p:sp>
        <p:nvSpPr>
          <p:cNvPr id="36" name="Shape 30"/>
          <p:cNvSpPr/>
          <p:nvPr/>
        </p:nvSpPr>
        <p:spPr>
          <a:xfrm>
            <a:off x="6172200" y="2057400"/>
            <a:ext cx="1097280" cy="749808"/>
          </a:xfrm>
          <a:prstGeom prst="rect">
            <a:avLst>
              <a:gd name="adj" fmla="val 4878"/>
            </a:avLst>
          </a:prstGeom>
          <a:solidFill>
            <a:srgbClr val="3B82F6"/>
          </a:solidFill>
          <a:ln w="12700">
            <a:solidFill>
              <a:srgbClr val="3B82F6"/>
            </a:solidFill>
            <a:prstDash val="solid"/>
          </a:ln>
          <a:effectLst>
            <a:outerShdw sx="100000" sy="100000" kx="0" ky="0" algn="bl" rotWithShape="0" blurRad="101600" dist="25400" dir="2700000">
              <a:srgbClr val="000000">
                <a:alpha val="12000"/>
              </a:srgbClr>
            </a:outerShdw>
          </a:effectLst>
        </p:spPr>
      </p:sp>
      <p:pic>
        <p:nvPicPr>
          <p:cNvPr id="37" name="Image 4" descr="preencoded.png">    </p:cNvPr>
          <p:cNvPicPr>
            <a:picLocks noChangeAspect="1"/>
          </p:cNvPicPr>
          <p:nvPr/>
        </p:nvPicPr>
        <p:blipFill>
          <a:blip r:embed="rId5"/>
          <a:stretch>
            <a:fillRect/>
          </a:stretch>
        </p:blipFill>
        <p:spPr>
          <a:xfrm>
            <a:off x="6428232" y="2121408"/>
            <a:ext cx="256032" cy="256032"/>
          </a:xfrm>
          <a:prstGeom prst="rect">
            <a:avLst/>
          </a:prstGeom>
        </p:spPr>
      </p:pic>
      <p:sp>
        <p:nvSpPr>
          <p:cNvPr id="38" name="Text 31"/>
          <p:cNvSpPr/>
          <p:nvPr/>
        </p:nvSpPr>
        <p:spPr>
          <a:xfrm>
            <a:off x="6172200" y="2404872"/>
            <a:ext cx="1097280"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EC2-FE-2</a:t>
            </a:r>
            <a:endParaRPr lang="en-US" sz="900" dirty="0"/>
          </a:p>
        </p:txBody>
      </p:sp>
      <p:sp>
        <p:nvSpPr>
          <p:cNvPr id="39" name="Shape 32"/>
          <p:cNvSpPr/>
          <p:nvPr/>
        </p:nvSpPr>
        <p:spPr>
          <a:xfrm>
            <a:off x="7406640" y="2057400"/>
            <a:ext cx="1097280" cy="749808"/>
          </a:xfrm>
          <a:prstGeom prst="rect">
            <a:avLst>
              <a:gd name="adj" fmla="val 4878"/>
            </a:avLst>
          </a:prstGeom>
          <a:solidFill>
            <a:srgbClr val="3B82F6"/>
          </a:solidFill>
          <a:ln w="12700">
            <a:solidFill>
              <a:srgbClr val="3B82F6"/>
            </a:solidFill>
            <a:prstDash val="solid"/>
          </a:ln>
          <a:effectLst>
            <a:outerShdw sx="100000" sy="100000" kx="0" ky="0" algn="bl" rotWithShape="0" blurRad="101600" dist="25400" dir="2700000">
              <a:srgbClr val="000000">
                <a:alpha val="12000"/>
              </a:srgbClr>
            </a:outerShdw>
          </a:effectLst>
        </p:spPr>
      </p:sp>
      <p:pic>
        <p:nvPicPr>
          <p:cNvPr id="40" name="Image 5" descr="preencoded.png">    </p:cNvPr>
          <p:cNvPicPr>
            <a:picLocks noChangeAspect="1"/>
          </p:cNvPicPr>
          <p:nvPr/>
        </p:nvPicPr>
        <p:blipFill>
          <a:blip r:embed="rId6"/>
          <a:stretch>
            <a:fillRect/>
          </a:stretch>
        </p:blipFill>
        <p:spPr>
          <a:xfrm>
            <a:off x="7662672" y="2121408"/>
            <a:ext cx="256032" cy="256032"/>
          </a:xfrm>
          <a:prstGeom prst="rect">
            <a:avLst/>
          </a:prstGeom>
        </p:spPr>
      </p:pic>
      <p:sp>
        <p:nvSpPr>
          <p:cNvPr id="41" name="Text 33"/>
          <p:cNvSpPr/>
          <p:nvPr/>
        </p:nvSpPr>
        <p:spPr>
          <a:xfrm>
            <a:off x="7406640" y="2404872"/>
            <a:ext cx="1097280"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EC2-FE-3</a:t>
            </a:r>
            <a:endParaRPr lang="en-US" sz="900" dirty="0"/>
          </a:p>
        </p:txBody>
      </p:sp>
      <p:sp>
        <p:nvSpPr>
          <p:cNvPr id="42" name="Shape 34"/>
          <p:cNvSpPr/>
          <p:nvPr/>
        </p:nvSpPr>
        <p:spPr>
          <a:xfrm>
            <a:off x="4800600" y="3127248"/>
            <a:ext cx="3886200" cy="1481328"/>
          </a:xfrm>
          <a:prstGeom prst="rect">
            <a:avLst>
              <a:gd name="adj" fmla="val 2469"/>
            </a:avLst>
          </a:prstGeom>
          <a:solidFill>
            <a:srgbClr val="112210"/>
          </a:solidFill>
          <a:ln w="12700">
            <a:solidFill>
              <a:srgbClr val="22C55E"/>
            </a:solidFill>
            <a:prstDash val="solid"/>
          </a:ln>
        </p:spPr>
      </p:sp>
      <p:sp>
        <p:nvSpPr>
          <p:cNvPr id="43" name="Text 35"/>
          <p:cNvSpPr/>
          <p:nvPr/>
        </p:nvSpPr>
        <p:spPr>
          <a:xfrm>
            <a:off x="4892040" y="3172968"/>
            <a:ext cx="3703320" cy="256032"/>
          </a:xfrm>
          <a:prstGeom prst="rect">
            <a:avLst/>
          </a:prstGeom>
          <a:noFill/>
          <a:ln/>
        </p:spPr>
        <p:txBody>
          <a:bodyPr wrap="square" lIns="0" tIns="0" rIns="0" bIns="0"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Backend ASG — Node.js + Express</a:t>
            </a:r>
            <a:endParaRPr lang="en-US" sz="1000" dirty="0"/>
          </a:p>
        </p:txBody>
      </p:sp>
      <p:sp>
        <p:nvSpPr>
          <p:cNvPr id="44" name="Text 36"/>
          <p:cNvSpPr/>
          <p:nvPr/>
        </p:nvSpPr>
        <p:spPr>
          <a:xfrm>
            <a:off x="4892040" y="3410712"/>
            <a:ext cx="3703320" cy="201168"/>
          </a:xfrm>
          <a:prstGeom prst="rect">
            <a:avLst/>
          </a:prstGeom>
          <a:noFill/>
          <a:ln/>
        </p:spPr>
        <p:txBody>
          <a:bodyPr wrap="square" lIns="0" tIns="0" rIns="0" bIns="0" rtlCol="0" anchor="ctr"/>
          <a:lstStyle/>
          <a:p>
            <a:pPr indent="0" marL="0">
              <a:buNone/>
            </a:pPr>
            <a:r>
              <a:rPr lang="en-US" sz="850" dirty="0">
                <a:solidFill>
                  <a:srgbClr val="7ACC9A"/>
                </a:solidFill>
                <a:latin typeface="Calibri" pitchFamily="34" charset="0"/>
                <a:ea typeface="Calibri" pitchFamily="34" charset="-122"/>
                <a:cs typeface="Calibri" pitchFamily="34" charset="-120"/>
              </a:rPr>
              <a:t>Private Subnets: 10.0.21.0/24, 10.0.22.0/24</a:t>
            </a:r>
            <a:endParaRPr lang="en-US" sz="850" dirty="0"/>
          </a:p>
        </p:txBody>
      </p:sp>
      <p:sp>
        <p:nvSpPr>
          <p:cNvPr id="45" name="Shape 37"/>
          <p:cNvSpPr/>
          <p:nvPr/>
        </p:nvSpPr>
        <p:spPr>
          <a:xfrm>
            <a:off x="4937760" y="3675888"/>
            <a:ext cx="1097280" cy="749808"/>
          </a:xfrm>
          <a:prstGeom prst="rect">
            <a:avLst>
              <a:gd name="adj" fmla="val 4878"/>
            </a:avLst>
          </a:prstGeom>
          <a:solidFill>
            <a:srgbClr val="22C55E"/>
          </a:solidFill>
          <a:ln w="12700">
            <a:solidFill>
              <a:srgbClr val="22C55E"/>
            </a:solidFill>
            <a:prstDash val="solid"/>
          </a:ln>
          <a:effectLst>
            <a:outerShdw sx="100000" sy="100000" kx="0" ky="0" algn="bl" rotWithShape="0" blurRad="101600" dist="25400" dir="2700000">
              <a:srgbClr val="000000">
                <a:alpha val="12000"/>
              </a:srgbClr>
            </a:outerShdw>
          </a:effectLst>
        </p:spPr>
      </p:sp>
      <p:pic>
        <p:nvPicPr>
          <p:cNvPr id="46" name="Image 6" descr="preencoded.png">    </p:cNvPr>
          <p:cNvPicPr>
            <a:picLocks noChangeAspect="1"/>
          </p:cNvPicPr>
          <p:nvPr/>
        </p:nvPicPr>
        <p:blipFill>
          <a:blip r:embed="rId7"/>
          <a:stretch>
            <a:fillRect/>
          </a:stretch>
        </p:blipFill>
        <p:spPr>
          <a:xfrm>
            <a:off x="5193792" y="3739896"/>
            <a:ext cx="256032" cy="256032"/>
          </a:xfrm>
          <a:prstGeom prst="rect">
            <a:avLst/>
          </a:prstGeom>
        </p:spPr>
      </p:pic>
      <p:sp>
        <p:nvSpPr>
          <p:cNvPr id="47" name="Text 38"/>
          <p:cNvSpPr/>
          <p:nvPr/>
        </p:nvSpPr>
        <p:spPr>
          <a:xfrm>
            <a:off x="4937760" y="4023360"/>
            <a:ext cx="1097280"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EC2-BE-1</a:t>
            </a:r>
            <a:endParaRPr lang="en-US" sz="900" dirty="0"/>
          </a:p>
        </p:txBody>
      </p:sp>
      <p:sp>
        <p:nvSpPr>
          <p:cNvPr id="48" name="Shape 39"/>
          <p:cNvSpPr/>
          <p:nvPr/>
        </p:nvSpPr>
        <p:spPr>
          <a:xfrm>
            <a:off x="6172200" y="3675888"/>
            <a:ext cx="1097280" cy="749808"/>
          </a:xfrm>
          <a:prstGeom prst="rect">
            <a:avLst>
              <a:gd name="adj" fmla="val 4878"/>
            </a:avLst>
          </a:prstGeom>
          <a:solidFill>
            <a:srgbClr val="22C55E"/>
          </a:solidFill>
          <a:ln w="12700">
            <a:solidFill>
              <a:srgbClr val="22C55E"/>
            </a:solidFill>
            <a:prstDash val="solid"/>
          </a:ln>
          <a:effectLst>
            <a:outerShdw sx="100000" sy="100000" kx="0" ky="0" algn="bl" rotWithShape="0" blurRad="101600" dist="25400" dir="2700000">
              <a:srgbClr val="000000">
                <a:alpha val="12000"/>
              </a:srgbClr>
            </a:outerShdw>
          </a:effectLst>
        </p:spPr>
      </p:sp>
      <p:pic>
        <p:nvPicPr>
          <p:cNvPr id="49" name="Image 7" descr="preencoded.png">    </p:cNvPr>
          <p:cNvPicPr>
            <a:picLocks noChangeAspect="1"/>
          </p:cNvPicPr>
          <p:nvPr/>
        </p:nvPicPr>
        <p:blipFill>
          <a:blip r:embed="rId8"/>
          <a:stretch>
            <a:fillRect/>
          </a:stretch>
        </p:blipFill>
        <p:spPr>
          <a:xfrm>
            <a:off x="6428232" y="3739896"/>
            <a:ext cx="256032" cy="256032"/>
          </a:xfrm>
          <a:prstGeom prst="rect">
            <a:avLst/>
          </a:prstGeom>
        </p:spPr>
      </p:pic>
      <p:sp>
        <p:nvSpPr>
          <p:cNvPr id="50" name="Text 40"/>
          <p:cNvSpPr/>
          <p:nvPr/>
        </p:nvSpPr>
        <p:spPr>
          <a:xfrm>
            <a:off x="6172200" y="4023360"/>
            <a:ext cx="1097280"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EC2-BE-2</a:t>
            </a:r>
            <a:endParaRPr lang="en-US" sz="900" dirty="0"/>
          </a:p>
        </p:txBody>
      </p:sp>
      <p:sp>
        <p:nvSpPr>
          <p:cNvPr id="51" name="Shape 41"/>
          <p:cNvSpPr/>
          <p:nvPr/>
        </p:nvSpPr>
        <p:spPr>
          <a:xfrm>
            <a:off x="7406640" y="3675888"/>
            <a:ext cx="1097280" cy="749808"/>
          </a:xfrm>
          <a:prstGeom prst="rect">
            <a:avLst>
              <a:gd name="adj" fmla="val 4878"/>
            </a:avLst>
          </a:prstGeom>
          <a:solidFill>
            <a:srgbClr val="22C55E"/>
          </a:solidFill>
          <a:ln w="12700">
            <a:solidFill>
              <a:srgbClr val="22C55E"/>
            </a:solidFill>
            <a:prstDash val="solid"/>
          </a:ln>
          <a:effectLst>
            <a:outerShdw sx="100000" sy="100000" kx="0" ky="0" algn="bl" rotWithShape="0" blurRad="101600" dist="25400" dir="2700000">
              <a:srgbClr val="000000">
                <a:alpha val="12000"/>
              </a:srgbClr>
            </a:outerShdw>
          </a:effectLst>
        </p:spPr>
      </p:sp>
      <p:pic>
        <p:nvPicPr>
          <p:cNvPr id="52" name="Image 8" descr="preencoded.png">    </p:cNvPr>
          <p:cNvPicPr>
            <a:picLocks noChangeAspect="1"/>
          </p:cNvPicPr>
          <p:nvPr/>
        </p:nvPicPr>
        <p:blipFill>
          <a:blip r:embed="rId9"/>
          <a:stretch>
            <a:fillRect/>
          </a:stretch>
        </p:blipFill>
        <p:spPr>
          <a:xfrm>
            <a:off x="7662672" y="3739896"/>
            <a:ext cx="256032" cy="256032"/>
          </a:xfrm>
          <a:prstGeom prst="rect">
            <a:avLst/>
          </a:prstGeom>
        </p:spPr>
      </p:pic>
      <p:sp>
        <p:nvSpPr>
          <p:cNvPr id="53" name="Text 42"/>
          <p:cNvSpPr/>
          <p:nvPr/>
        </p:nvSpPr>
        <p:spPr>
          <a:xfrm>
            <a:off x="7406640" y="4023360"/>
            <a:ext cx="1097280"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EC2-BE-3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Serverless Automation</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EventBridge-triggered Lambda workflows for reminders and cleanup</a:t>
            </a:r>
            <a:endParaRPr lang="en-US" sz="1100" dirty="0"/>
          </a:p>
        </p:txBody>
      </p:sp>
      <p:sp>
        <p:nvSpPr>
          <p:cNvPr id="5" name="Shape 3"/>
          <p:cNvSpPr/>
          <p:nvPr/>
        </p:nvSpPr>
        <p:spPr>
          <a:xfrm>
            <a:off x="320040" y="987552"/>
            <a:ext cx="4069080" cy="365760"/>
          </a:xfrm>
          <a:prstGeom prst="rect">
            <a:avLst>
              <a:gd name="adj" fmla="val 10000"/>
            </a:avLst>
          </a:prstGeom>
          <a:solidFill>
            <a:srgbClr val="EAB308"/>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6" name="Text 4"/>
          <p:cNvSpPr/>
          <p:nvPr/>
        </p:nvSpPr>
        <p:spPr>
          <a:xfrm>
            <a:off x="384048" y="987552"/>
            <a:ext cx="3931920" cy="365760"/>
          </a:xfrm>
          <a:prstGeom prst="rect">
            <a:avLst/>
          </a:prstGeom>
          <a:noFill/>
          <a:ln/>
        </p:spPr>
        <p:txBody>
          <a:bodyPr wrap="square" lIns="0" tIns="0" rIns="0" bIns="0" rtlCol="0" anchor="ctr"/>
          <a:lstStyle/>
          <a:p>
            <a:pPr indent="0" marL="0">
              <a:buNone/>
            </a:pPr>
            <a:r>
              <a:rPr lang="en-US" sz="1100" b="1" dirty="0">
                <a:solidFill>
                  <a:srgbClr val="1A2C42"/>
                </a:solidFill>
                <a:latin typeface="Calibri" pitchFamily="34" charset="0"/>
                <a:ea typeface="Calibri" pitchFamily="34" charset="-122"/>
                <a:cs typeface="Calibri" pitchFamily="34" charset="-120"/>
              </a:rPr>
              <a:t>Workflow 1 — Appointment Reminders</a:t>
            </a:r>
            <a:endParaRPr lang="en-US" sz="1100" dirty="0"/>
          </a:p>
        </p:txBody>
      </p:sp>
      <p:sp>
        <p:nvSpPr>
          <p:cNvPr id="7" name="Shape 5"/>
          <p:cNvSpPr/>
          <p:nvPr/>
        </p:nvSpPr>
        <p:spPr>
          <a:xfrm>
            <a:off x="384048" y="1481328"/>
            <a:ext cx="868680" cy="777240"/>
          </a:xfrm>
          <a:prstGeom prst="rect">
            <a:avLst>
              <a:gd name="adj" fmla="val 5882"/>
            </a:avLst>
          </a:prstGeom>
          <a:solidFill>
            <a:srgbClr val="EAB308"/>
          </a:solidFill>
          <a:ln w="12700">
            <a:solidFill>
              <a:srgbClr val="EAB308"/>
            </a:solidFill>
            <a:prstDash val="solid"/>
          </a:ln>
          <a:effectLst>
            <a:outerShdw sx="100000" sy="100000" kx="0" ky="0" algn="bl" rotWithShape="0" blurRad="101600" dist="25400" dir="2700000">
              <a:srgbClr val="000000">
                <a:alpha val="12000"/>
              </a:srgbClr>
            </a:outerShdw>
          </a:effectLst>
        </p:spPr>
      </p:sp>
      <p:pic>
        <p:nvPicPr>
          <p:cNvPr id="8" name="Image 0" descr="preencoded.png">    </p:cNvPr>
          <p:cNvPicPr>
            <a:picLocks noChangeAspect="1"/>
          </p:cNvPicPr>
          <p:nvPr/>
        </p:nvPicPr>
        <p:blipFill>
          <a:blip r:embed="rId1"/>
          <a:stretch>
            <a:fillRect/>
          </a:stretch>
        </p:blipFill>
        <p:spPr>
          <a:xfrm>
            <a:off x="676656" y="1536192"/>
            <a:ext cx="274320" cy="274320"/>
          </a:xfrm>
          <a:prstGeom prst="rect">
            <a:avLst/>
          </a:prstGeom>
        </p:spPr>
      </p:pic>
      <p:sp>
        <p:nvSpPr>
          <p:cNvPr id="9" name="Text 6"/>
          <p:cNvSpPr/>
          <p:nvPr/>
        </p:nvSpPr>
        <p:spPr>
          <a:xfrm>
            <a:off x="384048" y="1828800"/>
            <a:ext cx="86868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EventBridge</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Scheduler</a:t>
            </a:r>
            <a:endParaRPr lang="en-US" sz="850" dirty="0"/>
          </a:p>
        </p:txBody>
      </p:sp>
      <p:sp>
        <p:nvSpPr>
          <p:cNvPr id="10" name="Shape 7"/>
          <p:cNvSpPr/>
          <p:nvPr/>
        </p:nvSpPr>
        <p:spPr>
          <a:xfrm>
            <a:off x="1252728" y="1865376"/>
            <a:ext cx="137160" cy="0"/>
          </a:xfrm>
          <a:prstGeom prst="line">
            <a:avLst/>
          </a:prstGeom>
          <a:noFill/>
          <a:ln w="25400">
            <a:solidFill>
              <a:srgbClr val="FF9900"/>
            </a:solidFill>
            <a:prstDash val="solid"/>
            <a:tailEnd type="arrow"/>
          </a:ln>
        </p:spPr>
      </p:sp>
      <p:sp>
        <p:nvSpPr>
          <p:cNvPr id="11" name="Shape 8"/>
          <p:cNvSpPr/>
          <p:nvPr/>
        </p:nvSpPr>
        <p:spPr>
          <a:xfrm>
            <a:off x="1389888" y="1481328"/>
            <a:ext cx="868680" cy="777240"/>
          </a:xfrm>
          <a:prstGeom prst="rect">
            <a:avLst>
              <a:gd name="adj" fmla="val 5882"/>
            </a:avLst>
          </a:prstGeom>
          <a:solidFill>
            <a:srgbClr val="0073BB"/>
          </a:solidFill>
          <a:ln w="12700">
            <a:solidFill>
              <a:srgbClr val="0073BB"/>
            </a:solidFill>
            <a:prstDash val="solid"/>
          </a:ln>
          <a:effectLst>
            <a:outerShdw sx="100000" sy="100000" kx="0" ky="0" algn="bl" rotWithShape="0" blurRad="101600" dist="25400" dir="2700000">
              <a:srgbClr val="000000">
                <a:alpha val="12000"/>
              </a:srgbClr>
            </a:outerShdw>
          </a:effectLst>
        </p:spPr>
      </p:sp>
      <p:pic>
        <p:nvPicPr>
          <p:cNvPr id="12" name="Image 1" descr="preencoded.png">    </p:cNvPr>
          <p:cNvPicPr>
            <a:picLocks noChangeAspect="1"/>
          </p:cNvPicPr>
          <p:nvPr/>
        </p:nvPicPr>
        <p:blipFill>
          <a:blip r:embed="rId2"/>
          <a:stretch>
            <a:fillRect/>
          </a:stretch>
        </p:blipFill>
        <p:spPr>
          <a:xfrm>
            <a:off x="1682496" y="1536192"/>
            <a:ext cx="274320" cy="274320"/>
          </a:xfrm>
          <a:prstGeom prst="rect">
            <a:avLst/>
          </a:prstGeom>
        </p:spPr>
      </p:pic>
      <p:sp>
        <p:nvSpPr>
          <p:cNvPr id="13" name="Text 9"/>
          <p:cNvSpPr/>
          <p:nvPr/>
        </p:nvSpPr>
        <p:spPr>
          <a:xfrm>
            <a:off x="1389888" y="1828800"/>
            <a:ext cx="86868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Reminder</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Lambda</a:t>
            </a:r>
            <a:endParaRPr lang="en-US" sz="850" dirty="0"/>
          </a:p>
        </p:txBody>
      </p:sp>
      <p:sp>
        <p:nvSpPr>
          <p:cNvPr id="14" name="Shape 10"/>
          <p:cNvSpPr/>
          <p:nvPr/>
        </p:nvSpPr>
        <p:spPr>
          <a:xfrm>
            <a:off x="2258568" y="1865376"/>
            <a:ext cx="137160" cy="0"/>
          </a:xfrm>
          <a:prstGeom prst="line">
            <a:avLst/>
          </a:prstGeom>
          <a:noFill/>
          <a:ln w="25400">
            <a:solidFill>
              <a:srgbClr val="FF9900"/>
            </a:solidFill>
            <a:prstDash val="solid"/>
            <a:tailEnd type="arrow"/>
          </a:ln>
        </p:spPr>
      </p:sp>
      <p:sp>
        <p:nvSpPr>
          <p:cNvPr id="15" name="Shape 11"/>
          <p:cNvSpPr/>
          <p:nvPr/>
        </p:nvSpPr>
        <p:spPr>
          <a:xfrm>
            <a:off x="2395728" y="1481328"/>
            <a:ext cx="868680" cy="777240"/>
          </a:xfrm>
          <a:prstGeom prst="rect">
            <a:avLst>
              <a:gd name="adj" fmla="val 5882"/>
            </a:avLst>
          </a:prstGeom>
          <a:solidFill>
            <a:srgbClr val="EC4899"/>
          </a:solidFill>
          <a:ln w="12700">
            <a:solidFill>
              <a:srgbClr val="EC4899"/>
            </a:solidFill>
            <a:prstDash val="solid"/>
          </a:ln>
          <a:effectLst>
            <a:outerShdw sx="100000" sy="100000" kx="0" ky="0" algn="bl" rotWithShape="0" blurRad="101600" dist="25400" dir="2700000">
              <a:srgbClr val="000000">
                <a:alpha val="12000"/>
              </a:srgbClr>
            </a:outerShdw>
          </a:effectLst>
        </p:spPr>
      </p:sp>
      <p:pic>
        <p:nvPicPr>
          <p:cNvPr id="16" name="Image 2" descr="preencoded.png">    </p:cNvPr>
          <p:cNvPicPr>
            <a:picLocks noChangeAspect="1"/>
          </p:cNvPicPr>
          <p:nvPr/>
        </p:nvPicPr>
        <p:blipFill>
          <a:blip r:embed="rId3"/>
          <a:stretch>
            <a:fillRect/>
          </a:stretch>
        </p:blipFill>
        <p:spPr>
          <a:xfrm>
            <a:off x="2688336" y="1536192"/>
            <a:ext cx="274320" cy="274320"/>
          </a:xfrm>
          <a:prstGeom prst="rect">
            <a:avLst/>
          </a:prstGeom>
        </p:spPr>
      </p:pic>
      <p:sp>
        <p:nvSpPr>
          <p:cNvPr id="17" name="Text 12"/>
          <p:cNvSpPr/>
          <p:nvPr/>
        </p:nvSpPr>
        <p:spPr>
          <a:xfrm>
            <a:off x="2395728" y="1828800"/>
            <a:ext cx="86868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Amazon</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SNS</a:t>
            </a:r>
            <a:endParaRPr lang="en-US" sz="850" dirty="0"/>
          </a:p>
        </p:txBody>
      </p:sp>
      <p:sp>
        <p:nvSpPr>
          <p:cNvPr id="18" name="Shape 13"/>
          <p:cNvSpPr/>
          <p:nvPr/>
        </p:nvSpPr>
        <p:spPr>
          <a:xfrm>
            <a:off x="3264408" y="1865376"/>
            <a:ext cx="137160" cy="0"/>
          </a:xfrm>
          <a:prstGeom prst="line">
            <a:avLst/>
          </a:prstGeom>
          <a:noFill/>
          <a:ln w="25400">
            <a:solidFill>
              <a:srgbClr val="FF9900"/>
            </a:solidFill>
            <a:prstDash val="solid"/>
            <a:tailEnd type="arrow"/>
          </a:ln>
        </p:spPr>
      </p:sp>
      <p:sp>
        <p:nvSpPr>
          <p:cNvPr id="19" name="Shape 14"/>
          <p:cNvSpPr/>
          <p:nvPr/>
        </p:nvSpPr>
        <p:spPr>
          <a:xfrm>
            <a:off x="3401568" y="1481328"/>
            <a:ext cx="868680" cy="777240"/>
          </a:xfrm>
          <a:prstGeom prst="rect">
            <a:avLst>
              <a:gd name="adj" fmla="val 5882"/>
            </a:avLst>
          </a:prstGeom>
          <a:solidFill>
            <a:srgbClr val="22C55E"/>
          </a:solidFill>
          <a:ln w="12700">
            <a:solidFill>
              <a:srgbClr val="22C55E"/>
            </a:solidFill>
            <a:prstDash val="solid"/>
          </a:ln>
          <a:effectLst>
            <a:outerShdw sx="100000" sy="100000" kx="0" ky="0" algn="bl" rotWithShape="0" blurRad="101600" dist="25400" dir="2700000">
              <a:srgbClr val="000000">
                <a:alpha val="12000"/>
              </a:srgbClr>
            </a:outerShdw>
          </a:effectLst>
        </p:spPr>
      </p:sp>
      <p:pic>
        <p:nvPicPr>
          <p:cNvPr id="20" name="Image 3" descr="preencoded.png">    </p:cNvPr>
          <p:cNvPicPr>
            <a:picLocks noChangeAspect="1"/>
          </p:cNvPicPr>
          <p:nvPr/>
        </p:nvPicPr>
        <p:blipFill>
          <a:blip r:embed="rId4"/>
          <a:stretch>
            <a:fillRect/>
          </a:stretch>
        </p:blipFill>
        <p:spPr>
          <a:xfrm>
            <a:off x="3694176" y="1536192"/>
            <a:ext cx="274320" cy="274320"/>
          </a:xfrm>
          <a:prstGeom prst="rect">
            <a:avLst/>
          </a:prstGeom>
        </p:spPr>
      </p:pic>
      <p:sp>
        <p:nvSpPr>
          <p:cNvPr id="21" name="Text 15"/>
          <p:cNvSpPr/>
          <p:nvPr/>
        </p:nvSpPr>
        <p:spPr>
          <a:xfrm>
            <a:off x="3401568" y="1828800"/>
            <a:ext cx="86868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Patient</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Notification</a:t>
            </a:r>
            <a:endParaRPr lang="en-US" sz="850" dirty="0"/>
          </a:p>
        </p:txBody>
      </p:sp>
      <p:sp>
        <p:nvSpPr>
          <p:cNvPr id="22" name="Text 16"/>
          <p:cNvSpPr/>
          <p:nvPr/>
        </p:nvSpPr>
        <p:spPr>
          <a:xfrm>
            <a:off x="384048" y="2359152"/>
            <a:ext cx="3931920" cy="41148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Runs on schedule → queries upcoming appointments from RDS → publishes SNS message → patient receives email/SMS reminder</a:t>
            </a:r>
            <a:endParaRPr lang="en-US" sz="950" dirty="0"/>
          </a:p>
        </p:txBody>
      </p:sp>
      <p:sp>
        <p:nvSpPr>
          <p:cNvPr id="23" name="Shape 17"/>
          <p:cNvSpPr/>
          <p:nvPr/>
        </p:nvSpPr>
        <p:spPr>
          <a:xfrm>
            <a:off x="4754880" y="987552"/>
            <a:ext cx="4069080" cy="365760"/>
          </a:xfrm>
          <a:prstGeom prst="rect">
            <a:avLst>
              <a:gd name="adj" fmla="val 10000"/>
            </a:avLst>
          </a:prstGeom>
          <a:solidFill>
            <a:srgbClr val="14B8A6"/>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4" name="Text 18"/>
          <p:cNvSpPr/>
          <p:nvPr/>
        </p:nvSpPr>
        <p:spPr>
          <a:xfrm>
            <a:off x="4828032" y="987552"/>
            <a:ext cx="3913632" cy="365760"/>
          </a:xfrm>
          <a:prstGeom prst="rect">
            <a:avLst/>
          </a:prstGeom>
          <a:noFill/>
          <a:ln/>
        </p:spPr>
        <p:txBody>
          <a:bodyPr wrap="square" lIns="0" tIns="0" rIns="0" bIns="0" rtlCol="0" anchor="ctr"/>
          <a:lstStyle/>
          <a:p>
            <a:pPr indent="0" marL="0">
              <a:buNone/>
            </a:pPr>
            <a:r>
              <a:rPr lang="en-US" sz="1100" b="1" dirty="0">
                <a:solidFill>
                  <a:srgbClr val="1A2C42"/>
                </a:solidFill>
                <a:latin typeface="Calibri" pitchFamily="34" charset="0"/>
                <a:ea typeface="Calibri" pitchFamily="34" charset="-122"/>
                <a:cs typeface="Calibri" pitchFamily="34" charset="-120"/>
              </a:rPr>
              <a:t>Workflow 2 — Notification Cleanup</a:t>
            </a:r>
            <a:endParaRPr lang="en-US" sz="1100" dirty="0"/>
          </a:p>
        </p:txBody>
      </p:sp>
      <p:sp>
        <p:nvSpPr>
          <p:cNvPr id="25" name="Shape 19"/>
          <p:cNvSpPr/>
          <p:nvPr/>
        </p:nvSpPr>
        <p:spPr>
          <a:xfrm>
            <a:off x="4828032" y="1481328"/>
            <a:ext cx="868680" cy="777240"/>
          </a:xfrm>
          <a:prstGeom prst="rect">
            <a:avLst>
              <a:gd name="adj" fmla="val 5882"/>
            </a:avLst>
          </a:prstGeom>
          <a:solidFill>
            <a:srgbClr val="EAB308"/>
          </a:solidFill>
          <a:ln w="12700">
            <a:solidFill>
              <a:srgbClr val="EAB308"/>
            </a:solidFill>
            <a:prstDash val="solid"/>
          </a:ln>
          <a:effectLst>
            <a:outerShdw sx="100000" sy="100000" kx="0" ky="0" algn="bl" rotWithShape="0" blurRad="101600" dist="25400" dir="2700000">
              <a:srgbClr val="000000">
                <a:alpha val="12000"/>
              </a:srgbClr>
            </a:outerShdw>
          </a:effectLst>
        </p:spPr>
      </p:sp>
      <p:pic>
        <p:nvPicPr>
          <p:cNvPr id="26" name="Image 4" descr="preencoded.png">    </p:cNvPr>
          <p:cNvPicPr>
            <a:picLocks noChangeAspect="1"/>
          </p:cNvPicPr>
          <p:nvPr/>
        </p:nvPicPr>
        <p:blipFill>
          <a:blip r:embed="rId5"/>
          <a:stretch>
            <a:fillRect/>
          </a:stretch>
        </p:blipFill>
        <p:spPr>
          <a:xfrm>
            <a:off x="5120640" y="1536192"/>
            <a:ext cx="274320" cy="274320"/>
          </a:xfrm>
          <a:prstGeom prst="rect">
            <a:avLst/>
          </a:prstGeom>
        </p:spPr>
      </p:pic>
      <p:sp>
        <p:nvSpPr>
          <p:cNvPr id="27" name="Text 20"/>
          <p:cNvSpPr/>
          <p:nvPr/>
        </p:nvSpPr>
        <p:spPr>
          <a:xfrm>
            <a:off x="4828032" y="1828800"/>
            <a:ext cx="86868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EventBridge</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Scheduler</a:t>
            </a:r>
            <a:endParaRPr lang="en-US" sz="850" dirty="0"/>
          </a:p>
        </p:txBody>
      </p:sp>
      <p:sp>
        <p:nvSpPr>
          <p:cNvPr id="28" name="Shape 21"/>
          <p:cNvSpPr/>
          <p:nvPr/>
        </p:nvSpPr>
        <p:spPr>
          <a:xfrm>
            <a:off x="5696712" y="1865376"/>
            <a:ext cx="137160" cy="0"/>
          </a:xfrm>
          <a:prstGeom prst="line">
            <a:avLst/>
          </a:prstGeom>
          <a:noFill/>
          <a:ln w="25400">
            <a:solidFill>
              <a:srgbClr val="FF9900"/>
            </a:solidFill>
            <a:prstDash val="solid"/>
            <a:tailEnd type="arrow"/>
          </a:ln>
        </p:spPr>
      </p:sp>
      <p:sp>
        <p:nvSpPr>
          <p:cNvPr id="29" name="Shape 22"/>
          <p:cNvSpPr/>
          <p:nvPr/>
        </p:nvSpPr>
        <p:spPr>
          <a:xfrm>
            <a:off x="5833872" y="1481328"/>
            <a:ext cx="868680" cy="777240"/>
          </a:xfrm>
          <a:prstGeom prst="rect">
            <a:avLst>
              <a:gd name="adj" fmla="val 5882"/>
            </a:avLst>
          </a:prstGeom>
          <a:solidFill>
            <a:srgbClr val="0073BB"/>
          </a:solidFill>
          <a:ln w="12700">
            <a:solidFill>
              <a:srgbClr val="0073BB"/>
            </a:solidFill>
            <a:prstDash val="solid"/>
          </a:ln>
          <a:effectLst>
            <a:outerShdw sx="100000" sy="100000" kx="0" ky="0" algn="bl" rotWithShape="0" blurRad="101600" dist="25400" dir="2700000">
              <a:srgbClr val="000000">
                <a:alpha val="12000"/>
              </a:srgbClr>
            </a:outerShdw>
          </a:effectLst>
        </p:spPr>
      </p:sp>
      <p:pic>
        <p:nvPicPr>
          <p:cNvPr id="30" name="Image 5" descr="preencoded.png">    </p:cNvPr>
          <p:cNvPicPr>
            <a:picLocks noChangeAspect="1"/>
          </p:cNvPicPr>
          <p:nvPr/>
        </p:nvPicPr>
        <p:blipFill>
          <a:blip r:embed="rId6"/>
          <a:stretch>
            <a:fillRect/>
          </a:stretch>
        </p:blipFill>
        <p:spPr>
          <a:xfrm>
            <a:off x="6126480" y="1536192"/>
            <a:ext cx="274320" cy="274320"/>
          </a:xfrm>
          <a:prstGeom prst="rect">
            <a:avLst/>
          </a:prstGeom>
        </p:spPr>
      </p:pic>
      <p:sp>
        <p:nvSpPr>
          <p:cNvPr id="31" name="Text 23"/>
          <p:cNvSpPr/>
          <p:nvPr/>
        </p:nvSpPr>
        <p:spPr>
          <a:xfrm>
            <a:off x="5833872" y="1828800"/>
            <a:ext cx="86868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Cleanup</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Lambda</a:t>
            </a:r>
            <a:endParaRPr lang="en-US" sz="850" dirty="0"/>
          </a:p>
        </p:txBody>
      </p:sp>
      <p:sp>
        <p:nvSpPr>
          <p:cNvPr id="32" name="Shape 24"/>
          <p:cNvSpPr/>
          <p:nvPr/>
        </p:nvSpPr>
        <p:spPr>
          <a:xfrm>
            <a:off x="6702552" y="1865376"/>
            <a:ext cx="137160" cy="0"/>
          </a:xfrm>
          <a:prstGeom prst="line">
            <a:avLst/>
          </a:prstGeom>
          <a:noFill/>
          <a:ln w="25400">
            <a:solidFill>
              <a:srgbClr val="FF9900"/>
            </a:solidFill>
            <a:prstDash val="solid"/>
            <a:tailEnd type="arrow"/>
          </a:ln>
        </p:spPr>
      </p:sp>
      <p:sp>
        <p:nvSpPr>
          <p:cNvPr id="33" name="Shape 25"/>
          <p:cNvSpPr/>
          <p:nvPr/>
        </p:nvSpPr>
        <p:spPr>
          <a:xfrm>
            <a:off x="6839712" y="1481328"/>
            <a:ext cx="868680" cy="777240"/>
          </a:xfrm>
          <a:prstGeom prst="rect">
            <a:avLst>
              <a:gd name="adj" fmla="val 5882"/>
            </a:avLst>
          </a:prstGeom>
          <a:solidFill>
            <a:srgbClr val="A855F7"/>
          </a:solidFill>
          <a:ln w="12700">
            <a:solidFill>
              <a:srgbClr val="A855F7"/>
            </a:solidFill>
            <a:prstDash val="solid"/>
          </a:ln>
          <a:effectLst>
            <a:outerShdw sx="100000" sy="100000" kx="0" ky="0" algn="bl" rotWithShape="0" blurRad="101600" dist="25400" dir="2700000">
              <a:srgbClr val="000000">
                <a:alpha val="12000"/>
              </a:srgbClr>
            </a:outerShdw>
          </a:effectLst>
        </p:spPr>
      </p:sp>
      <p:pic>
        <p:nvPicPr>
          <p:cNvPr id="34" name="Image 6" descr="preencoded.png">    </p:cNvPr>
          <p:cNvPicPr>
            <a:picLocks noChangeAspect="1"/>
          </p:cNvPicPr>
          <p:nvPr/>
        </p:nvPicPr>
        <p:blipFill>
          <a:blip r:embed="rId7"/>
          <a:stretch>
            <a:fillRect/>
          </a:stretch>
        </p:blipFill>
        <p:spPr>
          <a:xfrm>
            <a:off x="7132320" y="1536192"/>
            <a:ext cx="274320" cy="274320"/>
          </a:xfrm>
          <a:prstGeom prst="rect">
            <a:avLst/>
          </a:prstGeom>
        </p:spPr>
      </p:pic>
      <p:sp>
        <p:nvSpPr>
          <p:cNvPr id="35" name="Text 26"/>
          <p:cNvSpPr/>
          <p:nvPr/>
        </p:nvSpPr>
        <p:spPr>
          <a:xfrm>
            <a:off x="6839712" y="1828800"/>
            <a:ext cx="86868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RDS</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PostgreSQL</a:t>
            </a:r>
            <a:endParaRPr lang="en-US" sz="850" dirty="0"/>
          </a:p>
        </p:txBody>
      </p:sp>
      <p:sp>
        <p:nvSpPr>
          <p:cNvPr id="36" name="Shape 27"/>
          <p:cNvSpPr/>
          <p:nvPr/>
        </p:nvSpPr>
        <p:spPr>
          <a:xfrm>
            <a:off x="7708392" y="1865376"/>
            <a:ext cx="137160" cy="0"/>
          </a:xfrm>
          <a:prstGeom prst="line">
            <a:avLst/>
          </a:prstGeom>
          <a:noFill/>
          <a:ln w="25400">
            <a:solidFill>
              <a:srgbClr val="FF9900"/>
            </a:solidFill>
            <a:prstDash val="solid"/>
            <a:tailEnd type="arrow"/>
          </a:ln>
        </p:spPr>
      </p:sp>
      <p:sp>
        <p:nvSpPr>
          <p:cNvPr id="37" name="Shape 28"/>
          <p:cNvSpPr/>
          <p:nvPr/>
        </p:nvSpPr>
        <p:spPr>
          <a:xfrm>
            <a:off x="7845552" y="1481328"/>
            <a:ext cx="868680" cy="777240"/>
          </a:xfrm>
          <a:prstGeom prst="rect">
            <a:avLst>
              <a:gd name="adj" fmla="val 5882"/>
            </a:avLst>
          </a:prstGeom>
          <a:solidFill>
            <a:srgbClr val="EF4444"/>
          </a:solidFill>
          <a:ln w="12700">
            <a:solidFill>
              <a:srgbClr val="EF4444"/>
            </a:solidFill>
            <a:prstDash val="solid"/>
          </a:ln>
          <a:effectLst>
            <a:outerShdw sx="100000" sy="100000" kx="0" ky="0" algn="bl" rotWithShape="0" blurRad="101600" dist="25400" dir="2700000">
              <a:srgbClr val="000000">
                <a:alpha val="12000"/>
              </a:srgbClr>
            </a:outerShdw>
          </a:effectLst>
        </p:spPr>
      </p:sp>
      <p:pic>
        <p:nvPicPr>
          <p:cNvPr id="38" name="Image 7" descr="preencoded.png">    </p:cNvPr>
          <p:cNvPicPr>
            <a:picLocks noChangeAspect="1"/>
          </p:cNvPicPr>
          <p:nvPr/>
        </p:nvPicPr>
        <p:blipFill>
          <a:blip r:embed="rId8"/>
          <a:stretch>
            <a:fillRect/>
          </a:stretch>
        </p:blipFill>
        <p:spPr>
          <a:xfrm>
            <a:off x="8138160" y="1536192"/>
            <a:ext cx="274320" cy="274320"/>
          </a:xfrm>
          <a:prstGeom prst="rect">
            <a:avLst/>
          </a:prstGeom>
        </p:spPr>
      </p:pic>
      <p:sp>
        <p:nvSpPr>
          <p:cNvPr id="39" name="Text 29"/>
          <p:cNvSpPr/>
          <p:nvPr/>
        </p:nvSpPr>
        <p:spPr>
          <a:xfrm>
            <a:off x="7845552" y="1828800"/>
            <a:ext cx="86868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Records</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Deleted</a:t>
            </a:r>
            <a:endParaRPr lang="en-US" sz="850" dirty="0"/>
          </a:p>
        </p:txBody>
      </p:sp>
      <p:sp>
        <p:nvSpPr>
          <p:cNvPr id="40" name="Text 30"/>
          <p:cNvSpPr/>
          <p:nvPr/>
        </p:nvSpPr>
        <p:spPr>
          <a:xfrm>
            <a:off x="4828032" y="2359152"/>
            <a:ext cx="3931920" cy="41148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Runs on schedule → queries notification table in RDS → deletes records older than threshold → frees storage and reduces query time</a:t>
            </a:r>
            <a:endParaRPr lang="en-US" sz="950" dirty="0"/>
          </a:p>
        </p:txBody>
      </p:sp>
      <p:sp>
        <p:nvSpPr>
          <p:cNvPr id="41" name="Shape 31"/>
          <p:cNvSpPr/>
          <p:nvPr/>
        </p:nvSpPr>
        <p:spPr>
          <a:xfrm>
            <a:off x="320040" y="2852928"/>
            <a:ext cx="8503920" cy="0"/>
          </a:xfrm>
          <a:prstGeom prst="line">
            <a:avLst/>
          </a:prstGeom>
          <a:noFill/>
          <a:ln w="8890">
            <a:solidFill>
              <a:srgbClr val="E8EEF4"/>
            </a:solidFill>
            <a:prstDash val="solid"/>
          </a:ln>
        </p:spPr>
      </p:sp>
      <p:sp>
        <p:nvSpPr>
          <p:cNvPr id="42" name="Shape 32"/>
          <p:cNvSpPr/>
          <p:nvPr/>
        </p:nvSpPr>
        <p:spPr>
          <a:xfrm>
            <a:off x="320040" y="2971800"/>
            <a:ext cx="8503920" cy="1828800"/>
          </a:xfrm>
          <a:prstGeom prst="rect">
            <a:avLst>
              <a:gd name="adj" fmla="val 2000"/>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43" name="Text 33"/>
          <p:cNvSpPr/>
          <p:nvPr/>
        </p:nvSpPr>
        <p:spPr>
          <a:xfrm>
            <a:off x="457200" y="3017520"/>
            <a:ext cx="8229600" cy="320040"/>
          </a:xfrm>
          <a:prstGeom prst="rect">
            <a:avLst/>
          </a:prstGeom>
          <a:noFill/>
          <a:ln/>
        </p:spPr>
        <p:txBody>
          <a:bodyPr wrap="square" lIns="0" tIns="0" rIns="0" bIns="0" rtlCol="0" anchor="ctr"/>
          <a:lstStyle/>
          <a:p>
            <a:pPr indent="0" marL="0">
              <a:buNone/>
            </a:pPr>
            <a:r>
              <a:rPr lang="en-US" sz="1400" b="1" dirty="0">
                <a:solidFill>
                  <a:srgbClr val="0073BB"/>
                </a:solidFill>
                <a:latin typeface="Cambria" pitchFamily="34" charset="0"/>
                <a:ea typeface="Cambria" pitchFamily="34" charset="-122"/>
                <a:cs typeface="Cambria" pitchFamily="34" charset="-120"/>
              </a:rPr>
              <a:t>Why Serverless for Automation?</a:t>
            </a:r>
            <a:endParaRPr lang="en-US" sz="1400" dirty="0"/>
          </a:p>
        </p:txBody>
      </p:sp>
      <p:sp>
        <p:nvSpPr>
          <p:cNvPr id="44" name="Shape 34"/>
          <p:cNvSpPr/>
          <p:nvPr/>
        </p:nvSpPr>
        <p:spPr>
          <a:xfrm>
            <a:off x="457200" y="3401568"/>
            <a:ext cx="402336" cy="402336"/>
          </a:xfrm>
          <a:prstGeom prst="oval">
            <a:avLst/>
          </a:prstGeom>
          <a:solidFill>
            <a:srgbClr val="22C55E"/>
          </a:solidFill>
          <a:ln w="12700">
            <a:solidFill>
              <a:srgbClr val="22C55E"/>
            </a:solidFill>
            <a:prstDash val="solid"/>
          </a:ln>
        </p:spPr>
      </p:sp>
      <p:pic>
        <p:nvPicPr>
          <p:cNvPr id="45" name="Image 8" descr="preencoded.png">    </p:cNvPr>
          <p:cNvPicPr>
            <a:picLocks noChangeAspect="1"/>
          </p:cNvPicPr>
          <p:nvPr/>
        </p:nvPicPr>
        <p:blipFill>
          <a:blip r:embed="rId9"/>
          <a:stretch>
            <a:fillRect/>
          </a:stretch>
        </p:blipFill>
        <p:spPr>
          <a:xfrm>
            <a:off x="537667" y="3482035"/>
            <a:ext cx="241402" cy="241402"/>
          </a:xfrm>
          <a:prstGeom prst="rect">
            <a:avLst/>
          </a:prstGeom>
        </p:spPr>
      </p:pic>
      <p:sp>
        <p:nvSpPr>
          <p:cNvPr id="46" name="Text 35"/>
          <p:cNvSpPr/>
          <p:nvPr/>
        </p:nvSpPr>
        <p:spPr>
          <a:xfrm>
            <a:off x="932688" y="3401568"/>
            <a:ext cx="1508760" cy="256032"/>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Cost Efficient</a:t>
            </a:r>
            <a:endParaRPr lang="en-US" sz="1050" dirty="0"/>
          </a:p>
        </p:txBody>
      </p:sp>
      <p:sp>
        <p:nvSpPr>
          <p:cNvPr id="47" name="Text 36"/>
          <p:cNvSpPr/>
          <p:nvPr/>
        </p:nvSpPr>
        <p:spPr>
          <a:xfrm>
            <a:off x="932688" y="3675888"/>
            <a:ext cx="150876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Pay only when Lambda executes — no idle costs</a:t>
            </a:r>
            <a:endParaRPr lang="en-US" sz="900" dirty="0"/>
          </a:p>
        </p:txBody>
      </p:sp>
      <p:sp>
        <p:nvSpPr>
          <p:cNvPr id="48" name="Shape 37"/>
          <p:cNvSpPr/>
          <p:nvPr/>
        </p:nvSpPr>
        <p:spPr>
          <a:xfrm>
            <a:off x="2560320" y="3401568"/>
            <a:ext cx="402336" cy="402336"/>
          </a:xfrm>
          <a:prstGeom prst="oval">
            <a:avLst/>
          </a:prstGeom>
          <a:solidFill>
            <a:srgbClr val="F97316"/>
          </a:solidFill>
          <a:ln w="12700">
            <a:solidFill>
              <a:srgbClr val="F97316"/>
            </a:solidFill>
            <a:prstDash val="solid"/>
          </a:ln>
        </p:spPr>
      </p:sp>
      <p:pic>
        <p:nvPicPr>
          <p:cNvPr id="49" name="Image 9" descr="preencoded.png">    </p:cNvPr>
          <p:cNvPicPr>
            <a:picLocks noChangeAspect="1"/>
          </p:cNvPicPr>
          <p:nvPr/>
        </p:nvPicPr>
        <p:blipFill>
          <a:blip r:embed="rId10"/>
          <a:stretch>
            <a:fillRect/>
          </a:stretch>
        </p:blipFill>
        <p:spPr>
          <a:xfrm>
            <a:off x="2640787" y="3482035"/>
            <a:ext cx="241402" cy="241402"/>
          </a:xfrm>
          <a:prstGeom prst="rect">
            <a:avLst/>
          </a:prstGeom>
        </p:spPr>
      </p:pic>
      <p:sp>
        <p:nvSpPr>
          <p:cNvPr id="50" name="Text 38"/>
          <p:cNvSpPr/>
          <p:nvPr/>
        </p:nvSpPr>
        <p:spPr>
          <a:xfrm>
            <a:off x="3035808" y="3401568"/>
            <a:ext cx="1508760" cy="256032"/>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Zero Server Mgmt</a:t>
            </a:r>
            <a:endParaRPr lang="en-US" sz="1050" dirty="0"/>
          </a:p>
        </p:txBody>
      </p:sp>
      <p:sp>
        <p:nvSpPr>
          <p:cNvPr id="51" name="Text 39"/>
          <p:cNvSpPr/>
          <p:nvPr/>
        </p:nvSpPr>
        <p:spPr>
          <a:xfrm>
            <a:off x="3035808" y="3675888"/>
            <a:ext cx="150876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No EC2 to patch or maintain for scheduled tasks</a:t>
            </a:r>
            <a:endParaRPr lang="en-US" sz="900" dirty="0"/>
          </a:p>
        </p:txBody>
      </p:sp>
      <p:sp>
        <p:nvSpPr>
          <p:cNvPr id="52" name="Shape 40"/>
          <p:cNvSpPr/>
          <p:nvPr/>
        </p:nvSpPr>
        <p:spPr>
          <a:xfrm>
            <a:off x="4663440" y="3401568"/>
            <a:ext cx="402336" cy="402336"/>
          </a:xfrm>
          <a:prstGeom prst="oval">
            <a:avLst/>
          </a:prstGeom>
          <a:solidFill>
            <a:srgbClr val="EAB308"/>
          </a:solidFill>
          <a:ln w="12700">
            <a:solidFill>
              <a:srgbClr val="EAB308"/>
            </a:solidFill>
            <a:prstDash val="solid"/>
          </a:ln>
        </p:spPr>
      </p:sp>
      <p:pic>
        <p:nvPicPr>
          <p:cNvPr id="53" name="Image 10" descr="preencoded.png">    </p:cNvPr>
          <p:cNvPicPr>
            <a:picLocks noChangeAspect="1"/>
          </p:cNvPicPr>
          <p:nvPr/>
        </p:nvPicPr>
        <p:blipFill>
          <a:blip r:embed="rId11"/>
          <a:stretch>
            <a:fillRect/>
          </a:stretch>
        </p:blipFill>
        <p:spPr>
          <a:xfrm>
            <a:off x="4743907" y="3482035"/>
            <a:ext cx="241402" cy="241402"/>
          </a:xfrm>
          <a:prstGeom prst="rect">
            <a:avLst/>
          </a:prstGeom>
        </p:spPr>
      </p:pic>
      <p:sp>
        <p:nvSpPr>
          <p:cNvPr id="54" name="Text 41"/>
          <p:cNvSpPr/>
          <p:nvPr/>
        </p:nvSpPr>
        <p:spPr>
          <a:xfrm>
            <a:off x="5138928" y="3401568"/>
            <a:ext cx="1508760" cy="256032"/>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Fully Automated</a:t>
            </a:r>
            <a:endParaRPr lang="en-US" sz="1050" dirty="0"/>
          </a:p>
        </p:txBody>
      </p:sp>
      <p:sp>
        <p:nvSpPr>
          <p:cNvPr id="55" name="Text 42"/>
          <p:cNvSpPr/>
          <p:nvPr/>
        </p:nvSpPr>
        <p:spPr>
          <a:xfrm>
            <a:off x="5138928" y="3675888"/>
            <a:ext cx="150876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EventBridge triggers on a cron — no manual intervention</a:t>
            </a:r>
            <a:endParaRPr lang="en-US" sz="900" dirty="0"/>
          </a:p>
        </p:txBody>
      </p:sp>
      <p:sp>
        <p:nvSpPr>
          <p:cNvPr id="56" name="Shape 43"/>
          <p:cNvSpPr/>
          <p:nvPr/>
        </p:nvSpPr>
        <p:spPr>
          <a:xfrm>
            <a:off x="6766560" y="3401568"/>
            <a:ext cx="402336" cy="402336"/>
          </a:xfrm>
          <a:prstGeom prst="oval">
            <a:avLst/>
          </a:prstGeom>
          <a:solidFill>
            <a:srgbClr val="7C3AED"/>
          </a:solidFill>
          <a:ln w="12700">
            <a:solidFill>
              <a:srgbClr val="7C3AED"/>
            </a:solidFill>
            <a:prstDash val="solid"/>
          </a:ln>
        </p:spPr>
      </p:sp>
      <p:pic>
        <p:nvPicPr>
          <p:cNvPr id="57" name="Image 11" descr="preencoded.png">    </p:cNvPr>
          <p:cNvPicPr>
            <a:picLocks noChangeAspect="1"/>
          </p:cNvPicPr>
          <p:nvPr/>
        </p:nvPicPr>
        <p:blipFill>
          <a:blip r:embed="rId12"/>
          <a:stretch>
            <a:fillRect/>
          </a:stretch>
        </p:blipFill>
        <p:spPr>
          <a:xfrm>
            <a:off x="6847027" y="3482035"/>
            <a:ext cx="241402" cy="241402"/>
          </a:xfrm>
          <a:prstGeom prst="rect">
            <a:avLst/>
          </a:prstGeom>
        </p:spPr>
      </p:pic>
      <p:sp>
        <p:nvSpPr>
          <p:cNvPr id="58" name="Text 44"/>
          <p:cNvSpPr/>
          <p:nvPr/>
        </p:nvSpPr>
        <p:spPr>
          <a:xfrm>
            <a:off x="7242048" y="3401568"/>
            <a:ext cx="1508760" cy="256032"/>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Scalable</a:t>
            </a:r>
            <a:endParaRPr lang="en-US" sz="1050" dirty="0"/>
          </a:p>
        </p:txBody>
      </p:sp>
      <p:sp>
        <p:nvSpPr>
          <p:cNvPr id="59" name="Text 45"/>
          <p:cNvSpPr/>
          <p:nvPr/>
        </p:nvSpPr>
        <p:spPr>
          <a:xfrm>
            <a:off x="7242048" y="3675888"/>
            <a:ext cx="150876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Lambda scales automatically with concurrent invocations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Monitoring &amp; Alerting</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CloudWatch metrics + alarms + SNS notifications for administrators</a:t>
            </a:r>
            <a:endParaRPr lang="en-US" sz="1100" dirty="0"/>
          </a:p>
        </p:txBody>
      </p:sp>
      <p:sp>
        <p:nvSpPr>
          <p:cNvPr id="5" name="Shape 3"/>
          <p:cNvSpPr/>
          <p:nvPr/>
        </p:nvSpPr>
        <p:spPr>
          <a:xfrm>
            <a:off x="320040" y="987552"/>
            <a:ext cx="4069080" cy="3794760"/>
          </a:xfrm>
          <a:prstGeom prst="rect">
            <a:avLst>
              <a:gd name="adj" fmla="val 964"/>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6" name="Text 4"/>
          <p:cNvSpPr/>
          <p:nvPr/>
        </p:nvSpPr>
        <p:spPr>
          <a:xfrm>
            <a:off x="457200" y="1051560"/>
            <a:ext cx="3840480" cy="320040"/>
          </a:xfrm>
          <a:prstGeom prst="rect">
            <a:avLst/>
          </a:prstGeom>
          <a:noFill/>
          <a:ln/>
        </p:spPr>
        <p:txBody>
          <a:bodyPr wrap="square" lIns="0" tIns="0" rIns="0" bIns="0" rtlCol="0" anchor="ctr"/>
          <a:lstStyle/>
          <a:p>
            <a:pPr indent="0" marL="0">
              <a:buNone/>
            </a:pPr>
            <a:r>
              <a:rPr lang="en-US" sz="1400" b="1" dirty="0">
                <a:solidFill>
                  <a:srgbClr val="EC4899"/>
                </a:solidFill>
                <a:latin typeface="Cambria" pitchFamily="34" charset="0"/>
                <a:ea typeface="Cambria" pitchFamily="34" charset="-122"/>
                <a:cs typeface="Cambria" pitchFamily="34" charset="-120"/>
              </a:rPr>
              <a:t>Monitored Resources</a:t>
            </a:r>
            <a:endParaRPr lang="en-US" sz="1400" dirty="0"/>
          </a:p>
        </p:txBody>
      </p:sp>
      <p:sp>
        <p:nvSpPr>
          <p:cNvPr id="7" name="Shape 5"/>
          <p:cNvSpPr/>
          <p:nvPr/>
        </p:nvSpPr>
        <p:spPr>
          <a:xfrm>
            <a:off x="411480" y="1472184"/>
            <a:ext cx="3886200" cy="0"/>
          </a:xfrm>
          <a:prstGeom prst="line">
            <a:avLst/>
          </a:prstGeom>
          <a:noFill/>
          <a:ln w="5080">
            <a:solidFill>
              <a:srgbClr val="E8EEF4"/>
            </a:solidFill>
            <a:prstDash val="solid"/>
          </a:ln>
        </p:spPr>
      </p:sp>
      <p:sp>
        <p:nvSpPr>
          <p:cNvPr id="8" name="Shape 6"/>
          <p:cNvSpPr/>
          <p:nvPr/>
        </p:nvSpPr>
        <p:spPr>
          <a:xfrm>
            <a:off x="475488" y="1499616"/>
            <a:ext cx="365760" cy="365760"/>
          </a:xfrm>
          <a:prstGeom prst="oval">
            <a:avLst/>
          </a:prstGeom>
          <a:solidFill>
            <a:srgbClr val="F97316"/>
          </a:solidFill>
          <a:ln w="12700">
            <a:solidFill>
              <a:srgbClr val="F97316"/>
            </a:solidFill>
            <a:prstDash val="solid"/>
          </a:ln>
        </p:spPr>
      </p:sp>
      <p:pic>
        <p:nvPicPr>
          <p:cNvPr id="9" name="Image 0" descr="preencoded.png">    </p:cNvPr>
          <p:cNvPicPr>
            <a:picLocks noChangeAspect="1"/>
          </p:cNvPicPr>
          <p:nvPr/>
        </p:nvPicPr>
        <p:blipFill>
          <a:blip r:embed="rId1"/>
          <a:stretch>
            <a:fillRect/>
          </a:stretch>
        </p:blipFill>
        <p:spPr>
          <a:xfrm>
            <a:off x="548640" y="1572768"/>
            <a:ext cx="219456" cy="219456"/>
          </a:xfrm>
          <a:prstGeom prst="rect">
            <a:avLst/>
          </a:prstGeom>
        </p:spPr>
      </p:pic>
      <p:sp>
        <p:nvSpPr>
          <p:cNvPr id="10" name="Text 7"/>
          <p:cNvSpPr/>
          <p:nvPr/>
        </p:nvSpPr>
        <p:spPr>
          <a:xfrm>
            <a:off x="932688" y="1527048"/>
            <a:ext cx="3291840" cy="219456"/>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EC2 Instances</a:t>
            </a:r>
            <a:endParaRPr lang="en-US" sz="1100" dirty="0"/>
          </a:p>
        </p:txBody>
      </p:sp>
      <p:sp>
        <p:nvSpPr>
          <p:cNvPr id="11" name="Text 8"/>
          <p:cNvSpPr/>
          <p:nvPr/>
        </p:nvSpPr>
        <p:spPr>
          <a:xfrm>
            <a:off x="932688" y="1737360"/>
            <a:ext cx="329184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CPU, NetworkIn, StatusCheck</a:t>
            </a:r>
            <a:endParaRPr lang="en-US" sz="900" dirty="0"/>
          </a:p>
        </p:txBody>
      </p:sp>
      <p:sp>
        <p:nvSpPr>
          <p:cNvPr id="12" name="Shape 9"/>
          <p:cNvSpPr/>
          <p:nvPr/>
        </p:nvSpPr>
        <p:spPr>
          <a:xfrm>
            <a:off x="411480" y="2020824"/>
            <a:ext cx="3886200" cy="0"/>
          </a:xfrm>
          <a:prstGeom prst="line">
            <a:avLst/>
          </a:prstGeom>
          <a:noFill/>
          <a:ln w="5080">
            <a:solidFill>
              <a:srgbClr val="E8EEF4"/>
            </a:solidFill>
            <a:prstDash val="solid"/>
          </a:ln>
        </p:spPr>
      </p:sp>
      <p:sp>
        <p:nvSpPr>
          <p:cNvPr id="13" name="Shape 10"/>
          <p:cNvSpPr/>
          <p:nvPr/>
        </p:nvSpPr>
        <p:spPr>
          <a:xfrm>
            <a:off x="475488" y="2048256"/>
            <a:ext cx="365760" cy="365760"/>
          </a:xfrm>
          <a:prstGeom prst="oval">
            <a:avLst/>
          </a:prstGeom>
          <a:solidFill>
            <a:srgbClr val="22C55E"/>
          </a:solidFill>
          <a:ln w="12700">
            <a:solidFill>
              <a:srgbClr val="22C55E"/>
            </a:solidFill>
            <a:prstDash val="solid"/>
          </a:ln>
        </p:spPr>
      </p:sp>
      <p:pic>
        <p:nvPicPr>
          <p:cNvPr id="14" name="Image 1" descr="preencoded.png">    </p:cNvPr>
          <p:cNvPicPr>
            <a:picLocks noChangeAspect="1"/>
          </p:cNvPicPr>
          <p:nvPr/>
        </p:nvPicPr>
        <p:blipFill>
          <a:blip r:embed="rId2"/>
          <a:stretch>
            <a:fillRect/>
          </a:stretch>
        </p:blipFill>
        <p:spPr>
          <a:xfrm>
            <a:off x="548640" y="2121408"/>
            <a:ext cx="219456" cy="219456"/>
          </a:xfrm>
          <a:prstGeom prst="rect">
            <a:avLst/>
          </a:prstGeom>
        </p:spPr>
      </p:pic>
      <p:sp>
        <p:nvSpPr>
          <p:cNvPr id="15" name="Text 11"/>
          <p:cNvSpPr/>
          <p:nvPr/>
        </p:nvSpPr>
        <p:spPr>
          <a:xfrm>
            <a:off x="932688" y="2075688"/>
            <a:ext cx="3291840" cy="219456"/>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App Load Balancer</a:t>
            </a:r>
            <a:endParaRPr lang="en-US" sz="1100" dirty="0"/>
          </a:p>
        </p:txBody>
      </p:sp>
      <p:sp>
        <p:nvSpPr>
          <p:cNvPr id="16" name="Text 12"/>
          <p:cNvSpPr/>
          <p:nvPr/>
        </p:nvSpPr>
        <p:spPr>
          <a:xfrm>
            <a:off x="932688" y="2286000"/>
            <a:ext cx="329184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RequestCount, TargetResponseTime, 5xx</a:t>
            </a:r>
            <a:endParaRPr lang="en-US" sz="900" dirty="0"/>
          </a:p>
        </p:txBody>
      </p:sp>
      <p:sp>
        <p:nvSpPr>
          <p:cNvPr id="17" name="Shape 13"/>
          <p:cNvSpPr/>
          <p:nvPr/>
        </p:nvSpPr>
        <p:spPr>
          <a:xfrm>
            <a:off x="411480" y="2569464"/>
            <a:ext cx="3886200" cy="0"/>
          </a:xfrm>
          <a:prstGeom prst="line">
            <a:avLst/>
          </a:prstGeom>
          <a:noFill/>
          <a:ln w="5080">
            <a:solidFill>
              <a:srgbClr val="E8EEF4"/>
            </a:solidFill>
            <a:prstDash val="solid"/>
          </a:ln>
        </p:spPr>
      </p:sp>
      <p:sp>
        <p:nvSpPr>
          <p:cNvPr id="18" name="Shape 14"/>
          <p:cNvSpPr/>
          <p:nvPr/>
        </p:nvSpPr>
        <p:spPr>
          <a:xfrm>
            <a:off x="475488" y="2596896"/>
            <a:ext cx="365760" cy="365760"/>
          </a:xfrm>
          <a:prstGeom prst="oval">
            <a:avLst/>
          </a:prstGeom>
          <a:solidFill>
            <a:srgbClr val="A855F7"/>
          </a:solidFill>
          <a:ln w="12700">
            <a:solidFill>
              <a:srgbClr val="A855F7"/>
            </a:solidFill>
            <a:prstDash val="solid"/>
          </a:ln>
        </p:spPr>
      </p:sp>
      <p:pic>
        <p:nvPicPr>
          <p:cNvPr id="19" name="Image 2" descr="preencoded.png">    </p:cNvPr>
          <p:cNvPicPr>
            <a:picLocks noChangeAspect="1"/>
          </p:cNvPicPr>
          <p:nvPr/>
        </p:nvPicPr>
        <p:blipFill>
          <a:blip r:embed="rId3"/>
          <a:stretch>
            <a:fillRect/>
          </a:stretch>
        </p:blipFill>
        <p:spPr>
          <a:xfrm>
            <a:off x="548640" y="2670048"/>
            <a:ext cx="219456" cy="219456"/>
          </a:xfrm>
          <a:prstGeom prst="rect">
            <a:avLst/>
          </a:prstGeom>
        </p:spPr>
      </p:pic>
      <p:sp>
        <p:nvSpPr>
          <p:cNvPr id="20" name="Text 15"/>
          <p:cNvSpPr/>
          <p:nvPr/>
        </p:nvSpPr>
        <p:spPr>
          <a:xfrm>
            <a:off x="932688" y="2624328"/>
            <a:ext cx="3291840" cy="219456"/>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RDS PostgreSQL</a:t>
            </a:r>
            <a:endParaRPr lang="en-US" sz="1100" dirty="0"/>
          </a:p>
        </p:txBody>
      </p:sp>
      <p:sp>
        <p:nvSpPr>
          <p:cNvPr id="21" name="Text 16"/>
          <p:cNvSpPr/>
          <p:nvPr/>
        </p:nvSpPr>
        <p:spPr>
          <a:xfrm>
            <a:off x="932688" y="2834640"/>
            <a:ext cx="329184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FreeStorageSpace, DatabaseConnections</a:t>
            </a:r>
            <a:endParaRPr lang="en-US" sz="900" dirty="0"/>
          </a:p>
        </p:txBody>
      </p:sp>
      <p:sp>
        <p:nvSpPr>
          <p:cNvPr id="22" name="Shape 17"/>
          <p:cNvSpPr/>
          <p:nvPr/>
        </p:nvSpPr>
        <p:spPr>
          <a:xfrm>
            <a:off x="411480" y="3118104"/>
            <a:ext cx="3886200" cy="0"/>
          </a:xfrm>
          <a:prstGeom prst="line">
            <a:avLst/>
          </a:prstGeom>
          <a:noFill/>
          <a:ln w="5080">
            <a:solidFill>
              <a:srgbClr val="E8EEF4"/>
            </a:solidFill>
            <a:prstDash val="solid"/>
          </a:ln>
        </p:spPr>
      </p:sp>
      <p:sp>
        <p:nvSpPr>
          <p:cNvPr id="23" name="Shape 18"/>
          <p:cNvSpPr/>
          <p:nvPr/>
        </p:nvSpPr>
        <p:spPr>
          <a:xfrm>
            <a:off x="475488" y="3145536"/>
            <a:ext cx="365760" cy="365760"/>
          </a:xfrm>
          <a:prstGeom prst="oval">
            <a:avLst/>
          </a:prstGeom>
          <a:solidFill>
            <a:srgbClr val="EAB308"/>
          </a:solidFill>
          <a:ln w="12700">
            <a:solidFill>
              <a:srgbClr val="EAB308"/>
            </a:solidFill>
            <a:prstDash val="solid"/>
          </a:ln>
        </p:spPr>
      </p:sp>
      <p:pic>
        <p:nvPicPr>
          <p:cNvPr id="24" name="Image 3" descr="preencoded.png">    </p:cNvPr>
          <p:cNvPicPr>
            <a:picLocks noChangeAspect="1"/>
          </p:cNvPicPr>
          <p:nvPr/>
        </p:nvPicPr>
        <p:blipFill>
          <a:blip r:embed="rId4"/>
          <a:stretch>
            <a:fillRect/>
          </a:stretch>
        </p:blipFill>
        <p:spPr>
          <a:xfrm>
            <a:off x="548640" y="3218688"/>
            <a:ext cx="219456" cy="219456"/>
          </a:xfrm>
          <a:prstGeom prst="rect">
            <a:avLst/>
          </a:prstGeom>
        </p:spPr>
      </p:pic>
      <p:sp>
        <p:nvSpPr>
          <p:cNvPr id="25" name="Text 19"/>
          <p:cNvSpPr/>
          <p:nvPr/>
        </p:nvSpPr>
        <p:spPr>
          <a:xfrm>
            <a:off x="932688" y="3172968"/>
            <a:ext cx="3291840" cy="219456"/>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Lambda Functions</a:t>
            </a:r>
            <a:endParaRPr lang="en-US" sz="1100" dirty="0"/>
          </a:p>
        </p:txBody>
      </p:sp>
      <p:sp>
        <p:nvSpPr>
          <p:cNvPr id="26" name="Text 20"/>
          <p:cNvSpPr/>
          <p:nvPr/>
        </p:nvSpPr>
        <p:spPr>
          <a:xfrm>
            <a:off x="932688" y="3383280"/>
            <a:ext cx="329184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Invocations, Errors, Duration</a:t>
            </a:r>
            <a:endParaRPr lang="en-US" sz="900" dirty="0"/>
          </a:p>
        </p:txBody>
      </p:sp>
      <p:sp>
        <p:nvSpPr>
          <p:cNvPr id="27" name="Shape 21"/>
          <p:cNvSpPr/>
          <p:nvPr/>
        </p:nvSpPr>
        <p:spPr>
          <a:xfrm>
            <a:off x="411480" y="3666744"/>
            <a:ext cx="3886200" cy="0"/>
          </a:xfrm>
          <a:prstGeom prst="line">
            <a:avLst/>
          </a:prstGeom>
          <a:noFill/>
          <a:ln w="5080">
            <a:solidFill>
              <a:srgbClr val="E8EEF4"/>
            </a:solidFill>
            <a:prstDash val="solid"/>
          </a:ln>
        </p:spPr>
      </p:sp>
      <p:sp>
        <p:nvSpPr>
          <p:cNvPr id="28" name="Shape 22"/>
          <p:cNvSpPr/>
          <p:nvPr/>
        </p:nvSpPr>
        <p:spPr>
          <a:xfrm>
            <a:off x="475488" y="3694176"/>
            <a:ext cx="365760" cy="365760"/>
          </a:xfrm>
          <a:prstGeom prst="oval">
            <a:avLst/>
          </a:prstGeom>
          <a:solidFill>
            <a:srgbClr val="3B82F6"/>
          </a:solidFill>
          <a:ln w="12700">
            <a:solidFill>
              <a:srgbClr val="3B82F6"/>
            </a:solidFill>
            <a:prstDash val="solid"/>
          </a:ln>
        </p:spPr>
      </p:sp>
      <p:pic>
        <p:nvPicPr>
          <p:cNvPr id="29" name="Image 4" descr="preencoded.png">    </p:cNvPr>
          <p:cNvPicPr>
            <a:picLocks noChangeAspect="1"/>
          </p:cNvPicPr>
          <p:nvPr/>
        </p:nvPicPr>
        <p:blipFill>
          <a:blip r:embed="rId5"/>
          <a:stretch>
            <a:fillRect/>
          </a:stretch>
        </p:blipFill>
        <p:spPr>
          <a:xfrm>
            <a:off x="548640" y="3767328"/>
            <a:ext cx="219456" cy="219456"/>
          </a:xfrm>
          <a:prstGeom prst="rect">
            <a:avLst/>
          </a:prstGeom>
        </p:spPr>
      </p:pic>
      <p:sp>
        <p:nvSpPr>
          <p:cNvPr id="30" name="Text 23"/>
          <p:cNvSpPr/>
          <p:nvPr/>
        </p:nvSpPr>
        <p:spPr>
          <a:xfrm>
            <a:off x="932688" y="3721608"/>
            <a:ext cx="3291840" cy="219456"/>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CloudFront</a:t>
            </a:r>
            <a:endParaRPr lang="en-US" sz="1100" dirty="0"/>
          </a:p>
        </p:txBody>
      </p:sp>
      <p:sp>
        <p:nvSpPr>
          <p:cNvPr id="31" name="Text 24"/>
          <p:cNvSpPr/>
          <p:nvPr/>
        </p:nvSpPr>
        <p:spPr>
          <a:xfrm>
            <a:off x="932688" y="3931920"/>
            <a:ext cx="329184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Requests, Error Rate, Cache Hit Rate</a:t>
            </a:r>
            <a:endParaRPr lang="en-US" sz="900" dirty="0"/>
          </a:p>
        </p:txBody>
      </p:sp>
      <p:sp>
        <p:nvSpPr>
          <p:cNvPr id="32" name="Shape 25"/>
          <p:cNvSpPr/>
          <p:nvPr/>
        </p:nvSpPr>
        <p:spPr>
          <a:xfrm>
            <a:off x="411480" y="4215384"/>
            <a:ext cx="3886200" cy="0"/>
          </a:xfrm>
          <a:prstGeom prst="line">
            <a:avLst/>
          </a:prstGeom>
          <a:noFill/>
          <a:ln w="5080">
            <a:solidFill>
              <a:srgbClr val="E8EEF4"/>
            </a:solidFill>
            <a:prstDash val="solid"/>
          </a:ln>
        </p:spPr>
      </p:sp>
      <p:sp>
        <p:nvSpPr>
          <p:cNvPr id="33" name="Shape 26"/>
          <p:cNvSpPr/>
          <p:nvPr/>
        </p:nvSpPr>
        <p:spPr>
          <a:xfrm>
            <a:off x="475488" y="4242816"/>
            <a:ext cx="365760" cy="365760"/>
          </a:xfrm>
          <a:prstGeom prst="oval">
            <a:avLst/>
          </a:prstGeom>
          <a:solidFill>
            <a:srgbClr val="EF4444"/>
          </a:solidFill>
          <a:ln w="12700">
            <a:solidFill>
              <a:srgbClr val="EF4444"/>
            </a:solidFill>
            <a:prstDash val="solid"/>
          </a:ln>
        </p:spPr>
      </p:sp>
      <p:pic>
        <p:nvPicPr>
          <p:cNvPr id="34" name="Image 5" descr="preencoded.png">    </p:cNvPr>
          <p:cNvPicPr>
            <a:picLocks noChangeAspect="1"/>
          </p:cNvPicPr>
          <p:nvPr/>
        </p:nvPicPr>
        <p:blipFill>
          <a:blip r:embed="rId6"/>
          <a:stretch>
            <a:fillRect/>
          </a:stretch>
        </p:blipFill>
        <p:spPr>
          <a:xfrm>
            <a:off x="548640" y="4315968"/>
            <a:ext cx="219456" cy="219456"/>
          </a:xfrm>
          <a:prstGeom prst="rect">
            <a:avLst/>
          </a:prstGeom>
        </p:spPr>
      </p:pic>
      <p:sp>
        <p:nvSpPr>
          <p:cNvPr id="35" name="Text 27"/>
          <p:cNvSpPr/>
          <p:nvPr/>
        </p:nvSpPr>
        <p:spPr>
          <a:xfrm>
            <a:off x="932688" y="4270248"/>
            <a:ext cx="3291840" cy="219456"/>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AWS WAF</a:t>
            </a:r>
            <a:endParaRPr lang="en-US" sz="1100" dirty="0"/>
          </a:p>
        </p:txBody>
      </p:sp>
      <p:sp>
        <p:nvSpPr>
          <p:cNvPr id="36" name="Text 28"/>
          <p:cNvSpPr/>
          <p:nvPr/>
        </p:nvSpPr>
        <p:spPr>
          <a:xfrm>
            <a:off x="932688" y="4480560"/>
            <a:ext cx="329184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BlockedRequests, AllowedRequests</a:t>
            </a:r>
            <a:endParaRPr lang="en-US" sz="900" dirty="0"/>
          </a:p>
        </p:txBody>
      </p:sp>
      <p:sp>
        <p:nvSpPr>
          <p:cNvPr id="37" name="Shape 29"/>
          <p:cNvSpPr/>
          <p:nvPr/>
        </p:nvSpPr>
        <p:spPr>
          <a:xfrm>
            <a:off x="4663440" y="987552"/>
            <a:ext cx="4160520" cy="3794760"/>
          </a:xfrm>
          <a:prstGeom prst="rect">
            <a:avLst>
              <a:gd name="adj" fmla="val 964"/>
            </a:avLst>
          </a:prstGeom>
          <a:solidFill>
            <a:srgbClr val="1A2C42"/>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38" name="Text 30"/>
          <p:cNvSpPr/>
          <p:nvPr/>
        </p:nvSpPr>
        <p:spPr>
          <a:xfrm>
            <a:off x="4754880" y="1051560"/>
            <a:ext cx="3977640" cy="320040"/>
          </a:xfrm>
          <a:prstGeom prst="rect">
            <a:avLst/>
          </a:prstGeom>
          <a:noFill/>
          <a:ln/>
        </p:spPr>
        <p:txBody>
          <a:bodyPr wrap="square" lIns="0" tIns="0" rIns="0" bIns="0" rtlCol="0" anchor="ctr"/>
          <a:lstStyle/>
          <a:p>
            <a:pPr algn="ctr" indent="0" marL="0">
              <a:buNone/>
            </a:pPr>
            <a:r>
              <a:rPr lang="en-US" sz="1400" b="1" dirty="0">
                <a:solidFill>
                  <a:srgbClr val="FF9900"/>
                </a:solidFill>
                <a:latin typeface="Cambria" pitchFamily="34" charset="0"/>
                <a:ea typeface="Cambria" pitchFamily="34" charset="-122"/>
                <a:cs typeface="Cambria" pitchFamily="34" charset="-120"/>
              </a:rPr>
              <a:t>Alerting Pipeline</a:t>
            </a:r>
            <a:endParaRPr lang="en-US" sz="1400" dirty="0"/>
          </a:p>
        </p:txBody>
      </p:sp>
      <p:sp>
        <p:nvSpPr>
          <p:cNvPr id="39" name="Shape 31"/>
          <p:cNvSpPr/>
          <p:nvPr/>
        </p:nvSpPr>
        <p:spPr>
          <a:xfrm>
            <a:off x="5577840" y="1508760"/>
            <a:ext cx="2286000" cy="566928"/>
          </a:xfrm>
          <a:prstGeom prst="rect">
            <a:avLst>
              <a:gd name="adj" fmla="val 6452"/>
            </a:avLst>
          </a:prstGeom>
          <a:solidFill>
            <a:srgbClr val="EC4899"/>
          </a:solidFill>
          <a:ln w="12700">
            <a:solidFill>
              <a:srgbClr val="EC4899"/>
            </a:solidFill>
            <a:prstDash val="solid"/>
          </a:ln>
          <a:effectLst>
            <a:outerShdw sx="100000" sy="100000" kx="0" ky="0" algn="bl" rotWithShape="0" blurRad="101600" dist="25400" dir="2700000">
              <a:srgbClr val="000000">
                <a:alpha val="12000"/>
              </a:srgbClr>
            </a:outerShdw>
          </a:effectLst>
        </p:spPr>
      </p:sp>
      <p:pic>
        <p:nvPicPr>
          <p:cNvPr id="40" name="Image 6" descr="preencoded.png">    </p:cNvPr>
          <p:cNvPicPr>
            <a:picLocks noChangeAspect="1"/>
          </p:cNvPicPr>
          <p:nvPr/>
        </p:nvPicPr>
        <p:blipFill>
          <a:blip r:embed="rId7"/>
          <a:stretch>
            <a:fillRect/>
          </a:stretch>
        </p:blipFill>
        <p:spPr>
          <a:xfrm>
            <a:off x="5687568" y="1636776"/>
            <a:ext cx="256032" cy="256032"/>
          </a:xfrm>
          <a:prstGeom prst="rect">
            <a:avLst/>
          </a:prstGeom>
        </p:spPr>
      </p:pic>
      <p:sp>
        <p:nvSpPr>
          <p:cNvPr id="41" name="Text 32"/>
          <p:cNvSpPr/>
          <p:nvPr/>
        </p:nvSpPr>
        <p:spPr>
          <a:xfrm>
            <a:off x="5998464" y="1636776"/>
            <a:ext cx="1645920" cy="32004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CloudWatch</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Metrics</a:t>
            </a:r>
            <a:endParaRPr lang="en-US" sz="1000" dirty="0"/>
          </a:p>
        </p:txBody>
      </p:sp>
      <p:sp>
        <p:nvSpPr>
          <p:cNvPr id="42" name="Shape 33"/>
          <p:cNvSpPr/>
          <p:nvPr/>
        </p:nvSpPr>
        <p:spPr>
          <a:xfrm>
            <a:off x="6720840" y="2075688"/>
            <a:ext cx="0" cy="237744"/>
          </a:xfrm>
          <a:prstGeom prst="line">
            <a:avLst/>
          </a:prstGeom>
          <a:noFill/>
          <a:ln w="25400">
            <a:solidFill>
              <a:srgbClr val="FF9900"/>
            </a:solidFill>
            <a:prstDash val="solid"/>
            <a:tailEnd type="arrow"/>
          </a:ln>
        </p:spPr>
      </p:sp>
      <p:sp>
        <p:nvSpPr>
          <p:cNvPr id="43" name="Shape 34"/>
          <p:cNvSpPr/>
          <p:nvPr/>
        </p:nvSpPr>
        <p:spPr>
          <a:xfrm>
            <a:off x="5577840" y="2313432"/>
            <a:ext cx="2286000" cy="566928"/>
          </a:xfrm>
          <a:prstGeom prst="rect">
            <a:avLst>
              <a:gd name="adj" fmla="val 6452"/>
            </a:avLst>
          </a:prstGeom>
          <a:solidFill>
            <a:srgbClr val="EAB308"/>
          </a:solidFill>
          <a:ln w="12700">
            <a:solidFill>
              <a:srgbClr val="EAB308"/>
            </a:solidFill>
            <a:prstDash val="solid"/>
          </a:ln>
          <a:effectLst>
            <a:outerShdw sx="100000" sy="100000" kx="0" ky="0" algn="bl" rotWithShape="0" blurRad="101600" dist="25400" dir="2700000">
              <a:srgbClr val="000000">
                <a:alpha val="12000"/>
              </a:srgbClr>
            </a:outerShdw>
          </a:effectLst>
        </p:spPr>
      </p:sp>
      <p:pic>
        <p:nvPicPr>
          <p:cNvPr id="44" name="Image 7" descr="preencoded.png">    </p:cNvPr>
          <p:cNvPicPr>
            <a:picLocks noChangeAspect="1"/>
          </p:cNvPicPr>
          <p:nvPr/>
        </p:nvPicPr>
        <p:blipFill>
          <a:blip r:embed="rId8"/>
          <a:stretch>
            <a:fillRect/>
          </a:stretch>
        </p:blipFill>
        <p:spPr>
          <a:xfrm>
            <a:off x="5687568" y="2441448"/>
            <a:ext cx="256032" cy="256032"/>
          </a:xfrm>
          <a:prstGeom prst="rect">
            <a:avLst/>
          </a:prstGeom>
        </p:spPr>
      </p:pic>
      <p:sp>
        <p:nvSpPr>
          <p:cNvPr id="45" name="Text 35"/>
          <p:cNvSpPr/>
          <p:nvPr/>
        </p:nvSpPr>
        <p:spPr>
          <a:xfrm>
            <a:off x="5998464" y="2441448"/>
            <a:ext cx="1645920" cy="32004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CloudWatch</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Alarms</a:t>
            </a:r>
            <a:endParaRPr lang="en-US" sz="1000" dirty="0"/>
          </a:p>
        </p:txBody>
      </p:sp>
      <p:sp>
        <p:nvSpPr>
          <p:cNvPr id="46" name="Shape 36"/>
          <p:cNvSpPr/>
          <p:nvPr/>
        </p:nvSpPr>
        <p:spPr>
          <a:xfrm>
            <a:off x="6720840" y="2880360"/>
            <a:ext cx="0" cy="237744"/>
          </a:xfrm>
          <a:prstGeom prst="line">
            <a:avLst/>
          </a:prstGeom>
          <a:noFill/>
          <a:ln w="25400">
            <a:solidFill>
              <a:srgbClr val="FF9900"/>
            </a:solidFill>
            <a:prstDash val="solid"/>
            <a:tailEnd type="arrow"/>
          </a:ln>
        </p:spPr>
      </p:sp>
      <p:sp>
        <p:nvSpPr>
          <p:cNvPr id="47" name="Shape 37"/>
          <p:cNvSpPr/>
          <p:nvPr/>
        </p:nvSpPr>
        <p:spPr>
          <a:xfrm>
            <a:off x="5577840" y="3118104"/>
            <a:ext cx="2286000" cy="566928"/>
          </a:xfrm>
          <a:prstGeom prst="rect">
            <a:avLst>
              <a:gd name="adj" fmla="val 6452"/>
            </a:avLst>
          </a:prstGeom>
          <a:solidFill>
            <a:srgbClr val="F97316"/>
          </a:solidFill>
          <a:ln w="12700">
            <a:solidFill>
              <a:srgbClr val="F97316"/>
            </a:solidFill>
            <a:prstDash val="solid"/>
          </a:ln>
          <a:effectLst>
            <a:outerShdw sx="100000" sy="100000" kx="0" ky="0" algn="bl" rotWithShape="0" blurRad="101600" dist="25400" dir="2700000">
              <a:srgbClr val="000000">
                <a:alpha val="12000"/>
              </a:srgbClr>
            </a:outerShdw>
          </a:effectLst>
        </p:spPr>
      </p:sp>
      <p:pic>
        <p:nvPicPr>
          <p:cNvPr id="48" name="Image 8" descr="preencoded.png">    </p:cNvPr>
          <p:cNvPicPr>
            <a:picLocks noChangeAspect="1"/>
          </p:cNvPicPr>
          <p:nvPr/>
        </p:nvPicPr>
        <p:blipFill>
          <a:blip r:embed="rId9"/>
          <a:stretch>
            <a:fillRect/>
          </a:stretch>
        </p:blipFill>
        <p:spPr>
          <a:xfrm>
            <a:off x="5687568" y="3246120"/>
            <a:ext cx="256032" cy="256032"/>
          </a:xfrm>
          <a:prstGeom prst="rect">
            <a:avLst/>
          </a:prstGeom>
        </p:spPr>
      </p:pic>
      <p:sp>
        <p:nvSpPr>
          <p:cNvPr id="49" name="Text 38"/>
          <p:cNvSpPr/>
          <p:nvPr/>
        </p:nvSpPr>
        <p:spPr>
          <a:xfrm>
            <a:off x="5998464" y="3246120"/>
            <a:ext cx="1645920" cy="32004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Amazon</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SNS Topic</a:t>
            </a:r>
            <a:endParaRPr lang="en-US" sz="1000" dirty="0"/>
          </a:p>
        </p:txBody>
      </p:sp>
      <p:sp>
        <p:nvSpPr>
          <p:cNvPr id="50" name="Shape 39"/>
          <p:cNvSpPr/>
          <p:nvPr/>
        </p:nvSpPr>
        <p:spPr>
          <a:xfrm>
            <a:off x="6720840" y="3685032"/>
            <a:ext cx="0" cy="237744"/>
          </a:xfrm>
          <a:prstGeom prst="line">
            <a:avLst/>
          </a:prstGeom>
          <a:noFill/>
          <a:ln w="25400">
            <a:solidFill>
              <a:srgbClr val="FF9900"/>
            </a:solidFill>
            <a:prstDash val="solid"/>
            <a:tailEnd type="arrow"/>
          </a:ln>
        </p:spPr>
      </p:sp>
      <p:sp>
        <p:nvSpPr>
          <p:cNvPr id="51" name="Shape 40"/>
          <p:cNvSpPr/>
          <p:nvPr/>
        </p:nvSpPr>
        <p:spPr>
          <a:xfrm>
            <a:off x="5577840" y="3922776"/>
            <a:ext cx="2286000" cy="566928"/>
          </a:xfrm>
          <a:prstGeom prst="rect">
            <a:avLst>
              <a:gd name="adj" fmla="val 6452"/>
            </a:avLst>
          </a:prstGeom>
          <a:solidFill>
            <a:srgbClr val="22C55E"/>
          </a:solidFill>
          <a:ln w="12700">
            <a:solidFill>
              <a:srgbClr val="22C55E"/>
            </a:solidFill>
            <a:prstDash val="solid"/>
          </a:ln>
          <a:effectLst>
            <a:outerShdw sx="100000" sy="100000" kx="0" ky="0" algn="bl" rotWithShape="0" blurRad="101600" dist="25400" dir="2700000">
              <a:srgbClr val="000000">
                <a:alpha val="12000"/>
              </a:srgbClr>
            </a:outerShdw>
          </a:effectLst>
        </p:spPr>
      </p:sp>
      <p:pic>
        <p:nvPicPr>
          <p:cNvPr id="52" name="Image 9" descr="preencoded.png">    </p:cNvPr>
          <p:cNvPicPr>
            <a:picLocks noChangeAspect="1"/>
          </p:cNvPicPr>
          <p:nvPr/>
        </p:nvPicPr>
        <p:blipFill>
          <a:blip r:embed="rId10"/>
          <a:stretch>
            <a:fillRect/>
          </a:stretch>
        </p:blipFill>
        <p:spPr>
          <a:xfrm>
            <a:off x="5687568" y="4050792"/>
            <a:ext cx="256032" cy="256032"/>
          </a:xfrm>
          <a:prstGeom prst="rect">
            <a:avLst/>
          </a:prstGeom>
        </p:spPr>
      </p:pic>
      <p:sp>
        <p:nvSpPr>
          <p:cNvPr id="53" name="Text 41"/>
          <p:cNvSpPr/>
          <p:nvPr/>
        </p:nvSpPr>
        <p:spPr>
          <a:xfrm>
            <a:off x="5998464" y="4050792"/>
            <a:ext cx="1645920" cy="32004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Admin</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Email Alert</a:t>
            </a:r>
            <a:endParaRPr lang="en-US" sz="1000" dirty="0"/>
          </a:p>
        </p:txBody>
      </p:sp>
      <p:sp>
        <p:nvSpPr>
          <p:cNvPr id="54" name="Text 42"/>
          <p:cNvSpPr/>
          <p:nvPr/>
        </p:nvSpPr>
        <p:spPr>
          <a:xfrm>
            <a:off x="4709160" y="4681728"/>
            <a:ext cx="4069080" cy="320040"/>
          </a:xfrm>
          <a:prstGeom prst="rect">
            <a:avLst/>
          </a:prstGeom>
          <a:noFill/>
          <a:ln/>
        </p:spPr>
        <p:txBody>
          <a:bodyPr wrap="square" lIns="0" tIns="0" rIns="0" bIns="0" rtlCol="0" anchor="ctr"/>
          <a:lstStyle/>
          <a:p>
            <a:pPr algn="ctr" indent="0" marL="0">
              <a:buNone/>
            </a:pPr>
            <a:r>
              <a:rPr lang="en-US" sz="900" i="1" dirty="0">
                <a:solidFill>
                  <a:srgbClr val="A0BDD0"/>
                </a:solidFill>
                <a:latin typeface="Calibri" pitchFamily="34" charset="0"/>
                <a:ea typeface="Calibri" pitchFamily="34" charset="-122"/>
                <a:cs typeface="Calibri" pitchFamily="34" charset="-120"/>
              </a:rPr>
              <a:t>Alarm thresholds defined in Terraform</a:t>
            </a:r>
            <a:endParaRPr lang="en-US" sz="900" dirty="0"/>
          </a:p>
          <a:p>
            <a:pPr algn="ctr" indent="0" marL="0">
              <a:buNone/>
            </a:pPr>
            <a:r>
              <a:rPr lang="en-US" sz="900" i="1" dirty="0">
                <a:solidFill>
                  <a:srgbClr val="A0BDD0"/>
                </a:solidFill>
                <a:latin typeface="Calibri" pitchFamily="34" charset="0"/>
                <a:ea typeface="Calibri" pitchFamily="34" charset="-122"/>
                <a:cs typeface="Calibri" pitchFamily="34" charset="-120"/>
              </a:rPr>
              <a:t>cloudwatch module — no manual setup</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073BB"/>
          </a:solidFill>
          <a:ln w="12700">
            <a:solidFill>
              <a:srgbClr val="0073BB"/>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CloudFront &amp; WAF</a:t>
            </a:r>
            <a:endParaRPr lang="en-US" sz="2600" dirty="0"/>
          </a:p>
        </p:txBody>
      </p:sp>
      <p:sp>
        <p:nvSpPr>
          <p:cNvPr id="4" name="Text 2"/>
          <p:cNvSpPr/>
          <p:nvPr/>
        </p:nvSpPr>
        <p:spPr>
          <a:xfrm>
            <a:off x="365760" y="749808"/>
            <a:ext cx="84124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Edge services — global content delivery and web application firewall</a:t>
            </a:r>
            <a:endParaRPr lang="en-US" sz="1100" dirty="0"/>
          </a:p>
        </p:txBody>
      </p:sp>
      <p:sp>
        <p:nvSpPr>
          <p:cNvPr id="5" name="Shape 3"/>
          <p:cNvSpPr/>
          <p:nvPr/>
        </p:nvSpPr>
        <p:spPr>
          <a:xfrm>
            <a:off x="320040" y="987552"/>
            <a:ext cx="4069080" cy="3794760"/>
          </a:xfrm>
          <a:prstGeom prst="rect">
            <a:avLst>
              <a:gd name="adj" fmla="val 964"/>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6" name="Shape 4"/>
          <p:cNvSpPr/>
          <p:nvPr/>
        </p:nvSpPr>
        <p:spPr>
          <a:xfrm>
            <a:off x="320040" y="987552"/>
            <a:ext cx="4069080" cy="384048"/>
          </a:xfrm>
          <a:prstGeom prst="rect">
            <a:avLst>
              <a:gd name="adj" fmla="val 9524"/>
            </a:avLst>
          </a:prstGeom>
          <a:solidFill>
            <a:srgbClr val="3B82F6"/>
          </a:solidFill>
          <a:ln w="12700">
            <a:solidFill>
              <a:srgbClr val="3B82F6"/>
            </a:solidFill>
            <a:prstDash val="solid"/>
          </a:ln>
        </p:spPr>
      </p:sp>
      <p:pic>
        <p:nvPicPr>
          <p:cNvPr id="7" name="Image 0" descr="preencoded.png">    </p:cNvPr>
          <p:cNvPicPr>
            <a:picLocks noChangeAspect="1"/>
          </p:cNvPicPr>
          <p:nvPr/>
        </p:nvPicPr>
        <p:blipFill>
          <a:blip r:embed="rId1"/>
          <a:stretch>
            <a:fillRect/>
          </a:stretch>
        </p:blipFill>
        <p:spPr>
          <a:xfrm>
            <a:off x="438912" y="1024128"/>
            <a:ext cx="274320" cy="274320"/>
          </a:xfrm>
          <a:prstGeom prst="rect">
            <a:avLst/>
          </a:prstGeom>
        </p:spPr>
      </p:pic>
      <p:sp>
        <p:nvSpPr>
          <p:cNvPr id="8" name="Text 5"/>
          <p:cNvSpPr/>
          <p:nvPr/>
        </p:nvSpPr>
        <p:spPr>
          <a:xfrm>
            <a:off x="777240" y="1051560"/>
            <a:ext cx="347472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Amazon CloudFront</a:t>
            </a:r>
            <a:endParaRPr lang="en-US" sz="1300" dirty="0"/>
          </a:p>
        </p:txBody>
      </p:sp>
      <p:sp>
        <p:nvSpPr>
          <p:cNvPr id="9" name="Shape 6"/>
          <p:cNvSpPr/>
          <p:nvPr/>
        </p:nvSpPr>
        <p:spPr>
          <a:xfrm>
            <a:off x="438912" y="1508760"/>
            <a:ext cx="3840480" cy="658368"/>
          </a:xfrm>
          <a:prstGeom prst="rect">
            <a:avLst>
              <a:gd name="adj" fmla="val 5556"/>
            </a:avLst>
          </a:prstGeom>
          <a:solidFill>
            <a:srgbClr val="F1F5F9"/>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0" name="Shape 7"/>
          <p:cNvSpPr/>
          <p:nvPr/>
        </p:nvSpPr>
        <p:spPr>
          <a:xfrm>
            <a:off x="548640" y="1636776"/>
            <a:ext cx="402336" cy="402336"/>
          </a:xfrm>
          <a:prstGeom prst="oval">
            <a:avLst/>
          </a:prstGeom>
          <a:solidFill>
            <a:srgbClr val="3B82F6"/>
          </a:solidFill>
          <a:ln w="12700">
            <a:solidFill>
              <a:srgbClr val="3B82F6"/>
            </a:solidFill>
            <a:prstDash val="solid"/>
          </a:ln>
        </p:spPr>
      </p:sp>
      <p:pic>
        <p:nvPicPr>
          <p:cNvPr id="11" name="Image 1" descr="preencoded.png">    </p:cNvPr>
          <p:cNvPicPr>
            <a:picLocks noChangeAspect="1"/>
          </p:cNvPicPr>
          <p:nvPr/>
        </p:nvPicPr>
        <p:blipFill>
          <a:blip r:embed="rId2"/>
          <a:stretch>
            <a:fillRect/>
          </a:stretch>
        </p:blipFill>
        <p:spPr>
          <a:xfrm>
            <a:off x="629107" y="1717243"/>
            <a:ext cx="241402" cy="241402"/>
          </a:xfrm>
          <a:prstGeom prst="rect">
            <a:avLst/>
          </a:prstGeom>
        </p:spPr>
      </p:pic>
      <p:sp>
        <p:nvSpPr>
          <p:cNvPr id="12" name="Text 8"/>
          <p:cNvSpPr/>
          <p:nvPr/>
        </p:nvSpPr>
        <p:spPr>
          <a:xfrm>
            <a:off x="1042416" y="1581912"/>
            <a:ext cx="3154680" cy="237744"/>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CDN</a:t>
            </a:r>
            <a:endParaRPr lang="en-US" sz="1150" dirty="0"/>
          </a:p>
        </p:txBody>
      </p:sp>
      <p:sp>
        <p:nvSpPr>
          <p:cNvPr id="13" name="Text 9"/>
          <p:cNvSpPr/>
          <p:nvPr/>
        </p:nvSpPr>
        <p:spPr>
          <a:xfrm>
            <a:off x="1042416" y="1837944"/>
            <a:ext cx="315468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PriceClass_200 — North America, Europe, Asia</a:t>
            </a:r>
            <a:endParaRPr lang="en-US" sz="1000" dirty="0"/>
          </a:p>
        </p:txBody>
      </p:sp>
      <p:sp>
        <p:nvSpPr>
          <p:cNvPr id="14" name="Shape 10"/>
          <p:cNvSpPr/>
          <p:nvPr/>
        </p:nvSpPr>
        <p:spPr>
          <a:xfrm>
            <a:off x="438912" y="2313432"/>
            <a:ext cx="3840480" cy="658368"/>
          </a:xfrm>
          <a:prstGeom prst="rect">
            <a:avLst>
              <a:gd name="adj" fmla="val 5556"/>
            </a:avLst>
          </a:prstGeom>
          <a:solidFill>
            <a:srgbClr val="F1F5F9"/>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15" name="Shape 11"/>
          <p:cNvSpPr/>
          <p:nvPr/>
        </p:nvSpPr>
        <p:spPr>
          <a:xfrm>
            <a:off x="548640" y="2441448"/>
            <a:ext cx="402336" cy="402336"/>
          </a:xfrm>
          <a:prstGeom prst="oval">
            <a:avLst/>
          </a:prstGeom>
          <a:solidFill>
            <a:srgbClr val="F97316"/>
          </a:solidFill>
          <a:ln w="12700">
            <a:solidFill>
              <a:srgbClr val="F97316"/>
            </a:solidFill>
            <a:prstDash val="solid"/>
          </a:ln>
        </p:spPr>
      </p:sp>
      <p:pic>
        <p:nvPicPr>
          <p:cNvPr id="16" name="Image 2" descr="preencoded.png">    </p:cNvPr>
          <p:cNvPicPr>
            <a:picLocks noChangeAspect="1"/>
          </p:cNvPicPr>
          <p:nvPr/>
        </p:nvPicPr>
        <p:blipFill>
          <a:blip r:embed="rId3"/>
          <a:stretch>
            <a:fillRect/>
          </a:stretch>
        </p:blipFill>
        <p:spPr>
          <a:xfrm>
            <a:off x="629107" y="2521915"/>
            <a:ext cx="241402" cy="241402"/>
          </a:xfrm>
          <a:prstGeom prst="rect">
            <a:avLst/>
          </a:prstGeom>
        </p:spPr>
      </p:pic>
      <p:sp>
        <p:nvSpPr>
          <p:cNvPr id="17" name="Text 12"/>
          <p:cNvSpPr/>
          <p:nvPr/>
        </p:nvSpPr>
        <p:spPr>
          <a:xfrm>
            <a:off x="1042416" y="2386584"/>
            <a:ext cx="3154680" cy="237744"/>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Frontend Caching</a:t>
            </a:r>
            <a:endParaRPr lang="en-US" sz="1150" dirty="0"/>
          </a:p>
        </p:txBody>
      </p:sp>
      <p:sp>
        <p:nvSpPr>
          <p:cNvPr id="18" name="Text 13"/>
          <p:cNvSpPr/>
          <p:nvPr/>
        </p:nvSpPr>
        <p:spPr>
          <a:xfrm>
            <a:off x="1042416" y="2642616"/>
            <a:ext cx="315468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Static assets cached at edge — zero origin load</a:t>
            </a:r>
            <a:endParaRPr lang="en-US" sz="1000" dirty="0"/>
          </a:p>
        </p:txBody>
      </p:sp>
      <p:sp>
        <p:nvSpPr>
          <p:cNvPr id="19" name="Shape 14"/>
          <p:cNvSpPr/>
          <p:nvPr/>
        </p:nvSpPr>
        <p:spPr>
          <a:xfrm>
            <a:off x="438912" y="3118104"/>
            <a:ext cx="3840480" cy="658368"/>
          </a:xfrm>
          <a:prstGeom prst="rect">
            <a:avLst>
              <a:gd name="adj" fmla="val 5556"/>
            </a:avLst>
          </a:prstGeom>
          <a:solidFill>
            <a:srgbClr val="F1F5F9"/>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0" name="Shape 15"/>
          <p:cNvSpPr/>
          <p:nvPr/>
        </p:nvSpPr>
        <p:spPr>
          <a:xfrm>
            <a:off x="548640" y="3246120"/>
            <a:ext cx="402336" cy="402336"/>
          </a:xfrm>
          <a:prstGeom prst="oval">
            <a:avLst/>
          </a:prstGeom>
          <a:solidFill>
            <a:srgbClr val="22C55E"/>
          </a:solidFill>
          <a:ln w="12700">
            <a:solidFill>
              <a:srgbClr val="22C55E"/>
            </a:solidFill>
            <a:prstDash val="solid"/>
          </a:ln>
        </p:spPr>
      </p:sp>
      <p:pic>
        <p:nvPicPr>
          <p:cNvPr id="21" name="Image 3" descr="preencoded.png">    </p:cNvPr>
          <p:cNvPicPr>
            <a:picLocks noChangeAspect="1"/>
          </p:cNvPicPr>
          <p:nvPr/>
        </p:nvPicPr>
        <p:blipFill>
          <a:blip r:embed="rId4"/>
          <a:stretch>
            <a:fillRect/>
          </a:stretch>
        </p:blipFill>
        <p:spPr>
          <a:xfrm>
            <a:off x="629107" y="3326587"/>
            <a:ext cx="241402" cy="241402"/>
          </a:xfrm>
          <a:prstGeom prst="rect">
            <a:avLst/>
          </a:prstGeom>
        </p:spPr>
      </p:pic>
      <p:sp>
        <p:nvSpPr>
          <p:cNvPr id="22" name="Text 16"/>
          <p:cNvSpPr/>
          <p:nvPr/>
        </p:nvSpPr>
        <p:spPr>
          <a:xfrm>
            <a:off x="1042416" y="3191256"/>
            <a:ext cx="3154680" cy="237744"/>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Low Latency</a:t>
            </a:r>
            <a:endParaRPr lang="en-US" sz="1150" dirty="0"/>
          </a:p>
        </p:txBody>
      </p:sp>
      <p:sp>
        <p:nvSpPr>
          <p:cNvPr id="23" name="Text 17"/>
          <p:cNvSpPr/>
          <p:nvPr/>
        </p:nvSpPr>
        <p:spPr>
          <a:xfrm>
            <a:off x="1042416" y="3447288"/>
            <a:ext cx="315468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Requests served from nearest edge location</a:t>
            </a:r>
            <a:endParaRPr lang="en-US" sz="1000" dirty="0"/>
          </a:p>
        </p:txBody>
      </p:sp>
      <p:sp>
        <p:nvSpPr>
          <p:cNvPr id="24" name="Shape 18"/>
          <p:cNvSpPr/>
          <p:nvPr/>
        </p:nvSpPr>
        <p:spPr>
          <a:xfrm>
            <a:off x="438912" y="3922776"/>
            <a:ext cx="3840480" cy="658368"/>
          </a:xfrm>
          <a:prstGeom prst="rect">
            <a:avLst>
              <a:gd name="adj" fmla="val 5556"/>
            </a:avLst>
          </a:prstGeom>
          <a:solidFill>
            <a:srgbClr val="F1F5F9"/>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25" name="Shape 19"/>
          <p:cNvSpPr/>
          <p:nvPr/>
        </p:nvSpPr>
        <p:spPr>
          <a:xfrm>
            <a:off x="548640" y="4050792"/>
            <a:ext cx="402336" cy="402336"/>
          </a:xfrm>
          <a:prstGeom prst="oval">
            <a:avLst/>
          </a:prstGeom>
          <a:solidFill>
            <a:srgbClr val="A855F7"/>
          </a:solidFill>
          <a:ln w="12700">
            <a:solidFill>
              <a:srgbClr val="A855F7"/>
            </a:solidFill>
            <a:prstDash val="solid"/>
          </a:ln>
        </p:spPr>
      </p:sp>
      <p:pic>
        <p:nvPicPr>
          <p:cNvPr id="26" name="Image 4" descr="preencoded.png">    </p:cNvPr>
          <p:cNvPicPr>
            <a:picLocks noChangeAspect="1"/>
          </p:cNvPicPr>
          <p:nvPr/>
        </p:nvPicPr>
        <p:blipFill>
          <a:blip r:embed="rId5"/>
          <a:stretch>
            <a:fillRect/>
          </a:stretch>
        </p:blipFill>
        <p:spPr>
          <a:xfrm>
            <a:off x="629107" y="4131259"/>
            <a:ext cx="241402" cy="241402"/>
          </a:xfrm>
          <a:prstGeom prst="rect">
            <a:avLst/>
          </a:prstGeom>
        </p:spPr>
      </p:pic>
      <p:sp>
        <p:nvSpPr>
          <p:cNvPr id="27" name="Text 20"/>
          <p:cNvSpPr/>
          <p:nvPr/>
        </p:nvSpPr>
        <p:spPr>
          <a:xfrm>
            <a:off x="1042416" y="3995928"/>
            <a:ext cx="3154680" cy="237744"/>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API Pass-through</a:t>
            </a:r>
            <a:endParaRPr lang="en-US" sz="1150" dirty="0"/>
          </a:p>
        </p:txBody>
      </p:sp>
      <p:sp>
        <p:nvSpPr>
          <p:cNvPr id="28" name="Text 21"/>
          <p:cNvSpPr/>
          <p:nvPr/>
        </p:nvSpPr>
        <p:spPr>
          <a:xfrm>
            <a:off x="1042416" y="4251960"/>
            <a:ext cx="315468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/api/* forwarded uncached to origin ALB</a:t>
            </a:r>
            <a:endParaRPr lang="en-US" sz="1000" dirty="0"/>
          </a:p>
        </p:txBody>
      </p:sp>
      <p:sp>
        <p:nvSpPr>
          <p:cNvPr id="29" name="Shape 22"/>
          <p:cNvSpPr/>
          <p:nvPr/>
        </p:nvSpPr>
        <p:spPr>
          <a:xfrm>
            <a:off x="4754880" y="987552"/>
            <a:ext cx="4069080" cy="3794760"/>
          </a:xfrm>
          <a:prstGeom prst="rect">
            <a:avLst>
              <a:gd name="adj" fmla="val 964"/>
            </a:avLst>
          </a:prstGeom>
          <a:solidFill>
            <a:srgbClr val="FFFFFF"/>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30" name="Shape 23"/>
          <p:cNvSpPr/>
          <p:nvPr/>
        </p:nvSpPr>
        <p:spPr>
          <a:xfrm>
            <a:off x="4754880" y="987552"/>
            <a:ext cx="4069080" cy="384048"/>
          </a:xfrm>
          <a:prstGeom prst="rect">
            <a:avLst>
              <a:gd name="adj" fmla="val 9524"/>
            </a:avLst>
          </a:prstGeom>
          <a:solidFill>
            <a:srgbClr val="EF4444"/>
          </a:solidFill>
          <a:ln w="12700">
            <a:solidFill>
              <a:srgbClr val="EF4444"/>
            </a:solidFill>
            <a:prstDash val="solid"/>
          </a:ln>
        </p:spPr>
      </p:sp>
      <p:pic>
        <p:nvPicPr>
          <p:cNvPr id="31" name="Image 5" descr="preencoded.png">    </p:cNvPr>
          <p:cNvPicPr>
            <a:picLocks noChangeAspect="1"/>
          </p:cNvPicPr>
          <p:nvPr/>
        </p:nvPicPr>
        <p:blipFill>
          <a:blip r:embed="rId6"/>
          <a:stretch>
            <a:fillRect/>
          </a:stretch>
        </p:blipFill>
        <p:spPr>
          <a:xfrm>
            <a:off x="4873752" y="1024128"/>
            <a:ext cx="274320" cy="274320"/>
          </a:xfrm>
          <a:prstGeom prst="rect">
            <a:avLst/>
          </a:prstGeom>
        </p:spPr>
      </p:pic>
      <p:sp>
        <p:nvSpPr>
          <p:cNvPr id="32" name="Text 24"/>
          <p:cNvSpPr/>
          <p:nvPr/>
        </p:nvSpPr>
        <p:spPr>
          <a:xfrm>
            <a:off x="5212080" y="1051560"/>
            <a:ext cx="347472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AWS WAF</a:t>
            </a:r>
            <a:endParaRPr lang="en-US" sz="1300" dirty="0"/>
          </a:p>
        </p:txBody>
      </p:sp>
      <p:sp>
        <p:nvSpPr>
          <p:cNvPr id="33" name="Shape 25"/>
          <p:cNvSpPr/>
          <p:nvPr/>
        </p:nvSpPr>
        <p:spPr>
          <a:xfrm>
            <a:off x="4873752" y="1508760"/>
            <a:ext cx="3840480" cy="658368"/>
          </a:xfrm>
          <a:prstGeom prst="rect">
            <a:avLst>
              <a:gd name="adj" fmla="val 5556"/>
            </a:avLst>
          </a:prstGeom>
          <a:solidFill>
            <a:srgbClr val="F1F5F9"/>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34" name="Shape 26"/>
          <p:cNvSpPr/>
          <p:nvPr/>
        </p:nvSpPr>
        <p:spPr>
          <a:xfrm>
            <a:off x="4983480" y="1636776"/>
            <a:ext cx="402336" cy="402336"/>
          </a:xfrm>
          <a:prstGeom prst="oval">
            <a:avLst/>
          </a:prstGeom>
          <a:solidFill>
            <a:srgbClr val="F97316"/>
          </a:solidFill>
          <a:ln w="12700">
            <a:solidFill>
              <a:srgbClr val="F97316"/>
            </a:solidFill>
            <a:prstDash val="solid"/>
          </a:ln>
        </p:spPr>
      </p:sp>
      <p:pic>
        <p:nvPicPr>
          <p:cNvPr id="35" name="Image 6" descr="preencoded.png">    </p:cNvPr>
          <p:cNvPicPr>
            <a:picLocks noChangeAspect="1"/>
          </p:cNvPicPr>
          <p:nvPr/>
        </p:nvPicPr>
        <p:blipFill>
          <a:blip r:embed="rId7"/>
          <a:stretch>
            <a:fillRect/>
          </a:stretch>
        </p:blipFill>
        <p:spPr>
          <a:xfrm>
            <a:off x="5063947" y="1717243"/>
            <a:ext cx="241402" cy="241402"/>
          </a:xfrm>
          <a:prstGeom prst="rect">
            <a:avLst/>
          </a:prstGeom>
        </p:spPr>
      </p:pic>
      <p:sp>
        <p:nvSpPr>
          <p:cNvPr id="36" name="Text 27"/>
          <p:cNvSpPr/>
          <p:nvPr/>
        </p:nvSpPr>
        <p:spPr>
          <a:xfrm>
            <a:off x="5477256" y="1581912"/>
            <a:ext cx="3154680" cy="237744"/>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Rate Limiting</a:t>
            </a:r>
            <a:endParaRPr lang="en-US" sz="1150" dirty="0"/>
          </a:p>
        </p:txBody>
      </p:sp>
      <p:sp>
        <p:nvSpPr>
          <p:cNvPr id="37" name="Text 28"/>
          <p:cNvSpPr/>
          <p:nvPr/>
        </p:nvSpPr>
        <p:spPr>
          <a:xfrm>
            <a:off x="5477256" y="1837944"/>
            <a:ext cx="315468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Blocks IPs exceeding request threshold</a:t>
            </a:r>
            <a:endParaRPr lang="en-US" sz="1000" dirty="0"/>
          </a:p>
        </p:txBody>
      </p:sp>
      <p:sp>
        <p:nvSpPr>
          <p:cNvPr id="38" name="Shape 29"/>
          <p:cNvSpPr/>
          <p:nvPr/>
        </p:nvSpPr>
        <p:spPr>
          <a:xfrm>
            <a:off x="4873752" y="2313432"/>
            <a:ext cx="3840480" cy="658368"/>
          </a:xfrm>
          <a:prstGeom prst="rect">
            <a:avLst>
              <a:gd name="adj" fmla="val 5556"/>
            </a:avLst>
          </a:prstGeom>
          <a:solidFill>
            <a:srgbClr val="F1F5F9"/>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39" name="Shape 30"/>
          <p:cNvSpPr/>
          <p:nvPr/>
        </p:nvSpPr>
        <p:spPr>
          <a:xfrm>
            <a:off x="4983480" y="2441448"/>
            <a:ext cx="402336" cy="402336"/>
          </a:xfrm>
          <a:prstGeom prst="oval">
            <a:avLst/>
          </a:prstGeom>
          <a:solidFill>
            <a:srgbClr val="EF4444"/>
          </a:solidFill>
          <a:ln w="12700">
            <a:solidFill>
              <a:srgbClr val="EF4444"/>
            </a:solidFill>
            <a:prstDash val="solid"/>
          </a:ln>
        </p:spPr>
      </p:sp>
      <p:pic>
        <p:nvPicPr>
          <p:cNvPr id="40" name="Image 7" descr="preencoded.png">    </p:cNvPr>
          <p:cNvPicPr>
            <a:picLocks noChangeAspect="1"/>
          </p:cNvPicPr>
          <p:nvPr/>
        </p:nvPicPr>
        <p:blipFill>
          <a:blip r:embed="rId8"/>
          <a:stretch>
            <a:fillRect/>
          </a:stretch>
        </p:blipFill>
        <p:spPr>
          <a:xfrm>
            <a:off x="5063947" y="2521915"/>
            <a:ext cx="241402" cy="241402"/>
          </a:xfrm>
          <a:prstGeom prst="rect">
            <a:avLst/>
          </a:prstGeom>
        </p:spPr>
      </p:pic>
      <p:sp>
        <p:nvSpPr>
          <p:cNvPr id="41" name="Text 31"/>
          <p:cNvSpPr/>
          <p:nvPr/>
        </p:nvSpPr>
        <p:spPr>
          <a:xfrm>
            <a:off x="5477256" y="2386584"/>
            <a:ext cx="3154680" cy="237744"/>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Common Rule Set</a:t>
            </a:r>
            <a:endParaRPr lang="en-US" sz="1150" dirty="0"/>
          </a:p>
        </p:txBody>
      </p:sp>
      <p:sp>
        <p:nvSpPr>
          <p:cNvPr id="42" name="Text 32"/>
          <p:cNvSpPr/>
          <p:nvPr/>
        </p:nvSpPr>
        <p:spPr>
          <a:xfrm>
            <a:off x="5477256" y="2642616"/>
            <a:ext cx="315468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AWS managed — blocks OWASP Top 10 attacks</a:t>
            </a:r>
            <a:endParaRPr lang="en-US" sz="1000" dirty="0"/>
          </a:p>
        </p:txBody>
      </p:sp>
      <p:sp>
        <p:nvSpPr>
          <p:cNvPr id="43" name="Shape 33"/>
          <p:cNvSpPr/>
          <p:nvPr/>
        </p:nvSpPr>
        <p:spPr>
          <a:xfrm>
            <a:off x="4873752" y="3118104"/>
            <a:ext cx="3840480" cy="658368"/>
          </a:xfrm>
          <a:prstGeom prst="rect">
            <a:avLst>
              <a:gd name="adj" fmla="val 5556"/>
            </a:avLst>
          </a:prstGeom>
          <a:solidFill>
            <a:srgbClr val="F1F5F9"/>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44" name="Shape 34"/>
          <p:cNvSpPr/>
          <p:nvPr/>
        </p:nvSpPr>
        <p:spPr>
          <a:xfrm>
            <a:off x="4983480" y="3246120"/>
            <a:ext cx="402336" cy="402336"/>
          </a:xfrm>
          <a:prstGeom prst="oval">
            <a:avLst/>
          </a:prstGeom>
          <a:solidFill>
            <a:srgbClr val="A855F7"/>
          </a:solidFill>
          <a:ln w="12700">
            <a:solidFill>
              <a:srgbClr val="A855F7"/>
            </a:solidFill>
            <a:prstDash val="solid"/>
          </a:ln>
        </p:spPr>
      </p:sp>
      <p:pic>
        <p:nvPicPr>
          <p:cNvPr id="45" name="Image 8" descr="preencoded.png">    </p:cNvPr>
          <p:cNvPicPr>
            <a:picLocks noChangeAspect="1"/>
          </p:cNvPicPr>
          <p:nvPr/>
        </p:nvPicPr>
        <p:blipFill>
          <a:blip r:embed="rId9"/>
          <a:stretch>
            <a:fillRect/>
          </a:stretch>
        </p:blipFill>
        <p:spPr>
          <a:xfrm>
            <a:off x="5063947" y="3326587"/>
            <a:ext cx="241402" cy="241402"/>
          </a:xfrm>
          <a:prstGeom prst="rect">
            <a:avLst/>
          </a:prstGeom>
        </p:spPr>
      </p:pic>
      <p:sp>
        <p:nvSpPr>
          <p:cNvPr id="46" name="Text 35"/>
          <p:cNvSpPr/>
          <p:nvPr/>
        </p:nvSpPr>
        <p:spPr>
          <a:xfrm>
            <a:off x="5477256" y="3191256"/>
            <a:ext cx="3154680" cy="237744"/>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SQL Injection</a:t>
            </a:r>
            <a:endParaRPr lang="en-US" sz="1150" dirty="0"/>
          </a:p>
        </p:txBody>
      </p:sp>
      <p:sp>
        <p:nvSpPr>
          <p:cNvPr id="47" name="Text 36"/>
          <p:cNvSpPr/>
          <p:nvPr/>
        </p:nvSpPr>
        <p:spPr>
          <a:xfrm>
            <a:off x="5477256" y="3447288"/>
            <a:ext cx="315468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AWS managed SQL injection protection ruleset</a:t>
            </a:r>
            <a:endParaRPr lang="en-US" sz="1000" dirty="0"/>
          </a:p>
        </p:txBody>
      </p:sp>
      <p:sp>
        <p:nvSpPr>
          <p:cNvPr id="48" name="Shape 37"/>
          <p:cNvSpPr/>
          <p:nvPr/>
        </p:nvSpPr>
        <p:spPr>
          <a:xfrm>
            <a:off x="4873752" y="3922776"/>
            <a:ext cx="3840480" cy="658368"/>
          </a:xfrm>
          <a:prstGeom prst="rect">
            <a:avLst>
              <a:gd name="adj" fmla="val 5556"/>
            </a:avLst>
          </a:prstGeom>
          <a:solidFill>
            <a:srgbClr val="F1F5F9"/>
          </a:solidFill>
          <a:ln w="6350">
            <a:solidFill>
              <a:srgbClr val="CBD5E1"/>
            </a:solidFill>
            <a:prstDash val="solid"/>
          </a:ln>
          <a:effectLst>
            <a:outerShdw sx="100000" sy="100000" kx="0" ky="0" algn="bl" rotWithShape="0" blurRad="101600" dist="25400" dir="2700000">
              <a:srgbClr val="000000">
                <a:alpha val="8000"/>
              </a:srgbClr>
            </a:outerShdw>
          </a:effectLst>
        </p:spPr>
      </p:sp>
      <p:sp>
        <p:nvSpPr>
          <p:cNvPr id="49" name="Shape 38"/>
          <p:cNvSpPr/>
          <p:nvPr/>
        </p:nvSpPr>
        <p:spPr>
          <a:xfrm>
            <a:off x="4983480" y="4050792"/>
            <a:ext cx="402336" cy="402336"/>
          </a:xfrm>
          <a:prstGeom prst="oval">
            <a:avLst/>
          </a:prstGeom>
          <a:solidFill>
            <a:srgbClr val="EAB308"/>
          </a:solidFill>
          <a:ln w="12700">
            <a:solidFill>
              <a:srgbClr val="EAB308"/>
            </a:solidFill>
            <a:prstDash val="solid"/>
          </a:ln>
        </p:spPr>
      </p:sp>
      <p:pic>
        <p:nvPicPr>
          <p:cNvPr id="50" name="Image 9" descr="preencoded.png">    </p:cNvPr>
          <p:cNvPicPr>
            <a:picLocks noChangeAspect="1"/>
          </p:cNvPicPr>
          <p:nvPr/>
        </p:nvPicPr>
        <p:blipFill>
          <a:blip r:embed="rId10"/>
          <a:stretch>
            <a:fillRect/>
          </a:stretch>
        </p:blipFill>
        <p:spPr>
          <a:xfrm>
            <a:off x="5063947" y="4131259"/>
            <a:ext cx="241402" cy="241402"/>
          </a:xfrm>
          <a:prstGeom prst="rect">
            <a:avLst/>
          </a:prstGeom>
        </p:spPr>
      </p:pic>
      <p:sp>
        <p:nvSpPr>
          <p:cNvPr id="51" name="Text 39"/>
          <p:cNvSpPr/>
          <p:nvPr/>
        </p:nvSpPr>
        <p:spPr>
          <a:xfrm>
            <a:off x="5477256" y="3995928"/>
            <a:ext cx="3154680" cy="237744"/>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Bad Inputs</a:t>
            </a:r>
            <a:endParaRPr lang="en-US" sz="1150" dirty="0"/>
          </a:p>
        </p:txBody>
      </p:sp>
      <p:sp>
        <p:nvSpPr>
          <p:cNvPr id="52" name="Text 40"/>
          <p:cNvSpPr/>
          <p:nvPr/>
        </p:nvSpPr>
        <p:spPr>
          <a:xfrm>
            <a:off x="5477256" y="4251960"/>
            <a:ext cx="315468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AWS managed known bad inputs ruleset</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2C42"/>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F9900"/>
          </a:solidFill>
          <a:ln w="12700">
            <a:solidFill>
              <a:srgbClr val="FF9900"/>
            </a:solidFill>
            <a:prstDash val="solid"/>
          </a:ln>
        </p:spPr>
      </p:sp>
      <p:sp>
        <p:nvSpPr>
          <p:cNvPr id="3" name="Text 1"/>
          <p:cNvSpPr/>
          <p:nvPr/>
        </p:nvSpPr>
        <p:spPr>
          <a:xfrm>
            <a:off x="457200" y="201168"/>
            <a:ext cx="8229600" cy="548640"/>
          </a:xfrm>
          <a:prstGeom prst="rect">
            <a:avLst/>
          </a:prstGeom>
          <a:noFill/>
          <a:ln/>
        </p:spPr>
        <p:txBody>
          <a:bodyPr wrap="square" lIns="0" tIns="0" rIns="0" bIns="0" rtlCol="0" anchor="ctr"/>
          <a:lstStyle/>
          <a:p>
            <a:pPr indent="0" marL="0">
              <a:buNone/>
            </a:pPr>
            <a:r>
              <a:rPr lang="en-US" sz="3000" b="1" dirty="0">
                <a:solidFill>
                  <a:srgbClr val="FF9900"/>
                </a:solidFill>
                <a:latin typeface="Cambria" pitchFamily="34" charset="0"/>
                <a:ea typeface="Cambria" pitchFamily="34" charset="-122"/>
                <a:cs typeface="Cambria" pitchFamily="34" charset="-120"/>
              </a:rPr>
              <a:t>Conclusion</a:t>
            </a:r>
            <a:endParaRPr lang="en-US" sz="3000" dirty="0"/>
          </a:p>
        </p:txBody>
      </p:sp>
      <p:sp>
        <p:nvSpPr>
          <p:cNvPr id="4" name="Text 2"/>
          <p:cNvSpPr/>
          <p:nvPr/>
        </p:nvSpPr>
        <p:spPr>
          <a:xfrm>
            <a:off x="457200" y="749808"/>
            <a:ext cx="8229600" cy="292608"/>
          </a:xfrm>
          <a:prstGeom prst="rect">
            <a:avLst/>
          </a:prstGeom>
          <a:noFill/>
          <a:ln/>
        </p:spPr>
        <p:txBody>
          <a:bodyPr wrap="square" lIns="0" tIns="0" rIns="0" bIns="0" rtlCol="0" anchor="ctr"/>
          <a:lstStyle/>
          <a:p>
            <a:pPr indent="0" marL="0">
              <a:buNone/>
            </a:pPr>
            <a:r>
              <a:rPr lang="en-US" sz="1300" i="1" dirty="0">
                <a:solidFill>
                  <a:srgbClr val="A0C4E0"/>
                </a:solidFill>
                <a:latin typeface="Calibri" pitchFamily="34" charset="0"/>
                <a:ea typeface="Calibri" pitchFamily="34" charset="-122"/>
                <a:cs typeface="Calibri" pitchFamily="34" charset="-120"/>
              </a:rPr>
              <a:t>CareSync demonstrates a production-grade AWS deployment provisioned entirely with Terraform</a:t>
            </a:r>
            <a:endParaRPr lang="en-US" sz="1300" dirty="0"/>
          </a:p>
        </p:txBody>
      </p:sp>
      <p:sp>
        <p:nvSpPr>
          <p:cNvPr id="5" name="Shape 3"/>
          <p:cNvSpPr/>
          <p:nvPr/>
        </p:nvSpPr>
        <p:spPr>
          <a:xfrm>
            <a:off x="320040" y="1143000"/>
            <a:ext cx="2788920" cy="1051560"/>
          </a:xfrm>
          <a:prstGeom prst="rect">
            <a:avLst>
              <a:gd name="adj" fmla="val 5217"/>
            </a:avLst>
          </a:prstGeom>
          <a:solidFill>
            <a:srgbClr val="112233"/>
          </a:solidFill>
          <a:ln w="12700">
            <a:solidFill>
              <a:srgbClr val="EF4444"/>
            </a:solidFill>
            <a:prstDash val="solid"/>
          </a:ln>
          <a:effectLst>
            <a:outerShdw sx="100000" sy="100000" kx="0" ky="0" algn="bl" rotWithShape="0" blurRad="101600" dist="25400" dir="2700000">
              <a:srgbClr val="000000">
                <a:alpha val="25000"/>
              </a:srgbClr>
            </a:outerShdw>
          </a:effectLst>
        </p:spPr>
      </p:sp>
      <p:pic>
        <p:nvPicPr>
          <p:cNvPr id="6" name="Image 0" descr="preencoded.png">    </p:cNvPr>
          <p:cNvPicPr>
            <a:picLocks noChangeAspect="1"/>
          </p:cNvPicPr>
          <p:nvPr/>
        </p:nvPicPr>
        <p:blipFill>
          <a:blip r:embed="rId1"/>
          <a:stretch>
            <a:fillRect/>
          </a:stretch>
        </p:blipFill>
        <p:spPr>
          <a:xfrm>
            <a:off x="429768" y="1453896"/>
            <a:ext cx="347472" cy="347472"/>
          </a:xfrm>
          <a:prstGeom prst="rect">
            <a:avLst/>
          </a:prstGeom>
        </p:spPr>
      </p:pic>
      <p:sp>
        <p:nvSpPr>
          <p:cNvPr id="7" name="Text 4"/>
          <p:cNvSpPr/>
          <p:nvPr/>
        </p:nvSpPr>
        <p:spPr>
          <a:xfrm>
            <a:off x="850392" y="1234440"/>
            <a:ext cx="2176272" cy="32004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Secure Architecture</a:t>
            </a:r>
            <a:endParaRPr lang="en-US" sz="1200" dirty="0"/>
          </a:p>
        </p:txBody>
      </p:sp>
      <p:sp>
        <p:nvSpPr>
          <p:cNvPr id="8" name="Text 5"/>
          <p:cNvSpPr/>
          <p:nvPr/>
        </p:nvSpPr>
        <p:spPr>
          <a:xfrm>
            <a:off x="850392" y="1581912"/>
            <a:ext cx="2176272" cy="502920"/>
          </a:xfrm>
          <a:prstGeom prst="rect">
            <a:avLst/>
          </a:prstGeom>
          <a:noFill/>
          <a:ln/>
        </p:spPr>
        <p:txBody>
          <a:bodyPr wrap="square" lIns="0" tIns="0" rIns="0" bIns="0" rtlCol="0" anchor="ctr"/>
          <a:lstStyle/>
          <a:p>
            <a:pPr indent="0" marL="0">
              <a:buNone/>
            </a:pPr>
            <a:r>
              <a:rPr lang="en-US" sz="950" dirty="0">
                <a:solidFill>
                  <a:srgbClr val="A0BDD0"/>
                </a:solidFill>
                <a:latin typeface="Calibri" pitchFamily="34" charset="0"/>
                <a:ea typeface="Calibri" pitchFamily="34" charset="-122"/>
                <a:cs typeface="Calibri" pitchFamily="34" charset="-120"/>
              </a:rPr>
              <a:t>IAM + KMS + Secrets Manager + WAF — layered security</a:t>
            </a:r>
            <a:endParaRPr lang="en-US" sz="950" dirty="0"/>
          </a:p>
        </p:txBody>
      </p:sp>
      <p:sp>
        <p:nvSpPr>
          <p:cNvPr id="9" name="Shape 6"/>
          <p:cNvSpPr/>
          <p:nvPr/>
        </p:nvSpPr>
        <p:spPr>
          <a:xfrm>
            <a:off x="3264408" y="1143000"/>
            <a:ext cx="2788920" cy="1051560"/>
          </a:xfrm>
          <a:prstGeom prst="rect">
            <a:avLst>
              <a:gd name="adj" fmla="val 5217"/>
            </a:avLst>
          </a:prstGeom>
          <a:solidFill>
            <a:srgbClr val="112233"/>
          </a:solidFill>
          <a:ln w="12700">
            <a:solidFill>
              <a:srgbClr val="7C3AED"/>
            </a:solidFill>
            <a:prstDash val="solid"/>
          </a:ln>
          <a:effectLst>
            <a:outerShdw sx="100000" sy="100000" kx="0" ky="0" algn="bl" rotWithShape="0" blurRad="101600" dist="25400" dir="2700000">
              <a:srgbClr val="000000">
                <a:alpha val="25000"/>
              </a:srgbClr>
            </a:outerShdw>
          </a:effectLst>
        </p:spPr>
      </p:sp>
      <p:pic>
        <p:nvPicPr>
          <p:cNvPr id="10" name="Image 1" descr="preencoded.png">    </p:cNvPr>
          <p:cNvPicPr>
            <a:picLocks noChangeAspect="1"/>
          </p:cNvPicPr>
          <p:nvPr/>
        </p:nvPicPr>
        <p:blipFill>
          <a:blip r:embed="rId2"/>
          <a:stretch>
            <a:fillRect/>
          </a:stretch>
        </p:blipFill>
        <p:spPr>
          <a:xfrm>
            <a:off x="3374136" y="1453896"/>
            <a:ext cx="347472" cy="347472"/>
          </a:xfrm>
          <a:prstGeom prst="rect">
            <a:avLst/>
          </a:prstGeom>
        </p:spPr>
      </p:pic>
      <p:sp>
        <p:nvSpPr>
          <p:cNvPr id="11" name="Text 7"/>
          <p:cNvSpPr/>
          <p:nvPr/>
        </p:nvSpPr>
        <p:spPr>
          <a:xfrm>
            <a:off x="3794760" y="1234440"/>
            <a:ext cx="2176272" cy="32004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IaC Provisioning</a:t>
            </a:r>
            <a:endParaRPr lang="en-US" sz="1200" dirty="0"/>
          </a:p>
        </p:txBody>
      </p:sp>
      <p:sp>
        <p:nvSpPr>
          <p:cNvPr id="12" name="Text 8"/>
          <p:cNvSpPr/>
          <p:nvPr/>
        </p:nvSpPr>
        <p:spPr>
          <a:xfrm>
            <a:off x="3794760" y="1581912"/>
            <a:ext cx="2176272" cy="502920"/>
          </a:xfrm>
          <a:prstGeom prst="rect">
            <a:avLst/>
          </a:prstGeom>
          <a:noFill/>
          <a:ln/>
        </p:spPr>
        <p:txBody>
          <a:bodyPr wrap="square" lIns="0" tIns="0" rIns="0" bIns="0" rtlCol="0" anchor="ctr"/>
          <a:lstStyle/>
          <a:p>
            <a:pPr indent="0" marL="0">
              <a:buNone/>
            </a:pPr>
            <a:r>
              <a:rPr lang="en-US" sz="950" dirty="0">
                <a:solidFill>
                  <a:srgbClr val="A0BDD0"/>
                </a:solidFill>
                <a:latin typeface="Calibri" pitchFamily="34" charset="0"/>
                <a:ea typeface="Calibri" pitchFamily="34" charset="-122"/>
                <a:cs typeface="Calibri" pitchFamily="34" charset="-120"/>
              </a:rPr>
              <a:t>15 Terraform modules — zero manual AWS console work</a:t>
            </a:r>
            <a:endParaRPr lang="en-US" sz="950" dirty="0"/>
          </a:p>
        </p:txBody>
      </p:sp>
      <p:sp>
        <p:nvSpPr>
          <p:cNvPr id="13" name="Shape 9"/>
          <p:cNvSpPr/>
          <p:nvPr/>
        </p:nvSpPr>
        <p:spPr>
          <a:xfrm>
            <a:off x="6208776" y="1143000"/>
            <a:ext cx="2788920" cy="1051560"/>
          </a:xfrm>
          <a:prstGeom prst="rect">
            <a:avLst>
              <a:gd name="adj" fmla="val 5217"/>
            </a:avLst>
          </a:prstGeom>
          <a:solidFill>
            <a:srgbClr val="112233"/>
          </a:solidFill>
          <a:ln w="12700">
            <a:solidFill>
              <a:srgbClr val="22C55E"/>
            </a:solidFill>
            <a:prstDash val="solid"/>
          </a:ln>
          <a:effectLst>
            <a:outerShdw sx="100000" sy="100000" kx="0" ky="0" algn="bl" rotWithShape="0" blurRad="101600" dist="25400" dir="2700000">
              <a:srgbClr val="000000">
                <a:alpha val="25000"/>
              </a:srgbClr>
            </a:outerShdw>
          </a:effectLst>
        </p:spPr>
      </p:sp>
      <p:pic>
        <p:nvPicPr>
          <p:cNvPr id="14" name="Image 2" descr="preencoded.png">    </p:cNvPr>
          <p:cNvPicPr>
            <a:picLocks noChangeAspect="1"/>
          </p:cNvPicPr>
          <p:nvPr/>
        </p:nvPicPr>
        <p:blipFill>
          <a:blip r:embed="rId3"/>
          <a:stretch>
            <a:fillRect/>
          </a:stretch>
        </p:blipFill>
        <p:spPr>
          <a:xfrm>
            <a:off x="6318504" y="1453896"/>
            <a:ext cx="347472" cy="347472"/>
          </a:xfrm>
          <a:prstGeom prst="rect">
            <a:avLst/>
          </a:prstGeom>
        </p:spPr>
      </p:pic>
      <p:sp>
        <p:nvSpPr>
          <p:cNvPr id="15" name="Text 10"/>
          <p:cNvSpPr/>
          <p:nvPr/>
        </p:nvSpPr>
        <p:spPr>
          <a:xfrm>
            <a:off x="6739128" y="1234440"/>
            <a:ext cx="2176272" cy="32004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High Availability</a:t>
            </a:r>
            <a:endParaRPr lang="en-US" sz="1200" dirty="0"/>
          </a:p>
        </p:txBody>
      </p:sp>
      <p:sp>
        <p:nvSpPr>
          <p:cNvPr id="16" name="Text 11"/>
          <p:cNvSpPr/>
          <p:nvPr/>
        </p:nvSpPr>
        <p:spPr>
          <a:xfrm>
            <a:off x="6739128" y="1581912"/>
            <a:ext cx="2176272" cy="502920"/>
          </a:xfrm>
          <a:prstGeom prst="rect">
            <a:avLst/>
          </a:prstGeom>
          <a:noFill/>
          <a:ln/>
        </p:spPr>
        <p:txBody>
          <a:bodyPr wrap="square" lIns="0" tIns="0" rIns="0" bIns="0" rtlCol="0" anchor="ctr"/>
          <a:lstStyle/>
          <a:p>
            <a:pPr indent="0" marL="0">
              <a:buNone/>
            </a:pPr>
            <a:r>
              <a:rPr lang="en-US" sz="950" dirty="0">
                <a:solidFill>
                  <a:srgbClr val="A0BDD0"/>
                </a:solidFill>
                <a:latin typeface="Calibri" pitchFamily="34" charset="0"/>
                <a:ea typeface="Calibri" pitchFamily="34" charset="-122"/>
                <a:cs typeface="Calibri" pitchFamily="34" charset="-120"/>
              </a:rPr>
              <a:t>Multi-AZ RDS + Auto Scaling across 2 AZs</a:t>
            </a:r>
            <a:endParaRPr lang="en-US" sz="950" dirty="0"/>
          </a:p>
        </p:txBody>
      </p:sp>
      <p:sp>
        <p:nvSpPr>
          <p:cNvPr id="17" name="Shape 12"/>
          <p:cNvSpPr/>
          <p:nvPr/>
        </p:nvSpPr>
        <p:spPr>
          <a:xfrm>
            <a:off x="320040" y="2331720"/>
            <a:ext cx="2788920" cy="1051560"/>
          </a:xfrm>
          <a:prstGeom prst="rect">
            <a:avLst>
              <a:gd name="adj" fmla="val 5217"/>
            </a:avLst>
          </a:prstGeom>
          <a:solidFill>
            <a:srgbClr val="112233"/>
          </a:solidFill>
          <a:ln w="12700">
            <a:solidFill>
              <a:srgbClr val="EC4899"/>
            </a:solidFill>
            <a:prstDash val="solid"/>
          </a:ln>
          <a:effectLst>
            <a:outerShdw sx="100000" sy="100000" kx="0" ky="0" algn="bl" rotWithShape="0" blurRad="101600" dist="25400" dir="2700000">
              <a:srgbClr val="000000">
                <a:alpha val="25000"/>
              </a:srgbClr>
            </a:outerShdw>
          </a:effectLst>
        </p:spPr>
      </p:sp>
      <p:pic>
        <p:nvPicPr>
          <p:cNvPr id="18" name="Image 3" descr="preencoded.png">    </p:cNvPr>
          <p:cNvPicPr>
            <a:picLocks noChangeAspect="1"/>
          </p:cNvPicPr>
          <p:nvPr/>
        </p:nvPicPr>
        <p:blipFill>
          <a:blip r:embed="rId4"/>
          <a:stretch>
            <a:fillRect/>
          </a:stretch>
        </p:blipFill>
        <p:spPr>
          <a:xfrm>
            <a:off x="429768" y="2642616"/>
            <a:ext cx="347472" cy="347472"/>
          </a:xfrm>
          <a:prstGeom prst="rect">
            <a:avLst/>
          </a:prstGeom>
        </p:spPr>
      </p:pic>
      <p:sp>
        <p:nvSpPr>
          <p:cNvPr id="19" name="Text 13"/>
          <p:cNvSpPr/>
          <p:nvPr/>
        </p:nvSpPr>
        <p:spPr>
          <a:xfrm>
            <a:off x="850392" y="2423160"/>
            <a:ext cx="2176272" cy="32004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Full Observability</a:t>
            </a:r>
            <a:endParaRPr lang="en-US" sz="1200" dirty="0"/>
          </a:p>
        </p:txBody>
      </p:sp>
      <p:sp>
        <p:nvSpPr>
          <p:cNvPr id="20" name="Text 14"/>
          <p:cNvSpPr/>
          <p:nvPr/>
        </p:nvSpPr>
        <p:spPr>
          <a:xfrm>
            <a:off x="850392" y="2770632"/>
            <a:ext cx="2176272" cy="502920"/>
          </a:xfrm>
          <a:prstGeom prst="rect">
            <a:avLst/>
          </a:prstGeom>
          <a:noFill/>
          <a:ln/>
        </p:spPr>
        <p:txBody>
          <a:bodyPr wrap="square" lIns="0" tIns="0" rIns="0" bIns="0" rtlCol="0" anchor="ctr"/>
          <a:lstStyle/>
          <a:p>
            <a:pPr indent="0" marL="0">
              <a:buNone/>
            </a:pPr>
            <a:r>
              <a:rPr lang="en-US" sz="950" dirty="0">
                <a:solidFill>
                  <a:srgbClr val="A0BDD0"/>
                </a:solidFill>
                <a:latin typeface="Calibri" pitchFamily="34" charset="0"/>
                <a:ea typeface="Calibri" pitchFamily="34" charset="-122"/>
                <a:cs typeface="Calibri" pitchFamily="34" charset="-120"/>
              </a:rPr>
              <a:t>CloudWatch metrics, alarms, and SNS admin alerts</a:t>
            </a:r>
            <a:endParaRPr lang="en-US" sz="950" dirty="0"/>
          </a:p>
        </p:txBody>
      </p:sp>
      <p:sp>
        <p:nvSpPr>
          <p:cNvPr id="21" name="Shape 15"/>
          <p:cNvSpPr/>
          <p:nvPr/>
        </p:nvSpPr>
        <p:spPr>
          <a:xfrm>
            <a:off x="3264408" y="2331720"/>
            <a:ext cx="2788920" cy="1051560"/>
          </a:xfrm>
          <a:prstGeom prst="rect">
            <a:avLst>
              <a:gd name="adj" fmla="val 5217"/>
            </a:avLst>
          </a:prstGeom>
          <a:solidFill>
            <a:srgbClr val="112233"/>
          </a:solidFill>
          <a:ln w="12700">
            <a:solidFill>
              <a:srgbClr val="EAB308"/>
            </a:solidFill>
            <a:prstDash val="solid"/>
          </a:ln>
          <a:effectLst>
            <a:outerShdw sx="100000" sy="100000" kx="0" ky="0" algn="bl" rotWithShape="0" blurRad="101600" dist="25400" dir="2700000">
              <a:srgbClr val="000000">
                <a:alpha val="25000"/>
              </a:srgbClr>
            </a:outerShdw>
          </a:effectLst>
        </p:spPr>
      </p:sp>
      <p:pic>
        <p:nvPicPr>
          <p:cNvPr id="22" name="Image 4" descr="preencoded.png">    </p:cNvPr>
          <p:cNvPicPr>
            <a:picLocks noChangeAspect="1"/>
          </p:cNvPicPr>
          <p:nvPr/>
        </p:nvPicPr>
        <p:blipFill>
          <a:blip r:embed="rId5"/>
          <a:stretch>
            <a:fillRect/>
          </a:stretch>
        </p:blipFill>
        <p:spPr>
          <a:xfrm>
            <a:off x="3374136" y="2642616"/>
            <a:ext cx="347472" cy="347472"/>
          </a:xfrm>
          <a:prstGeom prst="rect">
            <a:avLst/>
          </a:prstGeom>
        </p:spPr>
      </p:pic>
      <p:sp>
        <p:nvSpPr>
          <p:cNvPr id="23" name="Text 16"/>
          <p:cNvSpPr/>
          <p:nvPr/>
        </p:nvSpPr>
        <p:spPr>
          <a:xfrm>
            <a:off x="3794760" y="2423160"/>
            <a:ext cx="2176272" cy="32004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Serverless Automation</a:t>
            </a:r>
            <a:endParaRPr lang="en-US" sz="1200" dirty="0"/>
          </a:p>
        </p:txBody>
      </p:sp>
      <p:sp>
        <p:nvSpPr>
          <p:cNvPr id="24" name="Text 17"/>
          <p:cNvSpPr/>
          <p:nvPr/>
        </p:nvSpPr>
        <p:spPr>
          <a:xfrm>
            <a:off x="3794760" y="2770632"/>
            <a:ext cx="2176272" cy="502920"/>
          </a:xfrm>
          <a:prstGeom prst="rect">
            <a:avLst/>
          </a:prstGeom>
          <a:noFill/>
          <a:ln/>
        </p:spPr>
        <p:txBody>
          <a:bodyPr wrap="square" lIns="0" tIns="0" rIns="0" bIns="0" rtlCol="0" anchor="ctr"/>
          <a:lstStyle/>
          <a:p>
            <a:pPr indent="0" marL="0">
              <a:buNone/>
            </a:pPr>
            <a:r>
              <a:rPr lang="en-US" sz="950" dirty="0">
                <a:solidFill>
                  <a:srgbClr val="A0BDD0"/>
                </a:solidFill>
                <a:latin typeface="Calibri" pitchFamily="34" charset="0"/>
                <a:ea typeface="Calibri" pitchFamily="34" charset="-122"/>
                <a:cs typeface="Calibri" pitchFamily="34" charset="-120"/>
              </a:rPr>
              <a:t>Lambda reminders + cleanup via EventBridge scheduler</a:t>
            </a:r>
            <a:endParaRPr lang="en-US" sz="950" dirty="0"/>
          </a:p>
        </p:txBody>
      </p:sp>
      <p:sp>
        <p:nvSpPr>
          <p:cNvPr id="25" name="Shape 18"/>
          <p:cNvSpPr/>
          <p:nvPr/>
        </p:nvSpPr>
        <p:spPr>
          <a:xfrm>
            <a:off x="6208776" y="2331720"/>
            <a:ext cx="2788920" cy="1051560"/>
          </a:xfrm>
          <a:prstGeom prst="rect">
            <a:avLst>
              <a:gd name="adj" fmla="val 5217"/>
            </a:avLst>
          </a:prstGeom>
          <a:solidFill>
            <a:srgbClr val="112233"/>
          </a:solidFill>
          <a:ln w="12700">
            <a:solidFill>
              <a:srgbClr val="3B82F6"/>
            </a:solidFill>
            <a:prstDash val="solid"/>
          </a:ln>
          <a:effectLst>
            <a:outerShdw sx="100000" sy="100000" kx="0" ky="0" algn="bl" rotWithShape="0" blurRad="101600" dist="25400" dir="2700000">
              <a:srgbClr val="000000">
                <a:alpha val="25000"/>
              </a:srgbClr>
            </a:outerShdw>
          </a:effectLst>
        </p:spPr>
      </p:sp>
      <p:pic>
        <p:nvPicPr>
          <p:cNvPr id="26" name="Image 5" descr="preencoded.png">    </p:cNvPr>
          <p:cNvPicPr>
            <a:picLocks noChangeAspect="1"/>
          </p:cNvPicPr>
          <p:nvPr/>
        </p:nvPicPr>
        <p:blipFill>
          <a:blip r:embed="rId6"/>
          <a:stretch>
            <a:fillRect/>
          </a:stretch>
        </p:blipFill>
        <p:spPr>
          <a:xfrm>
            <a:off x="6318504" y="2642616"/>
            <a:ext cx="347472" cy="347472"/>
          </a:xfrm>
          <a:prstGeom prst="rect">
            <a:avLst/>
          </a:prstGeom>
        </p:spPr>
      </p:pic>
      <p:sp>
        <p:nvSpPr>
          <p:cNvPr id="27" name="Text 19"/>
          <p:cNvSpPr/>
          <p:nvPr/>
        </p:nvSpPr>
        <p:spPr>
          <a:xfrm>
            <a:off x="6739128" y="2423160"/>
            <a:ext cx="2176272" cy="32004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Edge Optimised</a:t>
            </a:r>
            <a:endParaRPr lang="en-US" sz="1200" dirty="0"/>
          </a:p>
        </p:txBody>
      </p:sp>
      <p:sp>
        <p:nvSpPr>
          <p:cNvPr id="28" name="Text 20"/>
          <p:cNvSpPr/>
          <p:nvPr/>
        </p:nvSpPr>
        <p:spPr>
          <a:xfrm>
            <a:off x="6739128" y="2770632"/>
            <a:ext cx="2176272" cy="502920"/>
          </a:xfrm>
          <a:prstGeom prst="rect">
            <a:avLst/>
          </a:prstGeom>
          <a:noFill/>
          <a:ln/>
        </p:spPr>
        <p:txBody>
          <a:bodyPr wrap="square" lIns="0" tIns="0" rIns="0" bIns="0" rtlCol="0" anchor="ctr"/>
          <a:lstStyle/>
          <a:p>
            <a:pPr indent="0" marL="0">
              <a:buNone/>
            </a:pPr>
            <a:r>
              <a:rPr lang="en-US" sz="950" dirty="0">
                <a:solidFill>
                  <a:srgbClr val="A0BDD0"/>
                </a:solidFill>
                <a:latin typeface="Calibri" pitchFamily="34" charset="0"/>
                <a:ea typeface="Calibri" pitchFamily="34" charset="-122"/>
                <a:cs typeface="Calibri" pitchFamily="34" charset="-120"/>
              </a:rPr>
              <a:t>CloudFront CDN + WAF for low latency and protection</a:t>
            </a:r>
            <a:endParaRPr lang="en-US" sz="950" dirty="0"/>
          </a:p>
        </p:txBody>
      </p:sp>
      <p:sp>
        <p:nvSpPr>
          <p:cNvPr id="29" name="Shape 21"/>
          <p:cNvSpPr/>
          <p:nvPr/>
        </p:nvSpPr>
        <p:spPr>
          <a:xfrm>
            <a:off x="2286000" y="4224528"/>
            <a:ext cx="4572000" cy="685800"/>
          </a:xfrm>
          <a:prstGeom prst="rect">
            <a:avLst>
              <a:gd name="adj" fmla="val 8000"/>
            </a:avLst>
          </a:prstGeom>
          <a:solidFill>
            <a:srgbClr val="FF9900"/>
          </a:solidFill>
          <a:ln w="12700">
            <a:solidFill>
              <a:srgbClr val="FF9900"/>
            </a:solidFill>
            <a:prstDash val="solid"/>
          </a:ln>
          <a:effectLst>
            <a:outerShdw sx="100000" sy="100000" kx="0" ky="0" algn="bl" rotWithShape="0" blurRad="101600" dist="25400" dir="2700000">
              <a:srgbClr val="000000">
                <a:alpha val="30000"/>
              </a:srgbClr>
            </a:outerShdw>
          </a:effectLst>
        </p:spPr>
      </p:sp>
      <p:sp>
        <p:nvSpPr>
          <p:cNvPr id="30" name="Text 22"/>
          <p:cNvSpPr/>
          <p:nvPr/>
        </p:nvSpPr>
        <p:spPr>
          <a:xfrm>
            <a:off x="2286000" y="4224528"/>
            <a:ext cx="4572000" cy="685800"/>
          </a:xfrm>
          <a:prstGeom prst="rect">
            <a:avLst/>
          </a:prstGeom>
          <a:noFill/>
          <a:ln/>
        </p:spPr>
        <p:txBody>
          <a:bodyPr wrap="square" lIns="0" tIns="0" rIns="0" bIns="0" rtlCol="0" anchor="ctr"/>
          <a:lstStyle/>
          <a:p>
            <a:pPr algn="ctr" indent="0" marL="0">
              <a:buNone/>
            </a:pPr>
            <a:r>
              <a:rPr lang="en-US" sz="1800" b="1" dirty="0">
                <a:solidFill>
                  <a:srgbClr val="1A2C42"/>
                </a:solidFill>
                <a:latin typeface="Cambria" pitchFamily="34" charset="0"/>
                <a:ea typeface="Cambria" pitchFamily="34" charset="-122"/>
                <a:cs typeface="Cambria" pitchFamily="34" charset="-120"/>
              </a:rPr>
              <a:t>Thank You  ·  Questions Welcome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CareSync – Secure Healthcare Appointment Management Platform</dc:title>
  <dc:subject>PptxGenJS Presentation</dc:subject>
  <dc:creator>PptxGenJS</dc:creator>
  <cp:lastModifiedBy>PptxGenJS</cp:lastModifiedBy>
  <cp:revision>1</cp:revision>
  <dcterms:created xsi:type="dcterms:W3CDTF">2026-06-09T22:59:33Z</dcterms:created>
  <dcterms:modified xsi:type="dcterms:W3CDTF">2026-06-09T22:59:33Z</dcterms:modified>
</cp:coreProperties>
</file>